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Helvetica Bold" charset="1" panose="020B0704020202030204"/>
      <p:regular r:id="rId18"/>
    </p:embeddedFont>
    <p:embeddedFont>
      <p:font typeface="Helvetica" charset="1" panose="020B05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Expositor sugerido: Camilo Pérez. Tiempo: 35 segundos.</a:t>
            </a:r>
          </a:p>
          <a:p>
            <a:r>
              <a:rPr lang="en-US"/>
              <a:t>MEDLINK busca resolver la fragmentación de la información médica personal mediante una plataforma web. En Fase 1 definimos el problema, el alcance, los roles y el stack. En Fase 2, la evidencia principal son los mockups rehechos, junto con la arquitectura y el modelo inicial de datos. El desarrollo de backend y frontend aún no comienza, por lo que hoy mostraremos el diseño y un recorrido guiado de pantallas.</a:t>
            </a:r>
          </a:p>
          <a:p>
            <a:r>
              <a:rPr lang="en-US"/>
              <a:t>Fuente: Fase_2/Evidencias_Grupales/2.4_GuiaEstudiante_Fase 2_DesarrolloProyecto APT.docx.</a:t>
            </a:r>
          </a:p>
          <a:p>
            <a:r>
              <a:rPr lang="en-US"/>
              <a:t>Imagen: MOCKUPS, captura de acceso. Datos ficticios.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Expositor sugerido: Camilo Pérez. Tiempo: 45 segundos.</a:t>
            </a:r>
          </a:p>
          <a:p>
            <a:r>
              <a:rPr lang="en-US"/>
              <a:t>Los objetivos y la metodología se mantienen. El ajuste principal corrige el cronograma original de 18 semanas para cerrar en la semana 16. Reducimos de tres a dos semanas el diseño de arquitectura, el modelo de datos y la documentación de cierre. Conservamos las seis semanas de cada desarrollo y las cinco de pruebas. Los mockups quedaron pendientes desde Fase 1 porque no cumplían nuestro estándar y los rehicimos. Ayudan los roles definidos, el stack conocido y un alcance claro. Para el tiempo acotado, el plan solapa backend, frontend y pruebas.</a:t>
            </a:r>
          </a:p>
          <a:p>
            <a:r>
              <a:rPr lang="en-US"/>
              <a:t>Fuente: Fase_2/Evidencias_Grupales/2.4_GuiaEstudiante_Fase 2_DesarrolloProyecto APT.docx.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Expositor sugerido: Camilo Pérez. Tiempo: 25 segundos.</a:t>
            </a:r>
          </a:p>
          <a:p>
            <a:r>
              <a:rPr lang="en-US"/>
              <a:t>Como avance, ya definimos el problema, los objetivos y el alcance, y acordamos los roles y las tecnologías. También completamos el diseño inicial de arquitectura y datos. Reajustamos la Gantt a dieciséis semanas y entregamos los mockups rehechos, que siguen en revisión. Estos avances de diseño preparan la implementación del sistema.</a:t>
            </a:r>
          </a:p>
          <a:p>
            <a:r>
              <a:rPr lang="en-US"/>
              <a:t>Fuente: Fase_2/Evidencias_Grupales/2.4_GuiaEstudiante_Fase 2_DesarrolloProyecto APT.docx.</a:t>
            </a:r>
          </a:p>
          <a:p>
            <a:r>
              <a:rPr lang="en-US"/>
              <a:t>Los cuatro primeros avances figuran como completados en el documento 2.4. La Gantt figura como ajustada. Los mockups figuran en curso, con una primera versión entregada como evidencia.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Expositor sugerido: Camilo Pérez. Tiempo: 30 segundos.</a:t>
            </a:r>
          </a:p>
          <a:p>
            <a:r>
              <a:rPr lang="en-US"/>
              <a:t>El backend está programado entre las semanas ocho y trece, y el frontend entre las nueve y catorce. Las pruebas se solapan entre las once y quince, y el cierre ocupa las quince y dieciséis. El desarrollo aún no comienza, pero sigue dentro del plan reajustado. Haremos seguimiento semanal de requerimientos, implementación y pruebas. Felipe explicará ahora la arquitectura.</a:t>
            </a:r>
          </a:p>
          <a:p>
            <a:r>
              <a:rPr lang="en-US"/>
              <a:t>Fuente: Fase_2/Evidencias_Grupales/2.4_GuiaEstudiante_Fase 2_DesarrolloProyecto APT.docx.</a:t>
            </a:r>
          </a:p>
          <a:p>
            <a:r>
              <a:rPr lang="en-US"/>
              <a:t>La documentación se construye durante el proyecto. El cierre ocupa semanas 15 y 16. Backend: Nicolás y Felipe. Frontend: Nicolás y Camilo. Pruebas y cierre: todo el equipo.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Expositor sugerido: Felipe Chavarría. Tiempo: 50 segundos.</a:t>
            </a:r>
          </a:p>
          <a:p>
            <a:r>
              <a:rPr lang="en-US"/>
              <a:t>La arquitectura inicial propone una interfaz React con TypeScript y una API REST en Django y Django REST Framework. Proponemos un monolito modular para integrar el MVP: documentos, extracción, historial, acceso compartido, auditoría y persistencia. PostgreSQL conserva metadatos y datos estructurados. Los archivos originales permanecen en almacenamiento privado y la API comprueba permisos por recurso. La extracción produce información pendiente de revisión por el usuario. No hemos seleccionado motor OCR ni proveedor de IA. Este diagrama representa diseño, no una implementación terminada.</a:t>
            </a:r>
          </a:p>
          <a:p>
            <a:r>
              <a:rPr lang="en-US"/>
              <a:t>Fuente: Fase_2/Evidencias_Grupales/2.4_GuiaEstudiante_Fase 2_DesarrolloProyecto APT.docx.</a:t>
            </a:r>
          </a:p>
          <a:p>
            <a:r>
              <a:rPr lang="en-US"/>
              <a:t>Fuente complementaria: ARQUITECTURA/Arquitectura_inicial_MEDLINK.md. Sesiones Django y autorización por recurso son propuestas iniciales.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Expositor sugerido: Felipe Chavarría. Tiempo: 50 segundos.</a:t>
            </a:r>
          </a:p>
          <a:p>
            <a:r>
              <a:rPr lang="en-US"/>
              <a:t>El usuario posee documentos. Cada documento puede tener varios intentos de extracción y varios antecedentes. El antecedente siempre conserva su documento de origen y puede vincularse a una extracción, de forma opcional para permitir el registro manual. El estado de revisión distingue pendientes, confirmados y descartados. Acceso compartido contiene propietario, destinatario, vencimiento y revocación. Documento compartido resuelve la relación muchos a muchos entre accesos y documentos. Auditoría registra acciones, con usuario y documento opcionales. Usamos claves primarias y foráneas para conservar integridad y trazabilidad. Aún no existen tablas o migraciones implementadas.</a:t>
            </a:r>
          </a:p>
          <a:p>
            <a:r>
              <a:rPr lang="en-US"/>
              <a:t>Fuente: Fase_2/Evidencias_Grupales/2.4_GuiaEstudiante_Fase 2_DesarrolloProyecto APT.docx.</a:t>
            </a:r>
          </a:p>
          <a:p>
            <a:r>
              <a:rPr lang="en-US"/>
              <a:t>Fuente: MODELO_DATOS/Modelo_datos_inicial_MEDLINK.md. Diagrama resumido. UUID para identificadores y JSONB validado para resultados y datos estructurados. PK: clave primaria. FK: clave foránea. Auditoría mantiene relaciones opcionales N:1 con usuario y documento.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Expositor sugerido: Nicolás Yáñez. Tiempo: 40 segundos.</a:t>
            </a:r>
          </a:p>
          <a:p>
            <a:r>
              <a:rPr lang="en-US"/>
              <a:t>Estas pantallas son evidencia de diseño. El panel concentra documentos recientes y pendientes de revisión. La carga permite seleccionar un examen, una receta o un informe. El mockup muestra PDF, JPG y PNG con límite de diez megabytes, que deberá validarse al implementar. El flujo previsto continúa con extracción, revisión del usuario e incorporación de antecedentes confirmados al historial. Los contadores y archivos de estas imágenes son datos ficticios del prototipo.</a:t>
            </a:r>
          </a:p>
          <a:p>
            <a:r>
              <a:rPr lang="en-US"/>
              <a:t>Fuente: Fase_2/Evidencias_Grupales/2.4_GuiaEstudiante_Fase 2_DesarrolloProyecto APT.docx.</a:t>
            </a:r>
          </a:p>
          <a:p>
            <a:r>
              <a:rPr lang="en-US"/>
              <a:t>Imágenes originales: MOCKUPS, capturas del panel y de carga. No existe en los archivos una captura de revisión de datos o de historial.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Expositor sugerido: Nicolás Yáñez. Tiempo: 80 segundos.</a:t>
            </a:r>
          </a:p>
          <a:p>
            <a:r>
              <a:rPr lang="en-US"/>
              <a:t>Recorrido de los mockups con datos ficticios. Si se dispone de 80 segundos, volver a las pantallas de acceso y panel, luego mostrar carga y compartir. 0 a 15 segundos: acceso de Valentina y propósito del panel. 15 a 35 segundos: selección del hemograma. Aclarar que el procesamiento y la revisión son el flujo previsto y no están funcionando en estas capturas. 35 a 70 segundos: en compartir, señalar el destinatario, un documento seleccionado, siete días de duración y permiso de solo lectura. Explicar que el diseño permite revocar y que los demás documentos quedan fuera de la selección. 70 a 80 segundos: cerrar con el próximo avance, implementar API, frontend y pruebas del flujo central. Pasar a la diapositiva de agradecimiento.</a:t>
            </a:r>
          </a:p>
          <a:p>
            <a:r>
              <a:rPr lang="en-US"/>
              <a:t>Fuente: Fase_2/Evidencias_Grupales/2.4_GuiaEstudiante_Fase 2_DesarrolloProyecto APT.docx.</a:t>
            </a:r>
          </a:p>
          <a:p>
            <a:r>
              <a:rPr lang="en-US"/>
              <a:t>Solo hay capturas estáticas, confirmadas por el equipo. Esta demostración es un recorrido guiado del diseño y no cumple por sí sola una demo funcional e interactiva de software. Tiempo total planificado con agradecimiento: 360 segundos (6:00). Reserva dentro de 8 minutos: 120 segundos (2:00). Reparto sugerido: Camilo 2:15, Felipe 1:40, Nicolás 2:05. Todos deben conocer el stack, el modelo, los permisos, el cronograma y el estado real del avance.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Expositor sugerido: Nicolás Yáñez. Tiempo: 5 segundos.</a:t>
            </a:r>
          </a:p>
          <a:p>
            <a:r>
              <a:rPr lang="en-US"/>
              <a:t>Muchas gracias. Quedamos atentos a sus preguntas.</a:t>
            </a:r>
          </a:p>
          <a:p>
            <a:r>
              <a:rPr lang="en-US"/>
              <a:t>Fuente: Fase_2/Evidencias_Grupales/2.4_GuiaEstudiante_Fase 2_DesarrolloProyecto APT.docx.</a:t>
            </a:r>
          </a:p>
          <a:p>
            <a:r>
              <a:rPr lang="en-US"/>
              <a:t>Mantener esta diapositiva durante la ronda de preguntas. Exposición con cierre: 6:00. Tiempo disponible para preguntas: 2:00.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3841">
                <a:alpha val="100000"/>
              </a:srgbClr>
            </a:gs>
            <a:gs pos="100000">
              <a:srgbClr val="155D65">
                <a:alpha val="100000"/>
              </a:srgbClr>
            </a:gs>
          </a:gsLst>
          <a:lin ang="1500000"/>
        </a:gradFill>
      </p:bgPr>
    </p:bg>
    <p:spTree>
      <p:nvGrpSpPr>
        <p:cNvPr id="1" name=""/>
        <p:cNvGrpSpPr/>
        <p:nvPr/>
      </p:nvGrpSpPr>
      <p:grpSpPr>
        <a:xfrm>
          <a:off x="0" y="0"/>
          <a:ext cx="0" cy="0"/>
          <a:chOff x="0" y="0"/>
          <a:chExt cx="0" cy="0"/>
        </a:xfrm>
      </p:grpSpPr>
      <p:grpSp>
        <p:nvGrpSpPr>
          <p:cNvPr name="Group 2" id="2"/>
          <p:cNvGrpSpPr/>
          <p:nvPr/>
        </p:nvGrpSpPr>
        <p:grpSpPr>
          <a:xfrm rot="0">
            <a:off x="914400" y="285750"/>
            <a:ext cx="3000375" cy="342900"/>
            <a:chOff x="0" y="0"/>
            <a:chExt cx="4000500" cy="457200"/>
          </a:xfrm>
        </p:grpSpPr>
        <p:sp>
          <p:nvSpPr>
            <p:cNvPr name="Freeform 3" id="3"/>
            <p:cNvSpPr/>
            <p:nvPr/>
          </p:nvSpPr>
          <p:spPr>
            <a:xfrm flipH="false" flipV="false" rot="0">
              <a:off x="0" y="0"/>
              <a:ext cx="4000500" cy="457200"/>
            </a:xfrm>
            <a:custGeom>
              <a:avLst/>
              <a:gdLst/>
              <a:ahLst/>
              <a:cxnLst/>
              <a:rect r="r" b="b" t="t" l="l"/>
              <a:pathLst>
                <a:path h="457200" w="4000500">
                  <a:moveTo>
                    <a:pt x="0" y="0"/>
                  </a:moveTo>
                  <a:lnTo>
                    <a:pt x="4000500" y="0"/>
                  </a:lnTo>
                  <a:lnTo>
                    <a:pt x="4000500" y="457200"/>
                  </a:lnTo>
                  <a:lnTo>
                    <a:pt x="0" y="457200"/>
                  </a:lnTo>
                  <a:close/>
                </a:path>
              </a:pathLst>
            </a:custGeom>
            <a:blipFill>
              <a:blip r:embed="rId3">
                <a:alphaModFix amt="0"/>
              </a:blip>
              <a:stretch>
                <a:fillRect l="0" t="-120494" r="0" b="-120494"/>
              </a:stretch>
            </a:blipFill>
          </p:spPr>
        </p:sp>
        <p:sp>
          <p:nvSpPr>
            <p:cNvPr name="TextBox 4" id="4"/>
            <p:cNvSpPr txBox="true"/>
            <p:nvPr/>
          </p:nvSpPr>
          <p:spPr>
            <a:xfrm>
              <a:off x="0" y="-19050"/>
              <a:ext cx="4000500" cy="476250"/>
            </a:xfrm>
            <a:prstGeom prst="rect">
              <a:avLst/>
            </a:prstGeom>
          </p:spPr>
          <p:txBody>
            <a:bodyPr anchor="ctr" rtlCol="false" tIns="0" lIns="0" bIns="0" rIns="0"/>
            <a:lstStyle/>
            <a:p>
              <a:pPr algn="l">
                <a:lnSpc>
                  <a:spcPts val="2295"/>
                </a:lnSpc>
              </a:pPr>
              <a:r>
                <a:rPr lang="en-US" sz="1912" b="true">
                  <a:solidFill>
                    <a:srgbClr val="7ED8CF"/>
                  </a:solidFill>
                  <a:latin typeface="Helvetica Bold"/>
                  <a:ea typeface="Helvetica Bold"/>
                  <a:cs typeface="Helvetica Bold"/>
                  <a:sym typeface="Helvetica Bold"/>
                </a:rPr>
                <a:t>MEDLINK</a:t>
              </a:r>
            </a:p>
          </p:txBody>
        </p:sp>
      </p:grpSp>
      <p:grpSp>
        <p:nvGrpSpPr>
          <p:cNvPr name="Group 5" id="5"/>
          <p:cNvGrpSpPr/>
          <p:nvPr/>
        </p:nvGrpSpPr>
        <p:grpSpPr>
          <a:xfrm rot="0">
            <a:off x="914400" y="728662"/>
            <a:ext cx="16287750" cy="928688"/>
            <a:chOff x="0" y="0"/>
            <a:chExt cx="21717000" cy="1238250"/>
          </a:xfrm>
        </p:grpSpPr>
        <p:sp>
          <p:nvSpPr>
            <p:cNvPr name="Freeform 6" id="6"/>
            <p:cNvSpPr/>
            <p:nvPr/>
          </p:nvSpPr>
          <p:spPr>
            <a:xfrm flipH="false" flipV="false" rot="0">
              <a:off x="0" y="0"/>
              <a:ext cx="21717000" cy="1238250"/>
            </a:xfrm>
            <a:custGeom>
              <a:avLst/>
              <a:gdLst/>
              <a:ahLst/>
              <a:cxnLst/>
              <a:rect r="r" b="b" t="t" l="l"/>
              <a:pathLst>
                <a:path h="1238250" w="21717000">
                  <a:moveTo>
                    <a:pt x="0" y="0"/>
                  </a:moveTo>
                  <a:lnTo>
                    <a:pt x="21717000" y="0"/>
                  </a:lnTo>
                  <a:lnTo>
                    <a:pt x="21717000" y="1238250"/>
                  </a:lnTo>
                  <a:lnTo>
                    <a:pt x="0" y="1238250"/>
                  </a:lnTo>
                  <a:close/>
                </a:path>
              </a:pathLst>
            </a:custGeom>
            <a:blipFill>
              <a:blip r:embed="rId3">
                <a:alphaModFix amt="0"/>
              </a:blip>
              <a:stretch>
                <a:fillRect l="0" t="-291737" r="0" b="-291737"/>
              </a:stretch>
            </a:blipFill>
          </p:spPr>
        </p:sp>
        <p:sp>
          <p:nvSpPr>
            <p:cNvPr name="TextBox 7" id="7"/>
            <p:cNvSpPr txBox="true"/>
            <p:nvPr/>
          </p:nvSpPr>
          <p:spPr>
            <a:xfrm>
              <a:off x="0" y="-38100"/>
              <a:ext cx="21717000" cy="1276350"/>
            </a:xfrm>
            <a:prstGeom prst="rect">
              <a:avLst/>
            </a:prstGeom>
          </p:spPr>
          <p:txBody>
            <a:bodyPr anchor="ctr" rtlCol="false" tIns="0" lIns="0" bIns="0" rIns="0"/>
            <a:lstStyle/>
            <a:p>
              <a:pPr algn="l">
                <a:lnSpc>
                  <a:spcPts val="5670"/>
                </a:lnSpc>
              </a:pPr>
              <a:r>
                <a:rPr lang="en-US" sz="4725" b="true">
                  <a:solidFill>
                    <a:srgbClr val="FFFFFF"/>
                  </a:solidFill>
                  <a:latin typeface="Helvetica Bold"/>
                  <a:ea typeface="Helvetica Bold"/>
                  <a:cs typeface="Helvetica Bold"/>
                  <a:sym typeface="Helvetica Bold"/>
                </a:rPr>
                <a:t>MEDLINK · Avance de Fase 2</a:t>
              </a:r>
            </a:p>
          </p:txBody>
        </p:sp>
      </p:grpSp>
      <p:sp>
        <p:nvSpPr>
          <p:cNvPr name="AutoShape 8" id="8"/>
          <p:cNvSpPr/>
          <p:nvPr/>
        </p:nvSpPr>
        <p:spPr>
          <a:xfrm rot="4500">
            <a:off x="903675" y="1838325"/>
            <a:ext cx="16480650" cy="0"/>
          </a:xfrm>
          <a:prstGeom prst="line">
            <a:avLst/>
          </a:prstGeom>
          <a:ln cap="rnd" w="9525">
            <a:solidFill>
              <a:srgbClr val="38737A"/>
            </a:solidFill>
            <a:prstDash val="solid"/>
            <a:headEnd type="none" len="sm" w="sm"/>
            <a:tailEnd type="none" len="sm" w="sm"/>
          </a:ln>
        </p:spPr>
      </p:sp>
      <p:grpSp>
        <p:nvGrpSpPr>
          <p:cNvPr name="Group 9" id="9"/>
          <p:cNvGrpSpPr/>
          <p:nvPr/>
        </p:nvGrpSpPr>
        <p:grpSpPr>
          <a:xfrm rot="0">
            <a:off x="16144875" y="9572625"/>
            <a:ext cx="1228725" cy="357188"/>
            <a:chOff x="0" y="0"/>
            <a:chExt cx="1638300" cy="476250"/>
          </a:xfrm>
        </p:grpSpPr>
        <p:sp>
          <p:nvSpPr>
            <p:cNvPr name="Freeform 10" id="10"/>
            <p:cNvSpPr/>
            <p:nvPr/>
          </p:nvSpPr>
          <p:spPr>
            <a:xfrm flipH="false" flipV="false" rot="0">
              <a:off x="0" y="0"/>
              <a:ext cx="1638300" cy="476250"/>
            </a:xfrm>
            <a:custGeom>
              <a:avLst/>
              <a:gdLst/>
              <a:ahLst/>
              <a:cxnLst/>
              <a:rect r="r" b="b" t="t" l="l"/>
              <a:pathLst>
                <a:path h="476250" w="1638300">
                  <a:moveTo>
                    <a:pt x="0" y="0"/>
                  </a:moveTo>
                  <a:lnTo>
                    <a:pt x="1638300" y="0"/>
                  </a:lnTo>
                  <a:lnTo>
                    <a:pt x="1638300" y="476250"/>
                  </a:lnTo>
                  <a:lnTo>
                    <a:pt x="0" y="476250"/>
                  </a:lnTo>
                  <a:close/>
                </a:path>
              </a:pathLst>
            </a:custGeom>
            <a:blipFill>
              <a:blip r:embed="rId3">
                <a:alphaModFix amt="0"/>
              </a:blip>
              <a:stretch>
                <a:fillRect l="0" t="-17028" r="0" b="-17028"/>
              </a:stretch>
            </a:blipFill>
          </p:spPr>
        </p:sp>
        <p:sp>
          <p:nvSpPr>
            <p:cNvPr name="TextBox 11" id="11"/>
            <p:cNvSpPr txBox="true"/>
            <p:nvPr/>
          </p:nvSpPr>
          <p:spPr>
            <a:xfrm>
              <a:off x="0" y="-19050"/>
              <a:ext cx="1638300" cy="495300"/>
            </a:xfrm>
            <a:prstGeom prst="rect">
              <a:avLst/>
            </a:prstGeom>
          </p:spPr>
          <p:txBody>
            <a:bodyPr anchor="ctr" rtlCol="false" tIns="0" lIns="0" bIns="0" rIns="0"/>
            <a:lstStyle/>
            <a:p>
              <a:pPr algn="l">
                <a:lnSpc>
                  <a:spcPts val="2430"/>
                </a:lnSpc>
              </a:pPr>
              <a:r>
                <a:rPr lang="en-US" sz="2025">
                  <a:solidFill>
                    <a:srgbClr val="B8D8DA"/>
                  </a:solidFill>
                  <a:latin typeface="Helvetica"/>
                  <a:ea typeface="Helvetica"/>
                  <a:cs typeface="Helvetica"/>
                  <a:sym typeface="Helvetica"/>
                </a:rPr>
                <a:t>01 / 09</a:t>
              </a:r>
            </a:p>
          </p:txBody>
        </p:sp>
      </p:grpSp>
      <p:grpSp>
        <p:nvGrpSpPr>
          <p:cNvPr name="Group 12" id="12"/>
          <p:cNvGrpSpPr/>
          <p:nvPr/>
        </p:nvGrpSpPr>
        <p:grpSpPr>
          <a:xfrm rot="0">
            <a:off x="914400" y="2428875"/>
            <a:ext cx="7643812" cy="1643062"/>
            <a:chOff x="0" y="0"/>
            <a:chExt cx="10191750" cy="2190750"/>
          </a:xfrm>
        </p:grpSpPr>
        <p:sp>
          <p:nvSpPr>
            <p:cNvPr name="Freeform 13" id="13"/>
            <p:cNvSpPr/>
            <p:nvPr/>
          </p:nvSpPr>
          <p:spPr>
            <a:xfrm flipH="false" flipV="false" rot="0">
              <a:off x="0" y="0"/>
              <a:ext cx="10191750" cy="2190750"/>
            </a:xfrm>
            <a:custGeom>
              <a:avLst/>
              <a:gdLst/>
              <a:ahLst/>
              <a:cxnLst/>
              <a:rect r="r" b="b" t="t" l="l"/>
              <a:pathLst>
                <a:path h="2190750" w="10191750">
                  <a:moveTo>
                    <a:pt x="0" y="0"/>
                  </a:moveTo>
                  <a:lnTo>
                    <a:pt x="10191750" y="0"/>
                  </a:lnTo>
                  <a:lnTo>
                    <a:pt x="10191750" y="2190750"/>
                  </a:lnTo>
                  <a:lnTo>
                    <a:pt x="0" y="2190750"/>
                  </a:lnTo>
                  <a:close/>
                </a:path>
              </a:pathLst>
            </a:custGeom>
            <a:blipFill>
              <a:blip r:embed="rId3">
                <a:alphaModFix amt="0"/>
              </a:blip>
              <a:stretch>
                <a:fillRect l="0" t="-40647" r="0" b="-40647"/>
              </a:stretch>
            </a:blipFill>
          </p:spPr>
        </p:sp>
        <p:sp>
          <p:nvSpPr>
            <p:cNvPr name="TextBox 14" id="14"/>
            <p:cNvSpPr txBox="true"/>
            <p:nvPr/>
          </p:nvSpPr>
          <p:spPr>
            <a:xfrm>
              <a:off x="0" y="-28575"/>
              <a:ext cx="10191750" cy="2219325"/>
            </a:xfrm>
            <a:prstGeom prst="rect">
              <a:avLst/>
            </a:prstGeom>
          </p:spPr>
          <p:txBody>
            <a:bodyPr anchor="ctr" rtlCol="false" tIns="0" lIns="0" bIns="0" rIns="0"/>
            <a:lstStyle/>
            <a:p>
              <a:pPr algn="l">
                <a:lnSpc>
                  <a:spcPts val="4860"/>
                </a:lnSpc>
              </a:pPr>
              <a:r>
                <a:rPr lang="en-US" sz="4050" b="true">
                  <a:solidFill>
                    <a:srgbClr val="7ED8CF"/>
                  </a:solidFill>
                  <a:latin typeface="Helvetica Bold"/>
                  <a:ea typeface="Helvetica Bold"/>
                  <a:cs typeface="Helvetica Bold"/>
                  <a:sym typeface="Helvetica Bold"/>
                </a:rPr>
                <a:t>Información médica personal</a:t>
              </a:r>
            </a:p>
            <a:p>
              <a:pPr algn="l">
                <a:lnSpc>
                  <a:spcPts val="4860"/>
                </a:lnSpc>
              </a:pPr>
              <a:r>
                <a:rPr lang="en-US" sz="4050" b="true">
                  <a:solidFill>
                    <a:srgbClr val="7ED8CF"/>
                  </a:solidFill>
                  <a:latin typeface="Helvetica Bold"/>
                  <a:ea typeface="Helvetica Bold"/>
                  <a:cs typeface="Helvetica Bold"/>
                  <a:sym typeface="Helvetica Bold"/>
                </a:rPr>
                <a:t>en un solo lugar</a:t>
              </a:r>
            </a:p>
          </p:txBody>
        </p:sp>
      </p:grpSp>
      <p:grpSp>
        <p:nvGrpSpPr>
          <p:cNvPr name="Group 15" id="15"/>
          <p:cNvGrpSpPr/>
          <p:nvPr/>
        </p:nvGrpSpPr>
        <p:grpSpPr>
          <a:xfrm rot="0">
            <a:off x="914400" y="4471988"/>
            <a:ext cx="7643812" cy="1428750"/>
            <a:chOff x="0" y="0"/>
            <a:chExt cx="10191750" cy="1905000"/>
          </a:xfrm>
        </p:grpSpPr>
        <p:sp>
          <p:nvSpPr>
            <p:cNvPr name="Freeform 16" id="16"/>
            <p:cNvSpPr/>
            <p:nvPr/>
          </p:nvSpPr>
          <p:spPr>
            <a:xfrm flipH="false" flipV="false" rot="0">
              <a:off x="0" y="0"/>
              <a:ext cx="10191750" cy="1905000"/>
            </a:xfrm>
            <a:custGeom>
              <a:avLst/>
              <a:gdLst/>
              <a:ahLst/>
              <a:cxnLst/>
              <a:rect r="r" b="b" t="t" l="l"/>
              <a:pathLst>
                <a:path h="1905000" w="10191750">
                  <a:moveTo>
                    <a:pt x="0" y="0"/>
                  </a:moveTo>
                  <a:lnTo>
                    <a:pt x="10191750" y="0"/>
                  </a:lnTo>
                  <a:lnTo>
                    <a:pt x="10191750" y="1905000"/>
                  </a:lnTo>
                  <a:lnTo>
                    <a:pt x="0" y="1905000"/>
                  </a:lnTo>
                  <a:close/>
                </a:path>
              </a:pathLst>
            </a:custGeom>
            <a:blipFill>
              <a:blip r:embed="rId3">
                <a:alphaModFix amt="0"/>
              </a:blip>
              <a:stretch>
                <a:fillRect l="0" t="-54244" r="0" b="-54244"/>
              </a:stretch>
            </a:blipFill>
          </p:spPr>
        </p:sp>
        <p:sp>
          <p:nvSpPr>
            <p:cNvPr name="TextBox 17" id="17"/>
            <p:cNvSpPr txBox="true"/>
            <p:nvPr/>
          </p:nvSpPr>
          <p:spPr>
            <a:xfrm>
              <a:off x="0" y="-19050"/>
              <a:ext cx="10191750" cy="1924050"/>
            </a:xfrm>
            <a:prstGeom prst="rect">
              <a:avLst/>
            </a:prstGeom>
          </p:spPr>
          <p:txBody>
            <a:bodyPr anchor="ctr" rtlCol="false" tIns="0" lIns="0" bIns="0" rIns="0"/>
            <a:lstStyle/>
            <a:p>
              <a:pPr algn="l">
                <a:lnSpc>
                  <a:spcPts val="3375"/>
                </a:lnSpc>
              </a:pPr>
              <a:r>
                <a:rPr lang="en-US" sz="2812">
                  <a:solidFill>
                    <a:srgbClr val="FFFFFF"/>
                  </a:solidFill>
                  <a:latin typeface="Helvetica"/>
                  <a:ea typeface="Helvetica"/>
                  <a:cs typeface="Helvetica"/>
                  <a:sym typeface="Helvetica"/>
                </a:rPr>
                <a:t>Problema: registros médicos fragmentados.</a:t>
              </a:r>
            </a:p>
            <a:p>
              <a:pPr algn="l">
                <a:lnSpc>
                  <a:spcPts val="3375"/>
                </a:lnSpc>
              </a:pPr>
              <a:r>
                <a:rPr lang="en-US" sz="2812">
                  <a:solidFill>
                    <a:srgbClr val="FFFFFF"/>
                  </a:solidFill>
                  <a:latin typeface="Helvetica"/>
                  <a:ea typeface="Helvetica"/>
                  <a:cs typeface="Helvetica"/>
                  <a:sym typeface="Helvetica"/>
                </a:rPr>
                <a:t>Solución: documentos e historial trazable.</a:t>
              </a:r>
            </a:p>
          </p:txBody>
        </p:sp>
      </p:grpSp>
      <p:grpSp>
        <p:nvGrpSpPr>
          <p:cNvPr name="Group 18" id="18"/>
          <p:cNvGrpSpPr/>
          <p:nvPr/>
        </p:nvGrpSpPr>
        <p:grpSpPr>
          <a:xfrm rot="0">
            <a:off x="914400" y="6286500"/>
            <a:ext cx="7500938" cy="571500"/>
            <a:chOff x="0" y="0"/>
            <a:chExt cx="10001250" cy="762000"/>
          </a:xfrm>
        </p:grpSpPr>
        <p:sp>
          <p:nvSpPr>
            <p:cNvPr name="Freeform 19" id="19"/>
            <p:cNvSpPr/>
            <p:nvPr/>
          </p:nvSpPr>
          <p:spPr>
            <a:xfrm flipH="false" flipV="false" rot="0">
              <a:off x="0" y="0"/>
              <a:ext cx="10001250" cy="762000"/>
            </a:xfrm>
            <a:custGeom>
              <a:avLst/>
              <a:gdLst/>
              <a:ahLst/>
              <a:cxnLst/>
              <a:rect r="r" b="b" t="t" l="l"/>
              <a:pathLst>
                <a:path h="762000" w="10001250">
                  <a:moveTo>
                    <a:pt x="0" y="0"/>
                  </a:moveTo>
                  <a:lnTo>
                    <a:pt x="10001250" y="0"/>
                  </a:lnTo>
                  <a:lnTo>
                    <a:pt x="10001250" y="762000"/>
                  </a:lnTo>
                  <a:lnTo>
                    <a:pt x="0" y="762000"/>
                  </a:lnTo>
                  <a:close/>
                </a:path>
              </a:pathLst>
            </a:custGeom>
            <a:blipFill>
              <a:blip r:embed="rId3">
                <a:alphaModFix amt="0"/>
              </a:blip>
              <a:stretch>
                <a:fillRect l="0" t="-205741" r="0" b="-205741"/>
              </a:stretch>
            </a:blipFill>
          </p:spPr>
        </p:sp>
        <p:sp>
          <p:nvSpPr>
            <p:cNvPr name="TextBox 20" id="20"/>
            <p:cNvSpPr txBox="true"/>
            <p:nvPr/>
          </p:nvSpPr>
          <p:spPr>
            <a:xfrm>
              <a:off x="0" y="-28575"/>
              <a:ext cx="10001250" cy="790575"/>
            </a:xfrm>
            <a:prstGeom prst="rect">
              <a:avLst/>
            </a:prstGeom>
          </p:spPr>
          <p:txBody>
            <a:bodyPr anchor="ctr" rtlCol="false" tIns="0" lIns="0" bIns="0" rIns="0"/>
            <a:lstStyle/>
            <a:p>
              <a:pPr algn="l">
                <a:lnSpc>
                  <a:spcPts val="3779"/>
                </a:lnSpc>
              </a:pPr>
              <a:r>
                <a:rPr lang="en-US" sz="3150" b="true">
                  <a:solidFill>
                    <a:srgbClr val="FFFFFF"/>
                  </a:solidFill>
                  <a:latin typeface="Helvetica Bold"/>
                  <a:ea typeface="Helvetica Bold"/>
                  <a:cs typeface="Helvetica Bold"/>
                  <a:sym typeface="Helvetica Bold"/>
                </a:rPr>
                <a:t>Estado actual: diseño del sistema</a:t>
              </a:r>
            </a:p>
          </p:txBody>
        </p:sp>
      </p:grpSp>
      <p:grpSp>
        <p:nvGrpSpPr>
          <p:cNvPr name="Group 21" id="21"/>
          <p:cNvGrpSpPr/>
          <p:nvPr/>
        </p:nvGrpSpPr>
        <p:grpSpPr>
          <a:xfrm rot="0">
            <a:off x="914400" y="7015162"/>
            <a:ext cx="7500938" cy="1143000"/>
            <a:chOff x="0" y="0"/>
            <a:chExt cx="10001250" cy="1524000"/>
          </a:xfrm>
        </p:grpSpPr>
        <p:sp>
          <p:nvSpPr>
            <p:cNvPr name="Freeform 22" id="22"/>
            <p:cNvSpPr/>
            <p:nvPr/>
          </p:nvSpPr>
          <p:spPr>
            <a:xfrm flipH="false" flipV="false" rot="0">
              <a:off x="0" y="0"/>
              <a:ext cx="10001250" cy="1524000"/>
            </a:xfrm>
            <a:custGeom>
              <a:avLst/>
              <a:gdLst/>
              <a:ahLst/>
              <a:cxnLst/>
              <a:rect r="r" b="b" t="t" l="l"/>
              <a:pathLst>
                <a:path h="1524000" w="10001250">
                  <a:moveTo>
                    <a:pt x="0" y="0"/>
                  </a:moveTo>
                  <a:lnTo>
                    <a:pt x="10001250" y="0"/>
                  </a:lnTo>
                  <a:lnTo>
                    <a:pt x="10001250" y="1524000"/>
                  </a:lnTo>
                  <a:lnTo>
                    <a:pt x="0" y="1524000"/>
                  </a:lnTo>
                  <a:close/>
                </a:path>
              </a:pathLst>
            </a:custGeom>
            <a:blipFill>
              <a:blip r:embed="rId3">
                <a:alphaModFix amt="0"/>
              </a:blip>
              <a:stretch>
                <a:fillRect l="0" t="-77870" r="0" b="-77870"/>
              </a:stretch>
            </a:blipFill>
          </p:spPr>
        </p:sp>
        <p:sp>
          <p:nvSpPr>
            <p:cNvPr name="TextBox 23" id="23"/>
            <p:cNvSpPr txBox="true"/>
            <p:nvPr/>
          </p:nvSpPr>
          <p:spPr>
            <a:xfrm>
              <a:off x="0" y="-19050"/>
              <a:ext cx="10001250" cy="1543050"/>
            </a:xfrm>
            <a:prstGeom prst="rect">
              <a:avLst/>
            </a:prstGeom>
          </p:spPr>
          <p:txBody>
            <a:bodyPr anchor="ctr" rtlCol="false" tIns="0" lIns="0" bIns="0" rIns="0"/>
            <a:lstStyle/>
            <a:p>
              <a:pPr algn="l">
                <a:lnSpc>
                  <a:spcPts val="3375"/>
                </a:lnSpc>
              </a:pPr>
              <a:r>
                <a:rPr lang="en-US" sz="2812">
                  <a:solidFill>
                    <a:srgbClr val="B8D8DA"/>
                  </a:solidFill>
                  <a:latin typeface="Helvetica"/>
                  <a:ea typeface="Helvetica"/>
                  <a:cs typeface="Helvetica"/>
                  <a:sym typeface="Helvetica"/>
                </a:rPr>
                <a:t>Mockups rehechos y diseño técnico inicial.</a:t>
              </a:r>
            </a:p>
            <a:p>
              <a:pPr algn="l">
                <a:lnSpc>
                  <a:spcPts val="3375"/>
                </a:lnSpc>
              </a:pPr>
              <a:r>
                <a:rPr lang="en-US" sz="2812">
                  <a:solidFill>
                    <a:srgbClr val="B8D8DA"/>
                  </a:solidFill>
                  <a:latin typeface="Helvetica"/>
                  <a:ea typeface="Helvetica"/>
                  <a:cs typeface="Helvetica"/>
                  <a:sym typeface="Helvetica"/>
                </a:rPr>
                <a:t>Backend y frontend aún no iniciados.</a:t>
              </a:r>
            </a:p>
          </p:txBody>
        </p:sp>
      </p:grpSp>
      <p:grpSp>
        <p:nvGrpSpPr>
          <p:cNvPr name="Group 24" id="24"/>
          <p:cNvGrpSpPr/>
          <p:nvPr/>
        </p:nvGrpSpPr>
        <p:grpSpPr>
          <a:xfrm rot="0">
            <a:off x="8665369" y="2707176"/>
            <a:ext cx="8815388" cy="5301282"/>
            <a:chOff x="0" y="0"/>
            <a:chExt cx="11753850" cy="7068376"/>
          </a:xfrm>
        </p:grpSpPr>
        <p:sp>
          <p:nvSpPr>
            <p:cNvPr name="Freeform 25" id="25"/>
            <p:cNvSpPr/>
            <p:nvPr/>
          </p:nvSpPr>
          <p:spPr>
            <a:xfrm flipH="false" flipV="false" rot="0">
              <a:off x="0" y="0"/>
              <a:ext cx="11753850" cy="7068312"/>
            </a:xfrm>
            <a:custGeom>
              <a:avLst/>
              <a:gdLst/>
              <a:ahLst/>
              <a:cxnLst/>
              <a:rect r="r" b="b" t="t" l="l"/>
              <a:pathLst>
                <a:path h="7068312" w="11753850">
                  <a:moveTo>
                    <a:pt x="0" y="152781"/>
                  </a:moveTo>
                  <a:cubicBezTo>
                    <a:pt x="0" y="68453"/>
                    <a:pt x="68453" y="0"/>
                    <a:pt x="152781" y="0"/>
                  </a:cubicBezTo>
                  <a:lnTo>
                    <a:pt x="11601069" y="0"/>
                  </a:lnTo>
                  <a:cubicBezTo>
                    <a:pt x="11685524" y="0"/>
                    <a:pt x="11753850" y="68453"/>
                    <a:pt x="11753850" y="152781"/>
                  </a:cubicBezTo>
                  <a:lnTo>
                    <a:pt x="11753850" y="6915531"/>
                  </a:lnTo>
                  <a:cubicBezTo>
                    <a:pt x="11753850" y="6999986"/>
                    <a:pt x="11685397" y="7068312"/>
                    <a:pt x="11601069" y="7068312"/>
                  </a:cubicBezTo>
                  <a:lnTo>
                    <a:pt x="152781" y="7068312"/>
                  </a:lnTo>
                  <a:cubicBezTo>
                    <a:pt x="68453" y="7068312"/>
                    <a:pt x="0" y="6999986"/>
                    <a:pt x="0" y="6915531"/>
                  </a:cubicBezTo>
                  <a:close/>
                </a:path>
              </a:pathLst>
            </a:custGeom>
            <a:solidFill>
              <a:srgbClr val="FFFFFF"/>
            </a:solidFill>
            <a:ln w="14288" cap="sq">
              <a:solidFill>
                <a:srgbClr val="D2E4E2"/>
              </a:solidFill>
              <a:prstDash val="solid"/>
              <a:miter/>
            </a:ln>
          </p:spPr>
        </p:sp>
      </p:grpSp>
      <p:grpSp>
        <p:nvGrpSpPr>
          <p:cNvPr name="Group 26" id="26"/>
          <p:cNvGrpSpPr/>
          <p:nvPr/>
        </p:nvGrpSpPr>
        <p:grpSpPr>
          <a:xfrm rot="0">
            <a:off x="8786812" y="2828620"/>
            <a:ext cx="8572500" cy="5058394"/>
            <a:chOff x="0" y="0"/>
            <a:chExt cx="11430000" cy="6744526"/>
          </a:xfrm>
        </p:grpSpPr>
        <p:sp>
          <p:nvSpPr>
            <p:cNvPr name="Freeform 27" id="27"/>
            <p:cNvSpPr/>
            <p:nvPr/>
          </p:nvSpPr>
          <p:spPr>
            <a:xfrm flipH="false" flipV="false" rot="0">
              <a:off x="0" y="0"/>
              <a:ext cx="11430000" cy="6744462"/>
            </a:xfrm>
            <a:custGeom>
              <a:avLst/>
              <a:gdLst/>
              <a:ahLst/>
              <a:cxnLst/>
              <a:rect r="r" b="b" t="t" l="l"/>
              <a:pathLst>
                <a:path h="6744462" w="11430000">
                  <a:moveTo>
                    <a:pt x="0" y="0"/>
                  </a:moveTo>
                  <a:lnTo>
                    <a:pt x="11430000" y="0"/>
                  </a:lnTo>
                  <a:lnTo>
                    <a:pt x="11430000" y="6744462"/>
                  </a:lnTo>
                  <a:lnTo>
                    <a:pt x="0" y="6744462"/>
                  </a:lnTo>
                  <a:lnTo>
                    <a:pt x="0" y="0"/>
                  </a:lnTo>
                  <a:close/>
                </a:path>
              </a:pathLst>
            </a:custGeom>
            <a:blipFill>
              <a:blip r:embed="rId4"/>
              <a:stretch>
                <a:fillRect l="0" t="0" r="0" b="0"/>
              </a:stretch>
            </a:blipFill>
          </p:spPr>
        </p:sp>
      </p:grpSp>
      <p:grpSp>
        <p:nvGrpSpPr>
          <p:cNvPr name="Group 28" id="28"/>
          <p:cNvGrpSpPr/>
          <p:nvPr/>
        </p:nvGrpSpPr>
        <p:grpSpPr>
          <a:xfrm rot="0">
            <a:off x="914400" y="8829675"/>
            <a:ext cx="15430500" cy="500062"/>
            <a:chOff x="0" y="0"/>
            <a:chExt cx="20574000" cy="666750"/>
          </a:xfrm>
        </p:grpSpPr>
        <p:sp>
          <p:nvSpPr>
            <p:cNvPr name="Freeform 29" id="29"/>
            <p:cNvSpPr/>
            <p:nvPr/>
          </p:nvSpPr>
          <p:spPr>
            <a:xfrm flipH="false" flipV="false" rot="0">
              <a:off x="0" y="0"/>
              <a:ext cx="20574000" cy="666750"/>
            </a:xfrm>
            <a:custGeom>
              <a:avLst/>
              <a:gdLst/>
              <a:ahLst/>
              <a:cxnLst/>
              <a:rect r="r" b="b" t="t" l="l"/>
              <a:pathLst>
                <a:path h="666750" w="20574000">
                  <a:moveTo>
                    <a:pt x="0" y="0"/>
                  </a:moveTo>
                  <a:lnTo>
                    <a:pt x="20574000" y="0"/>
                  </a:lnTo>
                  <a:lnTo>
                    <a:pt x="20574000" y="666750"/>
                  </a:lnTo>
                  <a:lnTo>
                    <a:pt x="0" y="666750"/>
                  </a:lnTo>
                  <a:close/>
                </a:path>
              </a:pathLst>
            </a:custGeom>
            <a:blipFill>
              <a:blip r:embed="rId3">
                <a:alphaModFix amt="0"/>
              </a:blip>
              <a:stretch>
                <a:fillRect l="0" t="-551252" r="0" b="-551252"/>
              </a:stretch>
            </a:blipFill>
          </p:spPr>
        </p:sp>
        <p:sp>
          <p:nvSpPr>
            <p:cNvPr name="TextBox 30" id="30"/>
            <p:cNvSpPr txBox="true"/>
            <p:nvPr/>
          </p:nvSpPr>
          <p:spPr>
            <a:xfrm>
              <a:off x="0" y="-28575"/>
              <a:ext cx="20574000" cy="695325"/>
            </a:xfrm>
            <a:prstGeom prst="rect">
              <a:avLst/>
            </a:prstGeom>
          </p:spPr>
          <p:txBody>
            <a:bodyPr anchor="ctr" rtlCol="false" tIns="0" lIns="0" bIns="0" rIns="0"/>
            <a:lstStyle/>
            <a:p>
              <a:pPr algn="l">
                <a:lnSpc>
                  <a:spcPts val="3104"/>
                </a:lnSpc>
              </a:pPr>
              <a:r>
                <a:rPr lang="en-US" sz="2587">
                  <a:solidFill>
                    <a:srgbClr val="B8D8DA"/>
                  </a:solidFill>
                  <a:latin typeface="Helvetica"/>
                  <a:ea typeface="Helvetica"/>
                  <a:cs typeface="Helvetica"/>
                  <a:sym typeface="Helvetica"/>
                </a:rPr>
                <a:t>Camilo Pérez · Nicolás Yáñez · Felipe Chavarría</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CFEFD"/>
        </a:solidFill>
      </p:bgPr>
    </p:bg>
    <p:spTree>
      <p:nvGrpSpPr>
        <p:cNvPr id="1" name=""/>
        <p:cNvGrpSpPr/>
        <p:nvPr/>
      </p:nvGrpSpPr>
      <p:grpSpPr>
        <a:xfrm>
          <a:off x="0" y="0"/>
          <a:ext cx="0" cy="0"/>
          <a:chOff x="0" y="0"/>
          <a:chExt cx="0" cy="0"/>
        </a:xfrm>
      </p:grpSpPr>
      <p:grpSp>
        <p:nvGrpSpPr>
          <p:cNvPr name="Group 2" id="2"/>
          <p:cNvGrpSpPr/>
          <p:nvPr/>
        </p:nvGrpSpPr>
        <p:grpSpPr>
          <a:xfrm rot="0">
            <a:off x="914400" y="285750"/>
            <a:ext cx="3000375" cy="342900"/>
            <a:chOff x="0" y="0"/>
            <a:chExt cx="4000500" cy="457200"/>
          </a:xfrm>
        </p:grpSpPr>
        <p:sp>
          <p:nvSpPr>
            <p:cNvPr name="Freeform 3" id="3"/>
            <p:cNvSpPr/>
            <p:nvPr/>
          </p:nvSpPr>
          <p:spPr>
            <a:xfrm flipH="false" flipV="false" rot="0">
              <a:off x="0" y="0"/>
              <a:ext cx="4000500" cy="457200"/>
            </a:xfrm>
            <a:custGeom>
              <a:avLst/>
              <a:gdLst/>
              <a:ahLst/>
              <a:cxnLst/>
              <a:rect r="r" b="b" t="t" l="l"/>
              <a:pathLst>
                <a:path h="457200" w="4000500">
                  <a:moveTo>
                    <a:pt x="0" y="0"/>
                  </a:moveTo>
                  <a:lnTo>
                    <a:pt x="4000500" y="0"/>
                  </a:lnTo>
                  <a:lnTo>
                    <a:pt x="4000500" y="457200"/>
                  </a:lnTo>
                  <a:lnTo>
                    <a:pt x="0" y="457200"/>
                  </a:lnTo>
                  <a:close/>
                </a:path>
              </a:pathLst>
            </a:custGeom>
            <a:blipFill>
              <a:blip r:embed="rId3">
                <a:alphaModFix amt="0"/>
              </a:blip>
              <a:stretch>
                <a:fillRect l="0" t="-120494" r="0" b="-120494"/>
              </a:stretch>
            </a:blipFill>
          </p:spPr>
        </p:sp>
        <p:sp>
          <p:nvSpPr>
            <p:cNvPr name="TextBox 4" id="4"/>
            <p:cNvSpPr txBox="true"/>
            <p:nvPr/>
          </p:nvSpPr>
          <p:spPr>
            <a:xfrm>
              <a:off x="0" y="-19050"/>
              <a:ext cx="4000500" cy="476250"/>
            </a:xfrm>
            <a:prstGeom prst="rect">
              <a:avLst/>
            </a:prstGeom>
          </p:spPr>
          <p:txBody>
            <a:bodyPr anchor="ctr" rtlCol="false" tIns="0" lIns="0" bIns="0" rIns="0"/>
            <a:lstStyle/>
            <a:p>
              <a:pPr algn="l">
                <a:lnSpc>
                  <a:spcPts val="2295"/>
                </a:lnSpc>
              </a:pPr>
              <a:r>
                <a:rPr lang="en-US" sz="1912" b="true">
                  <a:solidFill>
                    <a:srgbClr val="117B82"/>
                  </a:solidFill>
                  <a:latin typeface="Helvetica Bold"/>
                  <a:ea typeface="Helvetica Bold"/>
                  <a:cs typeface="Helvetica Bold"/>
                  <a:sym typeface="Helvetica Bold"/>
                </a:rPr>
                <a:t>MEDLINK</a:t>
              </a:r>
            </a:p>
          </p:txBody>
        </p:sp>
      </p:grpSp>
      <p:grpSp>
        <p:nvGrpSpPr>
          <p:cNvPr name="Group 5" id="5"/>
          <p:cNvGrpSpPr/>
          <p:nvPr/>
        </p:nvGrpSpPr>
        <p:grpSpPr>
          <a:xfrm rot="0">
            <a:off x="914400" y="728662"/>
            <a:ext cx="16287750" cy="928688"/>
            <a:chOff x="0" y="0"/>
            <a:chExt cx="21717000" cy="1238250"/>
          </a:xfrm>
        </p:grpSpPr>
        <p:sp>
          <p:nvSpPr>
            <p:cNvPr name="Freeform 6" id="6"/>
            <p:cNvSpPr/>
            <p:nvPr/>
          </p:nvSpPr>
          <p:spPr>
            <a:xfrm flipH="false" flipV="false" rot="0">
              <a:off x="0" y="0"/>
              <a:ext cx="21717000" cy="1238250"/>
            </a:xfrm>
            <a:custGeom>
              <a:avLst/>
              <a:gdLst/>
              <a:ahLst/>
              <a:cxnLst/>
              <a:rect r="r" b="b" t="t" l="l"/>
              <a:pathLst>
                <a:path h="1238250" w="21717000">
                  <a:moveTo>
                    <a:pt x="0" y="0"/>
                  </a:moveTo>
                  <a:lnTo>
                    <a:pt x="21717000" y="0"/>
                  </a:lnTo>
                  <a:lnTo>
                    <a:pt x="21717000" y="1238250"/>
                  </a:lnTo>
                  <a:lnTo>
                    <a:pt x="0" y="1238250"/>
                  </a:lnTo>
                  <a:close/>
                </a:path>
              </a:pathLst>
            </a:custGeom>
            <a:blipFill>
              <a:blip r:embed="rId3">
                <a:alphaModFix amt="0"/>
              </a:blip>
              <a:stretch>
                <a:fillRect l="0" t="-291737" r="0" b="-291737"/>
              </a:stretch>
            </a:blipFill>
          </p:spPr>
        </p:sp>
        <p:sp>
          <p:nvSpPr>
            <p:cNvPr name="TextBox 7" id="7"/>
            <p:cNvSpPr txBox="true"/>
            <p:nvPr/>
          </p:nvSpPr>
          <p:spPr>
            <a:xfrm>
              <a:off x="0" y="-38100"/>
              <a:ext cx="21717000" cy="1276350"/>
            </a:xfrm>
            <a:prstGeom prst="rect">
              <a:avLst/>
            </a:prstGeom>
          </p:spPr>
          <p:txBody>
            <a:bodyPr anchor="ctr" rtlCol="false" tIns="0" lIns="0" bIns="0" rIns="0"/>
            <a:lstStyle/>
            <a:p>
              <a:pPr algn="l">
                <a:lnSpc>
                  <a:spcPts val="5670"/>
                </a:lnSpc>
              </a:pPr>
              <a:r>
                <a:rPr lang="en-US" sz="4725" b="true">
                  <a:solidFill>
                    <a:srgbClr val="173B47"/>
                  </a:solidFill>
                  <a:latin typeface="Helvetica Bold"/>
                  <a:ea typeface="Helvetica Bold"/>
                  <a:cs typeface="Helvetica Bold"/>
                  <a:sym typeface="Helvetica Bold"/>
                </a:rPr>
                <a:t>Ajustes a la propuesta y al plan</a:t>
              </a:r>
            </a:p>
          </p:txBody>
        </p:sp>
      </p:grpSp>
      <p:sp>
        <p:nvSpPr>
          <p:cNvPr name="AutoShape 8" id="8"/>
          <p:cNvSpPr/>
          <p:nvPr/>
        </p:nvSpPr>
        <p:spPr>
          <a:xfrm rot="4500">
            <a:off x="903675" y="1838325"/>
            <a:ext cx="16480650" cy="0"/>
          </a:xfrm>
          <a:prstGeom prst="line">
            <a:avLst/>
          </a:prstGeom>
          <a:ln cap="rnd" w="9525">
            <a:solidFill>
              <a:srgbClr val="D2E4E2"/>
            </a:solidFill>
            <a:prstDash val="solid"/>
            <a:headEnd type="none" len="sm" w="sm"/>
            <a:tailEnd type="none" len="sm" w="sm"/>
          </a:ln>
        </p:spPr>
      </p:sp>
      <p:grpSp>
        <p:nvGrpSpPr>
          <p:cNvPr name="Group 9" id="9"/>
          <p:cNvGrpSpPr/>
          <p:nvPr/>
        </p:nvGrpSpPr>
        <p:grpSpPr>
          <a:xfrm rot="0">
            <a:off x="16144875" y="9572625"/>
            <a:ext cx="1228725" cy="357188"/>
            <a:chOff x="0" y="0"/>
            <a:chExt cx="1638300" cy="476250"/>
          </a:xfrm>
        </p:grpSpPr>
        <p:sp>
          <p:nvSpPr>
            <p:cNvPr name="Freeform 10" id="10"/>
            <p:cNvSpPr/>
            <p:nvPr/>
          </p:nvSpPr>
          <p:spPr>
            <a:xfrm flipH="false" flipV="false" rot="0">
              <a:off x="0" y="0"/>
              <a:ext cx="1638300" cy="476250"/>
            </a:xfrm>
            <a:custGeom>
              <a:avLst/>
              <a:gdLst/>
              <a:ahLst/>
              <a:cxnLst/>
              <a:rect r="r" b="b" t="t" l="l"/>
              <a:pathLst>
                <a:path h="476250" w="1638300">
                  <a:moveTo>
                    <a:pt x="0" y="0"/>
                  </a:moveTo>
                  <a:lnTo>
                    <a:pt x="1638300" y="0"/>
                  </a:lnTo>
                  <a:lnTo>
                    <a:pt x="1638300" y="476250"/>
                  </a:lnTo>
                  <a:lnTo>
                    <a:pt x="0" y="476250"/>
                  </a:lnTo>
                  <a:close/>
                </a:path>
              </a:pathLst>
            </a:custGeom>
            <a:blipFill>
              <a:blip r:embed="rId3">
                <a:alphaModFix amt="0"/>
              </a:blip>
              <a:stretch>
                <a:fillRect l="0" t="-17028" r="0" b="-17028"/>
              </a:stretch>
            </a:blipFill>
          </p:spPr>
        </p:sp>
        <p:sp>
          <p:nvSpPr>
            <p:cNvPr name="TextBox 11" id="11"/>
            <p:cNvSpPr txBox="true"/>
            <p:nvPr/>
          </p:nvSpPr>
          <p:spPr>
            <a:xfrm>
              <a:off x="0" y="-19050"/>
              <a:ext cx="1638300" cy="495300"/>
            </a:xfrm>
            <a:prstGeom prst="rect">
              <a:avLst/>
            </a:prstGeom>
          </p:spPr>
          <p:txBody>
            <a:bodyPr anchor="ctr" rtlCol="false" tIns="0" lIns="0" bIns="0" rIns="0"/>
            <a:lstStyle/>
            <a:p>
              <a:pPr algn="l">
                <a:lnSpc>
                  <a:spcPts val="2430"/>
                </a:lnSpc>
              </a:pPr>
              <a:r>
                <a:rPr lang="en-US" sz="2025">
                  <a:solidFill>
                    <a:srgbClr val="59757B"/>
                  </a:solidFill>
                  <a:latin typeface="Helvetica"/>
                  <a:ea typeface="Helvetica"/>
                  <a:cs typeface="Helvetica"/>
                  <a:sym typeface="Helvetica"/>
                </a:rPr>
                <a:t>02 / 09</a:t>
              </a:r>
            </a:p>
          </p:txBody>
        </p:sp>
      </p:grpSp>
      <p:sp>
        <p:nvSpPr>
          <p:cNvPr name="AutoShape 12" id="12"/>
          <p:cNvSpPr/>
          <p:nvPr/>
        </p:nvSpPr>
        <p:spPr>
          <a:xfrm rot="5387160">
            <a:off x="8976103" y="5253038"/>
            <a:ext cx="5736469" cy="0"/>
          </a:xfrm>
          <a:prstGeom prst="line">
            <a:avLst/>
          </a:prstGeom>
          <a:ln cap="rnd" w="9525">
            <a:solidFill>
              <a:srgbClr val="D2E4E2"/>
            </a:solidFill>
            <a:prstDash val="solid"/>
            <a:headEnd type="none" len="sm" w="sm"/>
            <a:tailEnd type="none" len="sm" w="sm"/>
          </a:ln>
        </p:spPr>
      </p:sp>
      <p:grpSp>
        <p:nvGrpSpPr>
          <p:cNvPr name="Group 13" id="13"/>
          <p:cNvGrpSpPr/>
          <p:nvPr/>
        </p:nvGrpSpPr>
        <p:grpSpPr>
          <a:xfrm rot="0">
            <a:off x="914400" y="2357438"/>
            <a:ext cx="10287000" cy="571500"/>
            <a:chOff x="0" y="0"/>
            <a:chExt cx="13716000" cy="762000"/>
          </a:xfrm>
        </p:grpSpPr>
        <p:sp>
          <p:nvSpPr>
            <p:cNvPr name="Freeform 14" id="14"/>
            <p:cNvSpPr/>
            <p:nvPr/>
          </p:nvSpPr>
          <p:spPr>
            <a:xfrm flipH="false" flipV="false" rot="0">
              <a:off x="0" y="0"/>
              <a:ext cx="13716000" cy="762000"/>
            </a:xfrm>
            <a:custGeom>
              <a:avLst/>
              <a:gdLst/>
              <a:ahLst/>
              <a:cxnLst/>
              <a:rect r="r" b="b" t="t" l="l"/>
              <a:pathLst>
                <a:path h="762000" w="13716000">
                  <a:moveTo>
                    <a:pt x="0" y="0"/>
                  </a:moveTo>
                  <a:lnTo>
                    <a:pt x="13716000" y="0"/>
                  </a:lnTo>
                  <a:lnTo>
                    <a:pt x="13716000" y="762000"/>
                  </a:lnTo>
                  <a:lnTo>
                    <a:pt x="0" y="762000"/>
                  </a:lnTo>
                  <a:close/>
                </a:path>
              </a:pathLst>
            </a:custGeom>
            <a:blipFill>
              <a:blip r:embed="rId3">
                <a:alphaModFix amt="0"/>
              </a:blip>
              <a:stretch>
                <a:fillRect l="0" t="-300730" r="0" b="-300730"/>
              </a:stretch>
            </a:blipFill>
          </p:spPr>
        </p:sp>
        <p:sp>
          <p:nvSpPr>
            <p:cNvPr name="TextBox 15" id="15"/>
            <p:cNvSpPr txBox="true"/>
            <p:nvPr/>
          </p:nvSpPr>
          <p:spPr>
            <a:xfrm>
              <a:off x="0" y="-28575"/>
              <a:ext cx="13716000" cy="790575"/>
            </a:xfrm>
            <a:prstGeom prst="rect">
              <a:avLst/>
            </a:prstGeom>
          </p:spPr>
          <p:txBody>
            <a:bodyPr anchor="ctr" rtlCol="false" tIns="0" lIns="0" bIns="0" rIns="0"/>
            <a:lstStyle/>
            <a:p>
              <a:pPr algn="l">
                <a:lnSpc>
                  <a:spcPts val="3915"/>
                </a:lnSpc>
              </a:pPr>
              <a:r>
                <a:rPr lang="en-US" sz="3262" b="true">
                  <a:solidFill>
                    <a:srgbClr val="117B82"/>
                  </a:solidFill>
                  <a:latin typeface="Helvetica Bold"/>
                  <a:ea typeface="Helvetica Bold"/>
                  <a:cs typeface="Helvetica Bold"/>
                  <a:sym typeface="Helvetica Bold"/>
                </a:rPr>
                <a:t>Dificultad y respuesta</a:t>
              </a:r>
            </a:p>
          </p:txBody>
        </p:sp>
      </p:grpSp>
      <p:grpSp>
        <p:nvGrpSpPr>
          <p:cNvPr name="Group 16" id="16"/>
          <p:cNvGrpSpPr/>
          <p:nvPr/>
        </p:nvGrpSpPr>
        <p:grpSpPr>
          <a:xfrm rot="0">
            <a:off x="914400" y="3314700"/>
            <a:ext cx="10287000" cy="642938"/>
            <a:chOff x="0" y="0"/>
            <a:chExt cx="13716000" cy="857250"/>
          </a:xfrm>
        </p:grpSpPr>
        <p:sp>
          <p:nvSpPr>
            <p:cNvPr name="Freeform 17" id="17"/>
            <p:cNvSpPr/>
            <p:nvPr/>
          </p:nvSpPr>
          <p:spPr>
            <a:xfrm flipH="false" flipV="false" rot="0">
              <a:off x="0" y="0"/>
              <a:ext cx="13716000" cy="857250"/>
            </a:xfrm>
            <a:custGeom>
              <a:avLst/>
              <a:gdLst/>
              <a:ahLst/>
              <a:cxnLst/>
              <a:rect r="r" b="b" t="t" l="l"/>
              <a:pathLst>
                <a:path h="857250" w="13716000">
                  <a:moveTo>
                    <a:pt x="0" y="0"/>
                  </a:moveTo>
                  <a:lnTo>
                    <a:pt x="13716000" y="0"/>
                  </a:lnTo>
                  <a:lnTo>
                    <a:pt x="13716000" y="857250"/>
                  </a:lnTo>
                  <a:lnTo>
                    <a:pt x="0" y="857250"/>
                  </a:lnTo>
                  <a:close/>
                </a:path>
              </a:pathLst>
            </a:custGeom>
            <a:blipFill>
              <a:blip r:embed="rId3">
                <a:alphaModFix amt="0"/>
              </a:blip>
              <a:stretch>
                <a:fillRect l="0" t="-261760" r="0" b="-261760"/>
              </a:stretch>
            </a:blipFill>
          </p:spPr>
        </p:sp>
        <p:sp>
          <p:nvSpPr>
            <p:cNvPr name="TextBox 18" id="18"/>
            <p:cNvSpPr txBox="true"/>
            <p:nvPr/>
          </p:nvSpPr>
          <p:spPr>
            <a:xfrm>
              <a:off x="0" y="-38100"/>
              <a:ext cx="13716000" cy="895350"/>
            </a:xfrm>
            <a:prstGeom prst="rect">
              <a:avLst/>
            </a:prstGeom>
          </p:spPr>
          <p:txBody>
            <a:bodyPr anchor="ctr" rtlCol="false" tIns="0" lIns="0" bIns="0" rIns="0"/>
            <a:lstStyle/>
            <a:p>
              <a:pPr algn="l">
                <a:lnSpc>
                  <a:spcPts val="4320"/>
                </a:lnSpc>
              </a:pPr>
              <a:r>
                <a:rPr lang="en-US" sz="3600" b="true">
                  <a:solidFill>
                    <a:srgbClr val="173B47"/>
                  </a:solidFill>
                  <a:latin typeface="Helvetica Bold"/>
                  <a:ea typeface="Helvetica Bold"/>
                  <a:cs typeface="Helvetica Bold"/>
                  <a:sym typeface="Helvetica Bold"/>
                </a:rPr>
                <a:t>18 semanas planificadas, límite de 16</a:t>
              </a:r>
            </a:p>
          </p:txBody>
        </p:sp>
      </p:grpSp>
      <p:grpSp>
        <p:nvGrpSpPr>
          <p:cNvPr name="Group 19" id="19"/>
          <p:cNvGrpSpPr/>
          <p:nvPr/>
        </p:nvGrpSpPr>
        <p:grpSpPr>
          <a:xfrm rot="0">
            <a:off x="914400" y="4057650"/>
            <a:ext cx="10429875" cy="1214438"/>
            <a:chOff x="0" y="0"/>
            <a:chExt cx="13906500" cy="1619250"/>
          </a:xfrm>
        </p:grpSpPr>
        <p:sp>
          <p:nvSpPr>
            <p:cNvPr name="Freeform 20" id="20"/>
            <p:cNvSpPr/>
            <p:nvPr/>
          </p:nvSpPr>
          <p:spPr>
            <a:xfrm flipH="false" flipV="false" rot="0">
              <a:off x="0" y="0"/>
              <a:ext cx="13906500" cy="1619250"/>
            </a:xfrm>
            <a:custGeom>
              <a:avLst/>
              <a:gdLst/>
              <a:ahLst/>
              <a:cxnLst/>
              <a:rect r="r" b="b" t="t" l="l"/>
              <a:pathLst>
                <a:path h="1619250" w="13906500">
                  <a:moveTo>
                    <a:pt x="0" y="0"/>
                  </a:moveTo>
                  <a:lnTo>
                    <a:pt x="13906500" y="0"/>
                  </a:lnTo>
                  <a:lnTo>
                    <a:pt x="13906500" y="1619250"/>
                  </a:lnTo>
                  <a:lnTo>
                    <a:pt x="0" y="1619250"/>
                  </a:lnTo>
                  <a:close/>
                </a:path>
              </a:pathLst>
            </a:custGeom>
            <a:blipFill>
              <a:blip r:embed="rId3">
                <a:alphaModFix amt="0"/>
              </a:blip>
              <a:stretch>
                <a:fillRect l="0" t="-117342" r="0" b="-117342"/>
              </a:stretch>
            </a:blipFill>
          </p:spPr>
        </p:sp>
        <p:sp>
          <p:nvSpPr>
            <p:cNvPr name="TextBox 21" id="21"/>
            <p:cNvSpPr txBox="true"/>
            <p:nvPr/>
          </p:nvSpPr>
          <p:spPr>
            <a:xfrm>
              <a:off x="0" y="-19050"/>
              <a:ext cx="13906500" cy="1638300"/>
            </a:xfrm>
            <a:prstGeom prst="rect">
              <a:avLst/>
            </a:prstGeom>
          </p:spPr>
          <p:txBody>
            <a:bodyPr anchor="ctr" rtlCol="false" tIns="0" lIns="0" bIns="0" rIns="0"/>
            <a:lstStyle/>
            <a:p>
              <a:pPr algn="l">
                <a:lnSpc>
                  <a:spcPts val="3510"/>
                </a:lnSpc>
              </a:pPr>
              <a:r>
                <a:rPr lang="en-US" sz="2925">
                  <a:solidFill>
                    <a:srgbClr val="173B47"/>
                  </a:solidFill>
                  <a:latin typeface="Helvetica"/>
                  <a:ea typeface="Helvetica"/>
                  <a:cs typeface="Helvetica"/>
                  <a:sym typeface="Helvetica"/>
                </a:rPr>
                <a:t>Arquitectura, datos y cierre pasan de 3 a 2 semanas.</a:t>
              </a:r>
            </a:p>
            <a:p>
              <a:pPr algn="l">
                <a:lnSpc>
                  <a:spcPts val="3510"/>
                </a:lnSpc>
              </a:pPr>
              <a:r>
                <a:rPr lang="en-US" sz="2925">
                  <a:solidFill>
                    <a:srgbClr val="173B47"/>
                  </a:solidFill>
                  <a:latin typeface="Helvetica"/>
                  <a:ea typeface="Helvetica"/>
                  <a:cs typeface="Helvetica"/>
                  <a:sym typeface="Helvetica"/>
                </a:rPr>
                <a:t>Desarrollo y pruebas conservan su duración.</a:t>
              </a:r>
            </a:p>
          </p:txBody>
        </p:sp>
      </p:grpSp>
      <p:grpSp>
        <p:nvGrpSpPr>
          <p:cNvPr name="Group 22" id="22"/>
          <p:cNvGrpSpPr/>
          <p:nvPr/>
        </p:nvGrpSpPr>
        <p:grpSpPr>
          <a:xfrm rot="0">
            <a:off x="914400" y="5686425"/>
            <a:ext cx="10287000" cy="571500"/>
            <a:chOff x="0" y="0"/>
            <a:chExt cx="13716000" cy="762000"/>
          </a:xfrm>
        </p:grpSpPr>
        <p:sp>
          <p:nvSpPr>
            <p:cNvPr name="Freeform 23" id="23"/>
            <p:cNvSpPr/>
            <p:nvPr/>
          </p:nvSpPr>
          <p:spPr>
            <a:xfrm flipH="false" flipV="false" rot="0">
              <a:off x="0" y="0"/>
              <a:ext cx="13716000" cy="762000"/>
            </a:xfrm>
            <a:custGeom>
              <a:avLst/>
              <a:gdLst/>
              <a:ahLst/>
              <a:cxnLst/>
              <a:rect r="r" b="b" t="t" l="l"/>
              <a:pathLst>
                <a:path h="762000" w="13716000">
                  <a:moveTo>
                    <a:pt x="0" y="0"/>
                  </a:moveTo>
                  <a:lnTo>
                    <a:pt x="13716000" y="0"/>
                  </a:lnTo>
                  <a:lnTo>
                    <a:pt x="13716000" y="762000"/>
                  </a:lnTo>
                  <a:lnTo>
                    <a:pt x="0" y="762000"/>
                  </a:lnTo>
                  <a:close/>
                </a:path>
              </a:pathLst>
            </a:custGeom>
            <a:blipFill>
              <a:blip r:embed="rId3">
                <a:alphaModFix amt="0"/>
              </a:blip>
              <a:stretch>
                <a:fillRect l="0" t="-300730" r="0" b="-300730"/>
              </a:stretch>
            </a:blipFill>
          </p:spPr>
        </p:sp>
        <p:sp>
          <p:nvSpPr>
            <p:cNvPr name="TextBox 24" id="24"/>
            <p:cNvSpPr txBox="true"/>
            <p:nvPr/>
          </p:nvSpPr>
          <p:spPr>
            <a:xfrm>
              <a:off x="0" y="-28575"/>
              <a:ext cx="13716000" cy="790575"/>
            </a:xfrm>
            <a:prstGeom prst="rect">
              <a:avLst/>
            </a:prstGeom>
          </p:spPr>
          <p:txBody>
            <a:bodyPr anchor="ctr" rtlCol="false" tIns="0" lIns="0" bIns="0" rIns="0"/>
            <a:lstStyle/>
            <a:p>
              <a:pPr algn="l">
                <a:lnSpc>
                  <a:spcPts val="3915"/>
                </a:lnSpc>
              </a:pPr>
              <a:r>
                <a:rPr lang="en-US" sz="3262" b="true">
                  <a:solidFill>
                    <a:srgbClr val="173B47"/>
                  </a:solidFill>
                  <a:latin typeface="Helvetica Bold"/>
                  <a:ea typeface="Helvetica Bold"/>
                  <a:cs typeface="Helvetica Bold"/>
                  <a:sym typeface="Helvetica Bold"/>
                </a:rPr>
                <a:t>Mockups pendientes desde Fase 1</a:t>
              </a:r>
            </a:p>
          </p:txBody>
        </p:sp>
      </p:grpSp>
      <p:grpSp>
        <p:nvGrpSpPr>
          <p:cNvPr name="Group 25" id="25"/>
          <p:cNvGrpSpPr/>
          <p:nvPr/>
        </p:nvGrpSpPr>
        <p:grpSpPr>
          <a:xfrm rot="0">
            <a:off x="914400" y="6443662"/>
            <a:ext cx="10429875" cy="1143000"/>
            <a:chOff x="0" y="0"/>
            <a:chExt cx="13906500" cy="1524000"/>
          </a:xfrm>
        </p:grpSpPr>
        <p:sp>
          <p:nvSpPr>
            <p:cNvPr name="Freeform 26" id="26"/>
            <p:cNvSpPr/>
            <p:nvPr/>
          </p:nvSpPr>
          <p:spPr>
            <a:xfrm flipH="false" flipV="false" rot="0">
              <a:off x="0" y="0"/>
              <a:ext cx="13906500" cy="1524000"/>
            </a:xfrm>
            <a:custGeom>
              <a:avLst/>
              <a:gdLst/>
              <a:ahLst/>
              <a:cxnLst/>
              <a:rect r="r" b="b" t="t" l="l"/>
              <a:pathLst>
                <a:path h="1524000" w="13906500">
                  <a:moveTo>
                    <a:pt x="0" y="0"/>
                  </a:moveTo>
                  <a:lnTo>
                    <a:pt x="13906500" y="0"/>
                  </a:lnTo>
                  <a:lnTo>
                    <a:pt x="13906500" y="1524000"/>
                  </a:lnTo>
                  <a:lnTo>
                    <a:pt x="0" y="1524000"/>
                  </a:lnTo>
                  <a:close/>
                </a:path>
              </a:pathLst>
            </a:custGeom>
            <a:blipFill>
              <a:blip r:embed="rId3">
                <a:alphaModFix amt="0"/>
              </a:blip>
              <a:stretch>
                <a:fillRect l="0" t="-127800" r="0" b="-127800"/>
              </a:stretch>
            </a:blipFill>
          </p:spPr>
        </p:sp>
        <p:sp>
          <p:nvSpPr>
            <p:cNvPr name="TextBox 27" id="27"/>
            <p:cNvSpPr txBox="true"/>
            <p:nvPr/>
          </p:nvSpPr>
          <p:spPr>
            <a:xfrm>
              <a:off x="0" y="-19050"/>
              <a:ext cx="13906500" cy="1543050"/>
            </a:xfrm>
            <a:prstGeom prst="rect">
              <a:avLst/>
            </a:prstGeom>
          </p:spPr>
          <p:txBody>
            <a:bodyPr anchor="ctr" rtlCol="false" tIns="0" lIns="0" bIns="0" rIns="0"/>
            <a:lstStyle/>
            <a:p>
              <a:pPr algn="l">
                <a:lnSpc>
                  <a:spcPts val="3510"/>
                </a:lnSpc>
              </a:pPr>
              <a:r>
                <a:rPr lang="en-US" sz="2925">
                  <a:solidFill>
                    <a:srgbClr val="173B47"/>
                  </a:solidFill>
                  <a:latin typeface="Helvetica"/>
                  <a:ea typeface="Helvetica"/>
                  <a:cs typeface="Helvetica"/>
                  <a:sym typeface="Helvetica"/>
                </a:rPr>
                <a:t>El equipo los rehízo y los usa como evidencia</a:t>
              </a:r>
            </a:p>
            <a:p>
              <a:pPr algn="l">
                <a:lnSpc>
                  <a:spcPts val="3510"/>
                </a:lnSpc>
              </a:pPr>
              <a:r>
                <a:rPr lang="en-US" sz="2925">
                  <a:solidFill>
                    <a:srgbClr val="173B47"/>
                  </a:solidFill>
                  <a:latin typeface="Helvetica"/>
                  <a:ea typeface="Helvetica"/>
                  <a:cs typeface="Helvetica"/>
                  <a:sym typeface="Helvetica"/>
                </a:rPr>
                <a:t>y especificación visual del frontend.</a:t>
              </a:r>
            </a:p>
          </p:txBody>
        </p:sp>
      </p:grpSp>
      <p:grpSp>
        <p:nvGrpSpPr>
          <p:cNvPr name="Group 28" id="28"/>
          <p:cNvGrpSpPr/>
          <p:nvPr/>
        </p:nvGrpSpPr>
        <p:grpSpPr>
          <a:xfrm rot="0">
            <a:off x="12501562" y="2357438"/>
            <a:ext cx="4857750" cy="571500"/>
            <a:chOff x="0" y="0"/>
            <a:chExt cx="6477000" cy="762000"/>
          </a:xfrm>
        </p:grpSpPr>
        <p:sp>
          <p:nvSpPr>
            <p:cNvPr name="Freeform 29" id="29"/>
            <p:cNvSpPr/>
            <p:nvPr/>
          </p:nvSpPr>
          <p:spPr>
            <a:xfrm flipH="false" flipV="false" rot="0">
              <a:off x="0" y="0"/>
              <a:ext cx="6477000" cy="762000"/>
            </a:xfrm>
            <a:custGeom>
              <a:avLst/>
              <a:gdLst/>
              <a:ahLst/>
              <a:cxnLst/>
              <a:rect r="r" b="b" t="t" l="l"/>
              <a:pathLst>
                <a:path h="762000" w="6477000">
                  <a:moveTo>
                    <a:pt x="0" y="0"/>
                  </a:moveTo>
                  <a:lnTo>
                    <a:pt x="6477000" y="0"/>
                  </a:lnTo>
                  <a:lnTo>
                    <a:pt x="6477000" y="762000"/>
                  </a:lnTo>
                  <a:lnTo>
                    <a:pt x="0" y="762000"/>
                  </a:lnTo>
                  <a:close/>
                </a:path>
              </a:pathLst>
            </a:custGeom>
            <a:blipFill>
              <a:blip r:embed="rId3">
                <a:alphaModFix amt="0"/>
              </a:blip>
              <a:stretch>
                <a:fillRect l="0" t="-115622" r="0" b="-115622"/>
              </a:stretch>
            </a:blipFill>
          </p:spPr>
        </p:sp>
        <p:sp>
          <p:nvSpPr>
            <p:cNvPr name="TextBox 30" id="30"/>
            <p:cNvSpPr txBox="true"/>
            <p:nvPr/>
          </p:nvSpPr>
          <p:spPr>
            <a:xfrm>
              <a:off x="0" y="-28575"/>
              <a:ext cx="6477000" cy="790575"/>
            </a:xfrm>
            <a:prstGeom prst="rect">
              <a:avLst/>
            </a:prstGeom>
          </p:spPr>
          <p:txBody>
            <a:bodyPr anchor="ctr" rtlCol="false" tIns="0" lIns="0" bIns="0" rIns="0"/>
            <a:lstStyle/>
            <a:p>
              <a:pPr algn="l">
                <a:lnSpc>
                  <a:spcPts val="3915"/>
                </a:lnSpc>
              </a:pPr>
              <a:r>
                <a:rPr lang="en-US" sz="3262" b="true">
                  <a:solidFill>
                    <a:srgbClr val="117B82"/>
                  </a:solidFill>
                  <a:latin typeface="Helvetica Bold"/>
                  <a:ea typeface="Helvetica Bold"/>
                  <a:cs typeface="Helvetica Bold"/>
                  <a:sym typeface="Helvetica Bold"/>
                </a:rPr>
                <a:t>Facilitadores</a:t>
              </a:r>
            </a:p>
          </p:txBody>
        </p:sp>
      </p:grpSp>
      <p:grpSp>
        <p:nvGrpSpPr>
          <p:cNvPr name="Group 31" id="31"/>
          <p:cNvGrpSpPr/>
          <p:nvPr/>
        </p:nvGrpSpPr>
        <p:grpSpPr>
          <a:xfrm rot="0">
            <a:off x="12501562" y="3328988"/>
            <a:ext cx="4857750" cy="1143000"/>
            <a:chOff x="0" y="0"/>
            <a:chExt cx="6477000" cy="1524000"/>
          </a:xfrm>
        </p:grpSpPr>
        <p:sp>
          <p:nvSpPr>
            <p:cNvPr name="Freeform 32" id="32"/>
            <p:cNvSpPr/>
            <p:nvPr/>
          </p:nvSpPr>
          <p:spPr>
            <a:xfrm flipH="false" flipV="false" rot="0">
              <a:off x="0" y="0"/>
              <a:ext cx="6477000" cy="1524000"/>
            </a:xfrm>
            <a:custGeom>
              <a:avLst/>
              <a:gdLst/>
              <a:ahLst/>
              <a:cxnLst/>
              <a:rect r="r" b="b" t="t" l="l"/>
              <a:pathLst>
                <a:path h="1524000" w="6477000">
                  <a:moveTo>
                    <a:pt x="0" y="0"/>
                  </a:moveTo>
                  <a:lnTo>
                    <a:pt x="6477000" y="0"/>
                  </a:lnTo>
                  <a:lnTo>
                    <a:pt x="6477000" y="1524000"/>
                  </a:lnTo>
                  <a:lnTo>
                    <a:pt x="0" y="1524000"/>
                  </a:lnTo>
                  <a:close/>
                </a:path>
              </a:pathLst>
            </a:custGeom>
            <a:blipFill>
              <a:blip r:embed="rId3">
                <a:alphaModFix amt="0"/>
              </a:blip>
              <a:stretch>
                <a:fillRect l="0" t="-32811" r="0" b="-32811"/>
              </a:stretch>
            </a:blipFill>
          </p:spPr>
        </p:sp>
        <p:sp>
          <p:nvSpPr>
            <p:cNvPr name="TextBox 33" id="33"/>
            <p:cNvSpPr txBox="true"/>
            <p:nvPr/>
          </p:nvSpPr>
          <p:spPr>
            <a:xfrm>
              <a:off x="0" y="-28575"/>
              <a:ext cx="6477000" cy="1552575"/>
            </a:xfrm>
            <a:prstGeom prst="rect">
              <a:avLst/>
            </a:prstGeom>
          </p:spPr>
          <p:txBody>
            <a:bodyPr anchor="ctr" rtlCol="false" tIns="0" lIns="0" bIns="0" rIns="0"/>
            <a:lstStyle/>
            <a:p>
              <a:pPr algn="l">
                <a:lnSpc>
                  <a:spcPts val="3779"/>
                </a:lnSpc>
              </a:pPr>
              <a:r>
                <a:rPr lang="en-US" sz="3150">
                  <a:solidFill>
                    <a:srgbClr val="173B47"/>
                  </a:solidFill>
                  <a:latin typeface="Helvetica"/>
                  <a:ea typeface="Helvetica"/>
                  <a:cs typeface="Helvetica"/>
                  <a:sym typeface="Helvetica"/>
                </a:rPr>
                <a:t>Roles definidos</a:t>
              </a:r>
            </a:p>
            <a:p>
              <a:pPr algn="l">
                <a:lnSpc>
                  <a:spcPts val="3779"/>
                </a:lnSpc>
              </a:pPr>
              <a:r>
                <a:rPr lang="en-US" sz="3150">
                  <a:solidFill>
                    <a:srgbClr val="173B47"/>
                  </a:solidFill>
                  <a:latin typeface="Helvetica"/>
                  <a:ea typeface="Helvetica"/>
                  <a:cs typeface="Helvetica"/>
                  <a:sym typeface="Helvetica"/>
                </a:rPr>
                <a:t>y stack conocido</a:t>
              </a:r>
            </a:p>
          </p:txBody>
        </p:sp>
      </p:grpSp>
      <p:grpSp>
        <p:nvGrpSpPr>
          <p:cNvPr name="Group 34" id="34"/>
          <p:cNvGrpSpPr/>
          <p:nvPr/>
        </p:nvGrpSpPr>
        <p:grpSpPr>
          <a:xfrm rot="0">
            <a:off x="12501562" y="4957762"/>
            <a:ext cx="4857750" cy="1143000"/>
            <a:chOff x="0" y="0"/>
            <a:chExt cx="6477000" cy="1524000"/>
          </a:xfrm>
        </p:grpSpPr>
        <p:sp>
          <p:nvSpPr>
            <p:cNvPr name="Freeform 35" id="35"/>
            <p:cNvSpPr/>
            <p:nvPr/>
          </p:nvSpPr>
          <p:spPr>
            <a:xfrm flipH="false" flipV="false" rot="0">
              <a:off x="0" y="0"/>
              <a:ext cx="6477000" cy="1524000"/>
            </a:xfrm>
            <a:custGeom>
              <a:avLst/>
              <a:gdLst/>
              <a:ahLst/>
              <a:cxnLst/>
              <a:rect r="r" b="b" t="t" l="l"/>
              <a:pathLst>
                <a:path h="1524000" w="6477000">
                  <a:moveTo>
                    <a:pt x="0" y="0"/>
                  </a:moveTo>
                  <a:lnTo>
                    <a:pt x="6477000" y="0"/>
                  </a:lnTo>
                  <a:lnTo>
                    <a:pt x="6477000" y="1524000"/>
                  </a:lnTo>
                  <a:lnTo>
                    <a:pt x="0" y="1524000"/>
                  </a:lnTo>
                  <a:close/>
                </a:path>
              </a:pathLst>
            </a:custGeom>
            <a:blipFill>
              <a:blip r:embed="rId3">
                <a:alphaModFix amt="0"/>
              </a:blip>
              <a:stretch>
                <a:fillRect l="0" t="-32811" r="0" b="-32811"/>
              </a:stretch>
            </a:blipFill>
          </p:spPr>
        </p:sp>
        <p:sp>
          <p:nvSpPr>
            <p:cNvPr name="TextBox 36" id="36"/>
            <p:cNvSpPr txBox="true"/>
            <p:nvPr/>
          </p:nvSpPr>
          <p:spPr>
            <a:xfrm>
              <a:off x="0" y="-28575"/>
              <a:ext cx="6477000" cy="1552575"/>
            </a:xfrm>
            <a:prstGeom prst="rect">
              <a:avLst/>
            </a:prstGeom>
          </p:spPr>
          <p:txBody>
            <a:bodyPr anchor="ctr" rtlCol="false" tIns="0" lIns="0" bIns="0" rIns="0"/>
            <a:lstStyle/>
            <a:p>
              <a:pPr algn="l">
                <a:lnSpc>
                  <a:spcPts val="3779"/>
                </a:lnSpc>
              </a:pPr>
              <a:r>
                <a:rPr lang="en-US" sz="3150">
                  <a:solidFill>
                    <a:srgbClr val="173B47"/>
                  </a:solidFill>
                  <a:latin typeface="Helvetica"/>
                  <a:ea typeface="Helvetica"/>
                  <a:cs typeface="Helvetica"/>
                  <a:sym typeface="Helvetica"/>
                </a:rPr>
                <a:t>Alcance claro desde</a:t>
              </a:r>
            </a:p>
            <a:p>
              <a:pPr algn="l">
                <a:lnSpc>
                  <a:spcPts val="3779"/>
                </a:lnSpc>
              </a:pPr>
              <a:r>
                <a:rPr lang="en-US" sz="3150">
                  <a:solidFill>
                    <a:srgbClr val="173B47"/>
                  </a:solidFill>
                  <a:latin typeface="Helvetica"/>
                  <a:ea typeface="Helvetica"/>
                  <a:cs typeface="Helvetica"/>
                  <a:sym typeface="Helvetica"/>
                </a:rPr>
                <a:t>la Fase 1</a:t>
              </a:r>
            </a:p>
          </p:txBody>
        </p:sp>
      </p:grpSp>
      <p:grpSp>
        <p:nvGrpSpPr>
          <p:cNvPr name="Group 37" id="37"/>
          <p:cNvGrpSpPr/>
          <p:nvPr/>
        </p:nvGrpSpPr>
        <p:grpSpPr>
          <a:xfrm rot="0">
            <a:off x="12501562" y="6586538"/>
            <a:ext cx="4857750" cy="1428750"/>
            <a:chOff x="0" y="0"/>
            <a:chExt cx="6477000" cy="1905000"/>
          </a:xfrm>
        </p:grpSpPr>
        <p:sp>
          <p:nvSpPr>
            <p:cNvPr name="Freeform 38" id="38"/>
            <p:cNvSpPr/>
            <p:nvPr/>
          </p:nvSpPr>
          <p:spPr>
            <a:xfrm flipH="false" flipV="false" rot="0">
              <a:off x="0" y="0"/>
              <a:ext cx="6477000" cy="1905000"/>
            </a:xfrm>
            <a:custGeom>
              <a:avLst/>
              <a:gdLst/>
              <a:ahLst/>
              <a:cxnLst/>
              <a:rect r="r" b="b" t="t" l="l"/>
              <a:pathLst>
                <a:path h="1905000" w="6477000">
                  <a:moveTo>
                    <a:pt x="0" y="0"/>
                  </a:moveTo>
                  <a:lnTo>
                    <a:pt x="6477000" y="0"/>
                  </a:lnTo>
                  <a:lnTo>
                    <a:pt x="6477000" y="1905000"/>
                  </a:lnTo>
                  <a:lnTo>
                    <a:pt x="0" y="1905000"/>
                  </a:lnTo>
                  <a:close/>
                </a:path>
              </a:pathLst>
            </a:custGeom>
            <a:blipFill>
              <a:blip r:embed="rId3">
                <a:alphaModFix amt="0"/>
              </a:blip>
              <a:stretch>
                <a:fillRect l="0" t="-16249" r="0" b="-16249"/>
              </a:stretch>
            </a:blipFill>
          </p:spPr>
        </p:sp>
        <p:sp>
          <p:nvSpPr>
            <p:cNvPr name="TextBox 39" id="39"/>
            <p:cNvSpPr txBox="true"/>
            <p:nvPr/>
          </p:nvSpPr>
          <p:spPr>
            <a:xfrm>
              <a:off x="0" y="-19050"/>
              <a:ext cx="6477000" cy="1924050"/>
            </a:xfrm>
            <a:prstGeom prst="rect">
              <a:avLst/>
            </a:prstGeom>
          </p:spPr>
          <p:txBody>
            <a:bodyPr anchor="ctr" rtlCol="false" tIns="0" lIns="0" bIns="0" rIns="0"/>
            <a:lstStyle/>
            <a:p>
              <a:pPr algn="l">
                <a:lnSpc>
                  <a:spcPts val="3510"/>
                </a:lnSpc>
              </a:pPr>
              <a:r>
                <a:rPr lang="en-US" sz="2925">
                  <a:solidFill>
                    <a:srgbClr val="173B47"/>
                  </a:solidFill>
                  <a:latin typeface="Helvetica"/>
                  <a:ea typeface="Helvetica"/>
                  <a:cs typeface="Helvetica"/>
                  <a:sym typeface="Helvetica"/>
                </a:rPr>
                <a:t>Desarrollo incremental</a:t>
              </a:r>
            </a:p>
            <a:p>
              <a:pPr algn="l">
                <a:lnSpc>
                  <a:spcPts val="3510"/>
                </a:lnSpc>
              </a:pPr>
              <a:r>
                <a:rPr lang="en-US" sz="2925">
                  <a:solidFill>
                    <a:srgbClr val="173B47"/>
                  </a:solidFill>
                  <a:latin typeface="Helvetica"/>
                  <a:ea typeface="Helvetica"/>
                  <a:cs typeface="Helvetica"/>
                  <a:sym typeface="Helvetica"/>
                </a:rPr>
                <a:t>guiado por especificaciones</a:t>
              </a:r>
            </a:p>
          </p:txBody>
        </p:sp>
      </p:grpSp>
      <p:grpSp>
        <p:nvGrpSpPr>
          <p:cNvPr name="Group 40" id="40"/>
          <p:cNvGrpSpPr/>
          <p:nvPr/>
        </p:nvGrpSpPr>
        <p:grpSpPr>
          <a:xfrm rot="0">
            <a:off x="914400" y="8686800"/>
            <a:ext cx="16430625" cy="571500"/>
            <a:chOff x="0" y="0"/>
            <a:chExt cx="21907500" cy="762000"/>
          </a:xfrm>
        </p:grpSpPr>
        <p:sp>
          <p:nvSpPr>
            <p:cNvPr name="Freeform 41" id="41"/>
            <p:cNvSpPr/>
            <p:nvPr/>
          </p:nvSpPr>
          <p:spPr>
            <a:xfrm flipH="false" flipV="false" rot="0">
              <a:off x="0" y="0"/>
              <a:ext cx="21907500" cy="762000"/>
            </a:xfrm>
            <a:custGeom>
              <a:avLst/>
              <a:gdLst/>
              <a:ahLst/>
              <a:cxnLst/>
              <a:rect r="r" b="b" t="t" l="l"/>
              <a:pathLst>
                <a:path h="762000" w="21907500">
                  <a:moveTo>
                    <a:pt x="0" y="0"/>
                  </a:moveTo>
                  <a:lnTo>
                    <a:pt x="21907500" y="0"/>
                  </a:lnTo>
                  <a:lnTo>
                    <a:pt x="21907500" y="762000"/>
                  </a:lnTo>
                  <a:lnTo>
                    <a:pt x="0" y="762000"/>
                  </a:lnTo>
                  <a:close/>
                </a:path>
              </a:pathLst>
            </a:custGeom>
            <a:blipFill>
              <a:blip r:embed="rId3">
                <a:alphaModFix amt="0"/>
              </a:blip>
              <a:stretch>
                <a:fillRect l="0" t="-510194" r="0" b="-510194"/>
              </a:stretch>
            </a:blipFill>
          </p:spPr>
        </p:sp>
        <p:sp>
          <p:nvSpPr>
            <p:cNvPr name="TextBox 42" id="42"/>
            <p:cNvSpPr txBox="true"/>
            <p:nvPr/>
          </p:nvSpPr>
          <p:spPr>
            <a:xfrm>
              <a:off x="0" y="-19050"/>
              <a:ext cx="21907500" cy="781050"/>
            </a:xfrm>
            <a:prstGeom prst="rect">
              <a:avLst/>
            </a:prstGeom>
          </p:spPr>
          <p:txBody>
            <a:bodyPr anchor="ctr" rtlCol="false" tIns="0" lIns="0" bIns="0" rIns="0"/>
            <a:lstStyle/>
            <a:p>
              <a:pPr algn="l">
                <a:lnSpc>
                  <a:spcPts val="3375"/>
                </a:lnSpc>
              </a:pPr>
              <a:r>
                <a:rPr lang="en-US" sz="2812" b="true">
                  <a:solidFill>
                    <a:srgbClr val="117B82"/>
                  </a:solidFill>
                  <a:latin typeface="Helvetica Bold"/>
                  <a:ea typeface="Helvetica Bold"/>
                  <a:cs typeface="Helvetica Bold"/>
                  <a:sym typeface="Helvetica Bold"/>
                </a:rPr>
                <a:t>Se mantienen los objetivos y la metodología. No se eliminan actividades.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CFEFD"/>
        </a:solidFill>
      </p:bgPr>
    </p:bg>
    <p:spTree>
      <p:nvGrpSpPr>
        <p:cNvPr id="1" name=""/>
        <p:cNvGrpSpPr/>
        <p:nvPr/>
      </p:nvGrpSpPr>
      <p:grpSpPr>
        <a:xfrm>
          <a:off x="0" y="0"/>
          <a:ext cx="0" cy="0"/>
          <a:chOff x="0" y="0"/>
          <a:chExt cx="0" cy="0"/>
        </a:xfrm>
      </p:grpSpPr>
      <p:grpSp>
        <p:nvGrpSpPr>
          <p:cNvPr name="Group 2" id="2"/>
          <p:cNvGrpSpPr/>
          <p:nvPr/>
        </p:nvGrpSpPr>
        <p:grpSpPr>
          <a:xfrm rot="0">
            <a:off x="914400" y="285750"/>
            <a:ext cx="3000375" cy="342900"/>
            <a:chOff x="0" y="0"/>
            <a:chExt cx="4000500" cy="457200"/>
          </a:xfrm>
        </p:grpSpPr>
        <p:sp>
          <p:nvSpPr>
            <p:cNvPr name="Freeform 3" id="3"/>
            <p:cNvSpPr/>
            <p:nvPr/>
          </p:nvSpPr>
          <p:spPr>
            <a:xfrm flipH="false" flipV="false" rot="0">
              <a:off x="0" y="0"/>
              <a:ext cx="4000500" cy="457200"/>
            </a:xfrm>
            <a:custGeom>
              <a:avLst/>
              <a:gdLst/>
              <a:ahLst/>
              <a:cxnLst/>
              <a:rect r="r" b="b" t="t" l="l"/>
              <a:pathLst>
                <a:path h="457200" w="4000500">
                  <a:moveTo>
                    <a:pt x="0" y="0"/>
                  </a:moveTo>
                  <a:lnTo>
                    <a:pt x="4000500" y="0"/>
                  </a:lnTo>
                  <a:lnTo>
                    <a:pt x="4000500" y="457200"/>
                  </a:lnTo>
                  <a:lnTo>
                    <a:pt x="0" y="457200"/>
                  </a:lnTo>
                  <a:close/>
                </a:path>
              </a:pathLst>
            </a:custGeom>
            <a:blipFill>
              <a:blip r:embed="rId3">
                <a:alphaModFix amt="0"/>
              </a:blip>
              <a:stretch>
                <a:fillRect l="0" t="-120494" r="0" b="-120494"/>
              </a:stretch>
            </a:blipFill>
          </p:spPr>
        </p:sp>
        <p:sp>
          <p:nvSpPr>
            <p:cNvPr name="TextBox 4" id="4"/>
            <p:cNvSpPr txBox="true"/>
            <p:nvPr/>
          </p:nvSpPr>
          <p:spPr>
            <a:xfrm>
              <a:off x="0" y="-19050"/>
              <a:ext cx="4000500" cy="476250"/>
            </a:xfrm>
            <a:prstGeom prst="rect">
              <a:avLst/>
            </a:prstGeom>
          </p:spPr>
          <p:txBody>
            <a:bodyPr anchor="ctr" rtlCol="false" tIns="0" lIns="0" bIns="0" rIns="0"/>
            <a:lstStyle/>
            <a:p>
              <a:pPr algn="l">
                <a:lnSpc>
                  <a:spcPts val="2295"/>
                </a:lnSpc>
              </a:pPr>
              <a:r>
                <a:rPr lang="en-US" sz="1912" b="true">
                  <a:solidFill>
                    <a:srgbClr val="117B82"/>
                  </a:solidFill>
                  <a:latin typeface="Helvetica Bold"/>
                  <a:ea typeface="Helvetica Bold"/>
                  <a:cs typeface="Helvetica Bold"/>
                  <a:sym typeface="Helvetica Bold"/>
                </a:rPr>
                <a:t>MEDLINK</a:t>
              </a:r>
            </a:p>
          </p:txBody>
        </p:sp>
      </p:grpSp>
      <p:grpSp>
        <p:nvGrpSpPr>
          <p:cNvPr name="Group 5" id="5"/>
          <p:cNvGrpSpPr/>
          <p:nvPr/>
        </p:nvGrpSpPr>
        <p:grpSpPr>
          <a:xfrm rot="0">
            <a:off x="914400" y="728662"/>
            <a:ext cx="16287750" cy="928688"/>
            <a:chOff x="0" y="0"/>
            <a:chExt cx="21717000" cy="1238250"/>
          </a:xfrm>
        </p:grpSpPr>
        <p:sp>
          <p:nvSpPr>
            <p:cNvPr name="Freeform 6" id="6"/>
            <p:cNvSpPr/>
            <p:nvPr/>
          </p:nvSpPr>
          <p:spPr>
            <a:xfrm flipH="false" flipV="false" rot="0">
              <a:off x="0" y="0"/>
              <a:ext cx="21717000" cy="1238250"/>
            </a:xfrm>
            <a:custGeom>
              <a:avLst/>
              <a:gdLst/>
              <a:ahLst/>
              <a:cxnLst/>
              <a:rect r="r" b="b" t="t" l="l"/>
              <a:pathLst>
                <a:path h="1238250" w="21717000">
                  <a:moveTo>
                    <a:pt x="0" y="0"/>
                  </a:moveTo>
                  <a:lnTo>
                    <a:pt x="21717000" y="0"/>
                  </a:lnTo>
                  <a:lnTo>
                    <a:pt x="21717000" y="1238250"/>
                  </a:lnTo>
                  <a:lnTo>
                    <a:pt x="0" y="1238250"/>
                  </a:lnTo>
                  <a:close/>
                </a:path>
              </a:pathLst>
            </a:custGeom>
            <a:blipFill>
              <a:blip r:embed="rId3">
                <a:alphaModFix amt="0"/>
              </a:blip>
              <a:stretch>
                <a:fillRect l="0" t="-291737" r="0" b="-291737"/>
              </a:stretch>
            </a:blipFill>
          </p:spPr>
        </p:sp>
        <p:sp>
          <p:nvSpPr>
            <p:cNvPr name="TextBox 7" id="7"/>
            <p:cNvSpPr txBox="true"/>
            <p:nvPr/>
          </p:nvSpPr>
          <p:spPr>
            <a:xfrm>
              <a:off x="0" y="-38100"/>
              <a:ext cx="21717000" cy="1276350"/>
            </a:xfrm>
            <a:prstGeom prst="rect">
              <a:avLst/>
            </a:prstGeom>
          </p:spPr>
          <p:txBody>
            <a:bodyPr anchor="ctr" rtlCol="false" tIns="0" lIns="0" bIns="0" rIns="0"/>
            <a:lstStyle/>
            <a:p>
              <a:pPr algn="l">
                <a:lnSpc>
                  <a:spcPts val="5670"/>
                </a:lnSpc>
              </a:pPr>
              <a:r>
                <a:rPr lang="en-US" sz="4725" b="true">
                  <a:solidFill>
                    <a:srgbClr val="173B47"/>
                  </a:solidFill>
                  <a:latin typeface="Helvetica Bold"/>
                  <a:ea typeface="Helvetica Bold"/>
                  <a:cs typeface="Helvetica Bold"/>
                  <a:sym typeface="Helvetica Bold"/>
                </a:rPr>
                <a:t>Monitoreo: avances completados</a:t>
              </a:r>
            </a:p>
          </p:txBody>
        </p:sp>
      </p:grpSp>
      <p:sp>
        <p:nvSpPr>
          <p:cNvPr name="AutoShape 8" id="8"/>
          <p:cNvSpPr/>
          <p:nvPr/>
        </p:nvSpPr>
        <p:spPr>
          <a:xfrm rot="4500">
            <a:off x="903675" y="1838325"/>
            <a:ext cx="16480650" cy="0"/>
          </a:xfrm>
          <a:prstGeom prst="line">
            <a:avLst/>
          </a:prstGeom>
          <a:ln cap="rnd" w="9525">
            <a:solidFill>
              <a:srgbClr val="D2E4E2"/>
            </a:solidFill>
            <a:prstDash val="solid"/>
            <a:headEnd type="none" len="sm" w="sm"/>
            <a:tailEnd type="none" len="sm" w="sm"/>
          </a:ln>
        </p:spPr>
      </p:sp>
      <p:grpSp>
        <p:nvGrpSpPr>
          <p:cNvPr name="Group 9" id="9"/>
          <p:cNvGrpSpPr/>
          <p:nvPr/>
        </p:nvGrpSpPr>
        <p:grpSpPr>
          <a:xfrm rot="0">
            <a:off x="16144875" y="9572625"/>
            <a:ext cx="1228725" cy="357188"/>
            <a:chOff x="0" y="0"/>
            <a:chExt cx="1638300" cy="476250"/>
          </a:xfrm>
        </p:grpSpPr>
        <p:sp>
          <p:nvSpPr>
            <p:cNvPr name="Freeform 10" id="10"/>
            <p:cNvSpPr/>
            <p:nvPr/>
          </p:nvSpPr>
          <p:spPr>
            <a:xfrm flipH="false" flipV="false" rot="0">
              <a:off x="0" y="0"/>
              <a:ext cx="1638300" cy="476250"/>
            </a:xfrm>
            <a:custGeom>
              <a:avLst/>
              <a:gdLst/>
              <a:ahLst/>
              <a:cxnLst/>
              <a:rect r="r" b="b" t="t" l="l"/>
              <a:pathLst>
                <a:path h="476250" w="1638300">
                  <a:moveTo>
                    <a:pt x="0" y="0"/>
                  </a:moveTo>
                  <a:lnTo>
                    <a:pt x="1638300" y="0"/>
                  </a:lnTo>
                  <a:lnTo>
                    <a:pt x="1638300" y="476250"/>
                  </a:lnTo>
                  <a:lnTo>
                    <a:pt x="0" y="476250"/>
                  </a:lnTo>
                  <a:close/>
                </a:path>
              </a:pathLst>
            </a:custGeom>
            <a:blipFill>
              <a:blip r:embed="rId3">
                <a:alphaModFix amt="0"/>
              </a:blip>
              <a:stretch>
                <a:fillRect l="0" t="-17028" r="0" b="-17028"/>
              </a:stretch>
            </a:blipFill>
          </p:spPr>
        </p:sp>
        <p:sp>
          <p:nvSpPr>
            <p:cNvPr name="TextBox 11" id="11"/>
            <p:cNvSpPr txBox="true"/>
            <p:nvPr/>
          </p:nvSpPr>
          <p:spPr>
            <a:xfrm>
              <a:off x="0" y="-19050"/>
              <a:ext cx="1638300" cy="495300"/>
            </a:xfrm>
            <a:prstGeom prst="rect">
              <a:avLst/>
            </a:prstGeom>
          </p:spPr>
          <p:txBody>
            <a:bodyPr anchor="ctr" rtlCol="false" tIns="0" lIns="0" bIns="0" rIns="0"/>
            <a:lstStyle/>
            <a:p>
              <a:pPr algn="l">
                <a:lnSpc>
                  <a:spcPts val="2430"/>
                </a:lnSpc>
              </a:pPr>
              <a:r>
                <a:rPr lang="en-US" sz="2025">
                  <a:solidFill>
                    <a:srgbClr val="59757B"/>
                  </a:solidFill>
                  <a:latin typeface="Helvetica"/>
                  <a:ea typeface="Helvetica"/>
                  <a:cs typeface="Helvetica"/>
                  <a:sym typeface="Helvetica"/>
                </a:rPr>
                <a:t>03 / 09</a:t>
              </a:r>
            </a:p>
          </p:txBody>
        </p:sp>
      </p:grpSp>
      <p:grpSp>
        <p:nvGrpSpPr>
          <p:cNvPr name="Group 12" id="12"/>
          <p:cNvGrpSpPr/>
          <p:nvPr/>
        </p:nvGrpSpPr>
        <p:grpSpPr>
          <a:xfrm rot="0">
            <a:off x="914400" y="2286000"/>
            <a:ext cx="16459200" cy="600075"/>
            <a:chOff x="0" y="0"/>
            <a:chExt cx="21945600" cy="800100"/>
          </a:xfrm>
        </p:grpSpPr>
        <p:sp>
          <p:nvSpPr>
            <p:cNvPr name="Freeform 13" id="13"/>
            <p:cNvSpPr/>
            <p:nvPr/>
          </p:nvSpPr>
          <p:spPr>
            <a:xfrm flipH="false" flipV="false" rot="0">
              <a:off x="0" y="0"/>
              <a:ext cx="21945600" cy="800100"/>
            </a:xfrm>
            <a:custGeom>
              <a:avLst/>
              <a:gdLst/>
              <a:ahLst/>
              <a:cxnLst/>
              <a:rect r="r" b="b" t="t" l="l"/>
              <a:pathLst>
                <a:path h="800100" w="21945600">
                  <a:moveTo>
                    <a:pt x="0" y="0"/>
                  </a:moveTo>
                  <a:lnTo>
                    <a:pt x="21945600" y="0"/>
                  </a:lnTo>
                  <a:lnTo>
                    <a:pt x="21945600" y="800100"/>
                  </a:lnTo>
                  <a:lnTo>
                    <a:pt x="0" y="800100"/>
                  </a:lnTo>
                  <a:close/>
                </a:path>
              </a:pathLst>
            </a:custGeom>
            <a:blipFill>
              <a:blip r:embed="rId3">
                <a:alphaModFix amt="0"/>
              </a:blip>
              <a:stretch>
                <a:fillRect l="0" t="-484446" r="0" b="-484446"/>
              </a:stretch>
            </a:blipFill>
          </p:spPr>
        </p:sp>
        <p:sp>
          <p:nvSpPr>
            <p:cNvPr name="TextBox 14" id="14"/>
            <p:cNvSpPr txBox="true"/>
            <p:nvPr/>
          </p:nvSpPr>
          <p:spPr>
            <a:xfrm>
              <a:off x="0" y="-28575"/>
              <a:ext cx="21945600" cy="828675"/>
            </a:xfrm>
            <a:prstGeom prst="rect">
              <a:avLst/>
            </a:prstGeom>
          </p:spPr>
          <p:txBody>
            <a:bodyPr anchor="ctr" rtlCol="false" tIns="0" lIns="0" bIns="0" rIns="0"/>
            <a:lstStyle/>
            <a:p>
              <a:pPr algn="l">
                <a:lnSpc>
                  <a:spcPts val="3644"/>
                </a:lnSpc>
              </a:pPr>
              <a:r>
                <a:rPr lang="en-US" sz="3037" b="true">
                  <a:solidFill>
                    <a:srgbClr val="117B82"/>
                  </a:solidFill>
                  <a:latin typeface="Helvetica Bold"/>
                  <a:ea typeface="Helvetica Bold"/>
                  <a:cs typeface="Helvetica Bold"/>
                  <a:sym typeface="Helvetica Bold"/>
                </a:rPr>
                <a:t>Trabajo realizado por los tres integrantes del equipo</a:t>
              </a:r>
            </a:p>
          </p:txBody>
        </p:sp>
      </p:grpSp>
      <p:graphicFrame>
        <p:nvGraphicFramePr>
          <p:cNvPr name="Table 15" id="15"/>
          <p:cNvGraphicFramePr>
            <a:graphicFrameLocks noGrp="true"/>
          </p:cNvGraphicFramePr>
          <p:nvPr/>
        </p:nvGraphicFramePr>
        <p:xfrm>
          <a:off x="914400" y="3257550"/>
          <a:ext cx="16440150" cy="4381500"/>
        </p:xfrm>
        <a:graphic>
          <a:graphicData uri="http://schemas.openxmlformats.org/drawingml/2006/table">
            <a:tbl>
              <a:tblPr/>
              <a:tblGrid>
                <a:gridCol w="4994837"/>
                <a:gridCol w="8134449"/>
                <a:gridCol w="3310864"/>
              </a:tblGrid>
              <a:tr h="876300">
                <a:tc>
                  <a:txBody>
                    <a:bodyPr anchor="t" rtlCol="false"/>
                    <a:lstStyle/>
                    <a:p>
                      <a:pPr algn="l">
                        <a:lnSpc>
                          <a:spcPts val="3104"/>
                        </a:lnSpc>
                        <a:defRPr/>
                      </a:pPr>
                      <a:r>
                        <a:rPr lang="en-US" sz="2587" b="true">
                          <a:solidFill>
                            <a:srgbClr val="FFFFFF"/>
                          </a:solidFill>
                          <a:latin typeface="Helvetica Bold"/>
                          <a:ea typeface="Helvetica Bold"/>
                          <a:cs typeface="Helvetica Bold"/>
                          <a:sym typeface="Helvetica Bold"/>
                        </a:rPr>
                        <a:t>Actividad</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17B82"/>
                    </a:solidFill>
                  </a:tcPr>
                </a:tc>
                <a:tc>
                  <a:txBody>
                    <a:bodyPr anchor="t" rtlCol="false"/>
                    <a:lstStyle/>
                    <a:p>
                      <a:pPr algn="l">
                        <a:lnSpc>
                          <a:spcPts val="3104"/>
                        </a:lnSpc>
                        <a:defRPr/>
                      </a:pPr>
                      <a:r>
                        <a:rPr lang="en-US" sz="2587" b="true">
                          <a:solidFill>
                            <a:srgbClr val="FFFFFF"/>
                          </a:solidFill>
                          <a:latin typeface="Helvetica Bold"/>
                          <a:ea typeface="Helvetica Bold"/>
                          <a:cs typeface="Helvetica Bold"/>
                          <a:sym typeface="Helvetica Bold"/>
                        </a:rPr>
                        <a:t>Resultado del avance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17B82"/>
                    </a:solidFill>
                  </a:tcPr>
                </a:tc>
                <a:tc>
                  <a:txBody>
                    <a:bodyPr anchor="t" rtlCol="false"/>
                    <a:lstStyle/>
                    <a:p>
                      <a:pPr algn="l">
                        <a:lnSpc>
                          <a:spcPts val="3104"/>
                        </a:lnSpc>
                        <a:defRPr/>
                      </a:pPr>
                      <a:r>
                        <a:rPr lang="en-US" sz="2587" b="true">
                          <a:solidFill>
                            <a:srgbClr val="FFFFFF"/>
                          </a:solidFill>
                          <a:latin typeface="Helvetica Bold"/>
                          <a:ea typeface="Helvetica Bold"/>
                          <a:cs typeface="Helvetica Bold"/>
                          <a:sym typeface="Helvetica Bold"/>
                        </a:rPr>
                        <a:t>Estado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17B82"/>
                    </a:solidFill>
                  </a:tcPr>
                </a:tc>
              </a:tr>
              <a:tr h="876300">
                <a:tc>
                  <a:txBody>
                    <a:bodyPr anchor="t" rtlCol="false"/>
                    <a:lstStyle/>
                    <a:p>
                      <a:pPr algn="l">
                        <a:lnSpc>
                          <a:spcPts val="3104"/>
                        </a:lnSpc>
                        <a:defRPr/>
                      </a:pPr>
                      <a:r>
                        <a:rPr lang="en-US" sz="2587">
                          <a:solidFill>
                            <a:srgbClr val="173B47"/>
                          </a:solidFill>
                          <a:latin typeface="Helvetica"/>
                          <a:ea typeface="Helvetica"/>
                          <a:cs typeface="Helvetica"/>
                          <a:sym typeface="Helvetica"/>
                        </a:rPr>
                        <a:t>Definición del proyecto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c>
                  <a:txBody>
                    <a:bodyPr anchor="t" rtlCol="false"/>
                    <a:lstStyle/>
                    <a:p>
                      <a:pPr algn="l">
                        <a:lnSpc>
                          <a:spcPts val="3104"/>
                        </a:lnSpc>
                        <a:defRPr/>
                      </a:pPr>
                      <a:r>
                        <a:rPr lang="en-US" sz="2587">
                          <a:solidFill>
                            <a:srgbClr val="173B47"/>
                          </a:solidFill>
                          <a:latin typeface="Helvetica"/>
                          <a:ea typeface="Helvetica"/>
                          <a:cs typeface="Helvetica"/>
                          <a:sym typeface="Helvetica"/>
                        </a:rPr>
                        <a:t>Problema, objetivos y alcance definidos.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c>
                  <a:txBody>
                    <a:bodyPr anchor="t" rtlCol="false"/>
                    <a:lstStyle/>
                    <a:p>
                      <a:pPr algn="l">
                        <a:lnSpc>
                          <a:spcPts val="3104"/>
                        </a:lnSpc>
                        <a:defRPr/>
                      </a:pPr>
                      <a:r>
                        <a:rPr lang="en-US" sz="2587">
                          <a:solidFill>
                            <a:srgbClr val="173B47"/>
                          </a:solidFill>
                          <a:latin typeface="Helvetica"/>
                          <a:ea typeface="Helvetica"/>
                          <a:cs typeface="Helvetica"/>
                          <a:sym typeface="Helvetica"/>
                        </a:rPr>
                        <a:t>Completado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r>
              <a:tr h="876300">
                <a:tc>
                  <a:txBody>
                    <a:bodyPr anchor="t" rtlCol="false"/>
                    <a:lstStyle/>
                    <a:p>
                      <a:pPr algn="l">
                        <a:lnSpc>
                          <a:spcPts val="3104"/>
                        </a:lnSpc>
                        <a:defRPr/>
                      </a:pPr>
                      <a:r>
                        <a:rPr lang="en-US" sz="2587">
                          <a:solidFill>
                            <a:srgbClr val="173B47"/>
                          </a:solidFill>
                          <a:latin typeface="Helvetica"/>
                          <a:ea typeface="Helvetica"/>
                          <a:cs typeface="Helvetica"/>
                          <a:sym typeface="Helvetica"/>
                        </a:rPr>
                        <a:t>Roles y stack tecnológico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104"/>
                        </a:lnSpc>
                        <a:defRPr/>
                      </a:pPr>
                      <a:r>
                        <a:rPr lang="en-US" sz="2587">
                          <a:solidFill>
                            <a:srgbClr val="173B47"/>
                          </a:solidFill>
                          <a:latin typeface="Helvetica"/>
                          <a:ea typeface="Helvetica"/>
                          <a:cs typeface="Helvetica"/>
                          <a:sym typeface="Helvetica"/>
                        </a:rPr>
                        <a:t>Roles acordados y tecnologías seleccionadas.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104"/>
                        </a:lnSpc>
                        <a:defRPr/>
                      </a:pPr>
                      <a:r>
                        <a:rPr lang="en-US" sz="2587">
                          <a:solidFill>
                            <a:srgbClr val="173B47"/>
                          </a:solidFill>
                          <a:latin typeface="Helvetica"/>
                          <a:ea typeface="Helvetica"/>
                          <a:cs typeface="Helvetica"/>
                          <a:sym typeface="Helvetica"/>
                        </a:rPr>
                        <a:t>Completado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76300">
                <a:tc>
                  <a:txBody>
                    <a:bodyPr anchor="t" rtlCol="false"/>
                    <a:lstStyle/>
                    <a:p>
                      <a:pPr algn="l">
                        <a:lnSpc>
                          <a:spcPts val="3104"/>
                        </a:lnSpc>
                        <a:defRPr/>
                      </a:pPr>
                      <a:r>
                        <a:rPr lang="en-US" sz="2587">
                          <a:solidFill>
                            <a:srgbClr val="173B47"/>
                          </a:solidFill>
                          <a:latin typeface="Helvetica"/>
                          <a:ea typeface="Helvetica"/>
                          <a:cs typeface="Helvetica"/>
                          <a:sym typeface="Helvetica"/>
                        </a:rPr>
                        <a:t>Arquitectura y entorno técnico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c>
                  <a:txBody>
                    <a:bodyPr anchor="t" rtlCol="false"/>
                    <a:lstStyle/>
                    <a:p>
                      <a:pPr algn="l">
                        <a:lnSpc>
                          <a:spcPts val="3104"/>
                        </a:lnSpc>
                        <a:defRPr/>
                      </a:pPr>
                      <a:r>
                        <a:rPr lang="en-US" sz="2587">
                          <a:solidFill>
                            <a:srgbClr val="173B47"/>
                          </a:solidFill>
                          <a:latin typeface="Helvetica"/>
                          <a:ea typeface="Helvetica"/>
                          <a:cs typeface="Helvetica"/>
                          <a:sym typeface="Helvetica"/>
                        </a:rPr>
                        <a:t>Diseño inicial de componentes y responsabilidades.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c>
                  <a:txBody>
                    <a:bodyPr anchor="t" rtlCol="false"/>
                    <a:lstStyle/>
                    <a:p>
                      <a:pPr algn="l">
                        <a:lnSpc>
                          <a:spcPts val="3104"/>
                        </a:lnSpc>
                        <a:defRPr/>
                      </a:pPr>
                      <a:r>
                        <a:rPr lang="en-US" sz="2587">
                          <a:solidFill>
                            <a:srgbClr val="173B47"/>
                          </a:solidFill>
                          <a:latin typeface="Helvetica"/>
                          <a:ea typeface="Helvetica"/>
                          <a:cs typeface="Helvetica"/>
                          <a:sym typeface="Helvetica"/>
                        </a:rPr>
                        <a:t>Completado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r>
              <a:tr h="876300">
                <a:tc>
                  <a:txBody>
                    <a:bodyPr anchor="t" rtlCol="false"/>
                    <a:lstStyle/>
                    <a:p>
                      <a:pPr algn="l">
                        <a:lnSpc>
                          <a:spcPts val="3104"/>
                        </a:lnSpc>
                        <a:defRPr/>
                      </a:pPr>
                      <a:r>
                        <a:rPr lang="en-US" sz="2587">
                          <a:solidFill>
                            <a:srgbClr val="173B47"/>
                          </a:solidFill>
                          <a:latin typeface="Helvetica"/>
                          <a:ea typeface="Helvetica"/>
                          <a:cs typeface="Helvetica"/>
                          <a:sym typeface="Helvetica"/>
                        </a:rPr>
                        <a:t>Modelo inicial de datos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104"/>
                        </a:lnSpc>
                        <a:defRPr/>
                      </a:pPr>
                      <a:r>
                        <a:rPr lang="en-US" sz="2587">
                          <a:solidFill>
                            <a:srgbClr val="173B47"/>
                          </a:solidFill>
                          <a:latin typeface="Helvetica"/>
                          <a:ea typeface="Helvetica"/>
                          <a:cs typeface="Helvetica"/>
                          <a:sym typeface="Helvetica"/>
                        </a:rPr>
                        <a:t>Entidades, relaciones y reglas documentadas.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104"/>
                        </a:lnSpc>
                        <a:defRPr/>
                      </a:pPr>
                      <a:r>
                        <a:rPr lang="en-US" sz="2587">
                          <a:solidFill>
                            <a:srgbClr val="173B47"/>
                          </a:solidFill>
                          <a:latin typeface="Helvetica"/>
                          <a:ea typeface="Helvetica"/>
                          <a:cs typeface="Helvetica"/>
                          <a:sym typeface="Helvetica"/>
                        </a:rPr>
                        <a:t>Completado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16" id="16"/>
          <p:cNvGrpSpPr/>
          <p:nvPr/>
        </p:nvGrpSpPr>
        <p:grpSpPr>
          <a:xfrm rot="0">
            <a:off x="914400" y="8115300"/>
            <a:ext cx="16459200" cy="514350"/>
            <a:chOff x="0" y="0"/>
            <a:chExt cx="21945600" cy="685800"/>
          </a:xfrm>
        </p:grpSpPr>
        <p:sp>
          <p:nvSpPr>
            <p:cNvPr name="Freeform 17" id="17"/>
            <p:cNvSpPr/>
            <p:nvPr/>
          </p:nvSpPr>
          <p:spPr>
            <a:xfrm flipH="false" flipV="false" rot="0">
              <a:off x="0" y="0"/>
              <a:ext cx="21945600" cy="685800"/>
            </a:xfrm>
            <a:custGeom>
              <a:avLst/>
              <a:gdLst/>
              <a:ahLst/>
              <a:cxnLst/>
              <a:rect r="r" b="b" t="t" l="l"/>
              <a:pathLst>
                <a:path h="685800" w="21945600">
                  <a:moveTo>
                    <a:pt x="0" y="0"/>
                  </a:moveTo>
                  <a:lnTo>
                    <a:pt x="21945600" y="0"/>
                  </a:lnTo>
                  <a:lnTo>
                    <a:pt x="21945600" y="685800"/>
                  </a:lnTo>
                  <a:lnTo>
                    <a:pt x="0" y="685800"/>
                  </a:lnTo>
                  <a:close/>
                </a:path>
              </a:pathLst>
            </a:custGeom>
            <a:blipFill>
              <a:blip r:embed="rId3">
                <a:alphaModFix amt="0"/>
              </a:blip>
              <a:stretch>
                <a:fillRect l="0" t="-573521" r="0" b="-573521"/>
              </a:stretch>
            </a:blipFill>
          </p:spPr>
        </p:sp>
        <p:sp>
          <p:nvSpPr>
            <p:cNvPr name="TextBox 18" id="18"/>
            <p:cNvSpPr txBox="true"/>
            <p:nvPr/>
          </p:nvSpPr>
          <p:spPr>
            <a:xfrm>
              <a:off x="0" y="-19050"/>
              <a:ext cx="21945600" cy="704850"/>
            </a:xfrm>
            <a:prstGeom prst="rect">
              <a:avLst/>
            </a:prstGeom>
          </p:spPr>
          <p:txBody>
            <a:bodyPr anchor="ctr" rtlCol="false" tIns="0" lIns="0" bIns="0" rIns="0"/>
            <a:lstStyle/>
            <a:p>
              <a:pPr algn="l">
                <a:lnSpc>
                  <a:spcPts val="3375"/>
                </a:lnSpc>
              </a:pPr>
              <a:r>
                <a:rPr lang="en-US" sz="2812" b="true">
                  <a:solidFill>
                    <a:srgbClr val="117B82"/>
                  </a:solidFill>
                  <a:latin typeface="Helvetica Bold"/>
                  <a:ea typeface="Helvetica Bold"/>
                  <a:cs typeface="Helvetica Bold"/>
                  <a:sym typeface="Helvetica Bold"/>
                </a:rPr>
                <a:t>Gantt reajustada: cierre del proyecto en la semana 16.</a:t>
              </a:r>
            </a:p>
          </p:txBody>
        </p:sp>
      </p:grpSp>
      <p:grpSp>
        <p:nvGrpSpPr>
          <p:cNvPr name="Group 19" id="19"/>
          <p:cNvGrpSpPr/>
          <p:nvPr/>
        </p:nvGrpSpPr>
        <p:grpSpPr>
          <a:xfrm rot="0">
            <a:off x="914400" y="8786812"/>
            <a:ext cx="16459200" cy="514350"/>
            <a:chOff x="0" y="0"/>
            <a:chExt cx="21945600" cy="685800"/>
          </a:xfrm>
        </p:grpSpPr>
        <p:sp>
          <p:nvSpPr>
            <p:cNvPr name="Freeform 20" id="20"/>
            <p:cNvSpPr/>
            <p:nvPr/>
          </p:nvSpPr>
          <p:spPr>
            <a:xfrm flipH="false" flipV="false" rot="0">
              <a:off x="0" y="0"/>
              <a:ext cx="21945600" cy="685800"/>
            </a:xfrm>
            <a:custGeom>
              <a:avLst/>
              <a:gdLst/>
              <a:ahLst/>
              <a:cxnLst/>
              <a:rect r="r" b="b" t="t" l="l"/>
              <a:pathLst>
                <a:path h="685800" w="21945600">
                  <a:moveTo>
                    <a:pt x="0" y="0"/>
                  </a:moveTo>
                  <a:lnTo>
                    <a:pt x="21945600" y="0"/>
                  </a:lnTo>
                  <a:lnTo>
                    <a:pt x="21945600" y="685800"/>
                  </a:lnTo>
                  <a:lnTo>
                    <a:pt x="0" y="685800"/>
                  </a:lnTo>
                  <a:close/>
                </a:path>
              </a:pathLst>
            </a:custGeom>
            <a:blipFill>
              <a:blip r:embed="rId3">
                <a:alphaModFix amt="0"/>
              </a:blip>
              <a:stretch>
                <a:fillRect l="0" t="-573521" r="0" b="-573521"/>
              </a:stretch>
            </a:blipFill>
          </p:spPr>
        </p:sp>
        <p:sp>
          <p:nvSpPr>
            <p:cNvPr name="TextBox 21" id="21"/>
            <p:cNvSpPr txBox="true"/>
            <p:nvPr/>
          </p:nvSpPr>
          <p:spPr>
            <a:xfrm>
              <a:off x="0" y="-19050"/>
              <a:ext cx="21945600" cy="704850"/>
            </a:xfrm>
            <a:prstGeom prst="rect">
              <a:avLst/>
            </a:prstGeom>
          </p:spPr>
          <p:txBody>
            <a:bodyPr anchor="ctr" rtlCol="false" tIns="0" lIns="0" bIns="0" rIns="0"/>
            <a:lstStyle/>
            <a:p>
              <a:pPr algn="l">
                <a:lnSpc>
                  <a:spcPts val="3375"/>
                </a:lnSpc>
              </a:pPr>
              <a:r>
                <a:rPr lang="en-US" sz="2812">
                  <a:solidFill>
                    <a:srgbClr val="173B47"/>
                  </a:solidFill>
                  <a:latin typeface="Helvetica"/>
                  <a:ea typeface="Helvetica"/>
                  <a:cs typeface="Helvetica"/>
                  <a:sym typeface="Helvetica"/>
                </a:rPr>
                <a:t>Mockups: primera versión rehecha y entregada. Diseño en curso.</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CFEFD"/>
        </a:solidFill>
      </p:bgPr>
    </p:bg>
    <p:spTree>
      <p:nvGrpSpPr>
        <p:cNvPr id="1" name=""/>
        <p:cNvGrpSpPr/>
        <p:nvPr/>
      </p:nvGrpSpPr>
      <p:grpSpPr>
        <a:xfrm>
          <a:off x="0" y="0"/>
          <a:ext cx="0" cy="0"/>
          <a:chOff x="0" y="0"/>
          <a:chExt cx="0" cy="0"/>
        </a:xfrm>
      </p:grpSpPr>
      <p:grpSp>
        <p:nvGrpSpPr>
          <p:cNvPr name="Group 2" id="2"/>
          <p:cNvGrpSpPr/>
          <p:nvPr/>
        </p:nvGrpSpPr>
        <p:grpSpPr>
          <a:xfrm rot="0">
            <a:off x="914400" y="285750"/>
            <a:ext cx="3000375" cy="342900"/>
            <a:chOff x="0" y="0"/>
            <a:chExt cx="4000500" cy="457200"/>
          </a:xfrm>
        </p:grpSpPr>
        <p:sp>
          <p:nvSpPr>
            <p:cNvPr name="Freeform 3" id="3"/>
            <p:cNvSpPr/>
            <p:nvPr/>
          </p:nvSpPr>
          <p:spPr>
            <a:xfrm flipH="false" flipV="false" rot="0">
              <a:off x="0" y="0"/>
              <a:ext cx="4000500" cy="457200"/>
            </a:xfrm>
            <a:custGeom>
              <a:avLst/>
              <a:gdLst/>
              <a:ahLst/>
              <a:cxnLst/>
              <a:rect r="r" b="b" t="t" l="l"/>
              <a:pathLst>
                <a:path h="457200" w="4000500">
                  <a:moveTo>
                    <a:pt x="0" y="0"/>
                  </a:moveTo>
                  <a:lnTo>
                    <a:pt x="4000500" y="0"/>
                  </a:lnTo>
                  <a:lnTo>
                    <a:pt x="4000500" y="457200"/>
                  </a:lnTo>
                  <a:lnTo>
                    <a:pt x="0" y="457200"/>
                  </a:lnTo>
                  <a:close/>
                </a:path>
              </a:pathLst>
            </a:custGeom>
            <a:blipFill>
              <a:blip r:embed="rId3">
                <a:alphaModFix amt="0"/>
              </a:blip>
              <a:stretch>
                <a:fillRect l="0" t="-120494" r="0" b="-120494"/>
              </a:stretch>
            </a:blipFill>
          </p:spPr>
        </p:sp>
        <p:sp>
          <p:nvSpPr>
            <p:cNvPr name="TextBox 4" id="4"/>
            <p:cNvSpPr txBox="true"/>
            <p:nvPr/>
          </p:nvSpPr>
          <p:spPr>
            <a:xfrm>
              <a:off x="0" y="-19050"/>
              <a:ext cx="4000500" cy="476250"/>
            </a:xfrm>
            <a:prstGeom prst="rect">
              <a:avLst/>
            </a:prstGeom>
          </p:spPr>
          <p:txBody>
            <a:bodyPr anchor="ctr" rtlCol="false" tIns="0" lIns="0" bIns="0" rIns="0"/>
            <a:lstStyle/>
            <a:p>
              <a:pPr algn="l">
                <a:lnSpc>
                  <a:spcPts val="2295"/>
                </a:lnSpc>
              </a:pPr>
              <a:r>
                <a:rPr lang="en-US" sz="1912" b="true">
                  <a:solidFill>
                    <a:srgbClr val="117B82"/>
                  </a:solidFill>
                  <a:latin typeface="Helvetica Bold"/>
                  <a:ea typeface="Helvetica Bold"/>
                  <a:cs typeface="Helvetica Bold"/>
                  <a:sym typeface="Helvetica Bold"/>
                </a:rPr>
                <a:t>MEDLINK</a:t>
              </a:r>
            </a:p>
          </p:txBody>
        </p:sp>
      </p:grpSp>
      <p:grpSp>
        <p:nvGrpSpPr>
          <p:cNvPr name="Group 5" id="5"/>
          <p:cNvGrpSpPr/>
          <p:nvPr/>
        </p:nvGrpSpPr>
        <p:grpSpPr>
          <a:xfrm rot="0">
            <a:off x="914400" y="728662"/>
            <a:ext cx="16287750" cy="928688"/>
            <a:chOff x="0" y="0"/>
            <a:chExt cx="21717000" cy="1238250"/>
          </a:xfrm>
        </p:grpSpPr>
        <p:sp>
          <p:nvSpPr>
            <p:cNvPr name="Freeform 6" id="6"/>
            <p:cNvSpPr/>
            <p:nvPr/>
          </p:nvSpPr>
          <p:spPr>
            <a:xfrm flipH="false" flipV="false" rot="0">
              <a:off x="0" y="0"/>
              <a:ext cx="21717000" cy="1238250"/>
            </a:xfrm>
            <a:custGeom>
              <a:avLst/>
              <a:gdLst/>
              <a:ahLst/>
              <a:cxnLst/>
              <a:rect r="r" b="b" t="t" l="l"/>
              <a:pathLst>
                <a:path h="1238250" w="21717000">
                  <a:moveTo>
                    <a:pt x="0" y="0"/>
                  </a:moveTo>
                  <a:lnTo>
                    <a:pt x="21717000" y="0"/>
                  </a:lnTo>
                  <a:lnTo>
                    <a:pt x="21717000" y="1238250"/>
                  </a:lnTo>
                  <a:lnTo>
                    <a:pt x="0" y="1238250"/>
                  </a:lnTo>
                  <a:close/>
                </a:path>
              </a:pathLst>
            </a:custGeom>
            <a:blipFill>
              <a:blip r:embed="rId3">
                <a:alphaModFix amt="0"/>
              </a:blip>
              <a:stretch>
                <a:fillRect l="0" t="-291737" r="0" b="-291737"/>
              </a:stretch>
            </a:blipFill>
          </p:spPr>
        </p:sp>
        <p:sp>
          <p:nvSpPr>
            <p:cNvPr name="TextBox 7" id="7"/>
            <p:cNvSpPr txBox="true"/>
            <p:nvPr/>
          </p:nvSpPr>
          <p:spPr>
            <a:xfrm>
              <a:off x="0" y="-38100"/>
              <a:ext cx="21717000" cy="1276350"/>
            </a:xfrm>
            <a:prstGeom prst="rect">
              <a:avLst/>
            </a:prstGeom>
          </p:spPr>
          <p:txBody>
            <a:bodyPr anchor="ctr" rtlCol="false" tIns="0" lIns="0" bIns="0" rIns="0"/>
            <a:lstStyle/>
            <a:p>
              <a:pPr algn="l">
                <a:lnSpc>
                  <a:spcPts val="5670"/>
                </a:lnSpc>
              </a:pPr>
              <a:r>
                <a:rPr lang="en-US" sz="4725" b="true">
                  <a:solidFill>
                    <a:srgbClr val="173B47"/>
                  </a:solidFill>
                  <a:latin typeface="Helvetica Bold"/>
                  <a:ea typeface="Helvetica Bold"/>
                  <a:cs typeface="Helvetica Bold"/>
                  <a:sym typeface="Helvetica Bold"/>
                </a:rPr>
                <a:t>Monitoreo: actividades programadas</a:t>
              </a:r>
            </a:p>
          </p:txBody>
        </p:sp>
      </p:grpSp>
      <p:sp>
        <p:nvSpPr>
          <p:cNvPr name="AutoShape 8" id="8"/>
          <p:cNvSpPr/>
          <p:nvPr/>
        </p:nvSpPr>
        <p:spPr>
          <a:xfrm rot="4500">
            <a:off x="903675" y="1838325"/>
            <a:ext cx="16480650" cy="0"/>
          </a:xfrm>
          <a:prstGeom prst="line">
            <a:avLst/>
          </a:prstGeom>
          <a:ln cap="rnd" w="9525">
            <a:solidFill>
              <a:srgbClr val="D2E4E2"/>
            </a:solidFill>
            <a:prstDash val="solid"/>
            <a:headEnd type="none" len="sm" w="sm"/>
            <a:tailEnd type="none" len="sm" w="sm"/>
          </a:ln>
        </p:spPr>
      </p:sp>
      <p:grpSp>
        <p:nvGrpSpPr>
          <p:cNvPr name="Group 9" id="9"/>
          <p:cNvGrpSpPr/>
          <p:nvPr/>
        </p:nvGrpSpPr>
        <p:grpSpPr>
          <a:xfrm rot="0">
            <a:off x="16144875" y="9572625"/>
            <a:ext cx="1228725" cy="357188"/>
            <a:chOff x="0" y="0"/>
            <a:chExt cx="1638300" cy="476250"/>
          </a:xfrm>
        </p:grpSpPr>
        <p:sp>
          <p:nvSpPr>
            <p:cNvPr name="Freeform 10" id="10"/>
            <p:cNvSpPr/>
            <p:nvPr/>
          </p:nvSpPr>
          <p:spPr>
            <a:xfrm flipH="false" flipV="false" rot="0">
              <a:off x="0" y="0"/>
              <a:ext cx="1638300" cy="476250"/>
            </a:xfrm>
            <a:custGeom>
              <a:avLst/>
              <a:gdLst/>
              <a:ahLst/>
              <a:cxnLst/>
              <a:rect r="r" b="b" t="t" l="l"/>
              <a:pathLst>
                <a:path h="476250" w="1638300">
                  <a:moveTo>
                    <a:pt x="0" y="0"/>
                  </a:moveTo>
                  <a:lnTo>
                    <a:pt x="1638300" y="0"/>
                  </a:lnTo>
                  <a:lnTo>
                    <a:pt x="1638300" y="476250"/>
                  </a:lnTo>
                  <a:lnTo>
                    <a:pt x="0" y="476250"/>
                  </a:lnTo>
                  <a:close/>
                </a:path>
              </a:pathLst>
            </a:custGeom>
            <a:blipFill>
              <a:blip r:embed="rId3">
                <a:alphaModFix amt="0"/>
              </a:blip>
              <a:stretch>
                <a:fillRect l="0" t="-17028" r="0" b="-17028"/>
              </a:stretch>
            </a:blipFill>
          </p:spPr>
        </p:sp>
        <p:sp>
          <p:nvSpPr>
            <p:cNvPr name="TextBox 11" id="11"/>
            <p:cNvSpPr txBox="true"/>
            <p:nvPr/>
          </p:nvSpPr>
          <p:spPr>
            <a:xfrm>
              <a:off x="0" y="-19050"/>
              <a:ext cx="1638300" cy="495300"/>
            </a:xfrm>
            <a:prstGeom prst="rect">
              <a:avLst/>
            </a:prstGeom>
          </p:spPr>
          <p:txBody>
            <a:bodyPr anchor="ctr" rtlCol="false" tIns="0" lIns="0" bIns="0" rIns="0"/>
            <a:lstStyle/>
            <a:p>
              <a:pPr algn="l">
                <a:lnSpc>
                  <a:spcPts val="2430"/>
                </a:lnSpc>
              </a:pPr>
              <a:r>
                <a:rPr lang="en-US" sz="2025">
                  <a:solidFill>
                    <a:srgbClr val="59757B"/>
                  </a:solidFill>
                  <a:latin typeface="Helvetica"/>
                  <a:ea typeface="Helvetica"/>
                  <a:cs typeface="Helvetica"/>
                  <a:sym typeface="Helvetica"/>
                </a:rPr>
                <a:t>04 / 09</a:t>
              </a:r>
            </a:p>
          </p:txBody>
        </p:sp>
      </p:grpSp>
      <p:grpSp>
        <p:nvGrpSpPr>
          <p:cNvPr name="Group 12" id="12"/>
          <p:cNvGrpSpPr/>
          <p:nvPr/>
        </p:nvGrpSpPr>
        <p:grpSpPr>
          <a:xfrm rot="0">
            <a:off x="914400" y="2257425"/>
            <a:ext cx="16430625" cy="642938"/>
            <a:chOff x="0" y="0"/>
            <a:chExt cx="21907500" cy="857250"/>
          </a:xfrm>
        </p:grpSpPr>
        <p:sp>
          <p:nvSpPr>
            <p:cNvPr name="Freeform 13" id="13"/>
            <p:cNvSpPr/>
            <p:nvPr/>
          </p:nvSpPr>
          <p:spPr>
            <a:xfrm flipH="false" flipV="false" rot="0">
              <a:off x="0" y="0"/>
              <a:ext cx="21907500" cy="857250"/>
            </a:xfrm>
            <a:custGeom>
              <a:avLst/>
              <a:gdLst/>
              <a:ahLst/>
              <a:cxnLst/>
              <a:rect r="r" b="b" t="t" l="l"/>
              <a:pathLst>
                <a:path h="857250" w="21907500">
                  <a:moveTo>
                    <a:pt x="0" y="0"/>
                  </a:moveTo>
                  <a:lnTo>
                    <a:pt x="21907500" y="0"/>
                  </a:lnTo>
                  <a:lnTo>
                    <a:pt x="21907500" y="857250"/>
                  </a:lnTo>
                  <a:lnTo>
                    <a:pt x="0" y="857250"/>
                  </a:lnTo>
                  <a:close/>
                </a:path>
              </a:pathLst>
            </a:custGeom>
            <a:blipFill>
              <a:blip r:embed="rId3">
                <a:alphaModFix amt="0"/>
              </a:blip>
              <a:stretch>
                <a:fillRect l="0" t="-447950" r="0" b="-447950"/>
              </a:stretch>
            </a:blipFill>
          </p:spPr>
        </p:sp>
        <p:sp>
          <p:nvSpPr>
            <p:cNvPr name="TextBox 14" id="14"/>
            <p:cNvSpPr txBox="true"/>
            <p:nvPr/>
          </p:nvSpPr>
          <p:spPr>
            <a:xfrm>
              <a:off x="0" y="-19050"/>
              <a:ext cx="21907500" cy="876300"/>
            </a:xfrm>
            <a:prstGeom prst="rect">
              <a:avLst/>
            </a:prstGeom>
          </p:spPr>
          <p:txBody>
            <a:bodyPr anchor="ctr" rtlCol="false" tIns="0" lIns="0" bIns="0" rIns="0"/>
            <a:lstStyle/>
            <a:p>
              <a:pPr algn="l">
                <a:lnSpc>
                  <a:spcPts val="3375"/>
                </a:lnSpc>
              </a:pPr>
              <a:r>
                <a:rPr lang="en-US" sz="2812">
                  <a:solidFill>
                    <a:srgbClr val="173B47"/>
                  </a:solidFill>
                  <a:latin typeface="Helvetica"/>
                  <a:ea typeface="Helvetica"/>
                  <a:cs typeface="Helvetica"/>
                  <a:sym typeface="Helvetica"/>
                </a:rPr>
                <a:t>Desarrollo y pruebas aún no iniciados, dentro del plan reajustado</a:t>
              </a:r>
            </a:p>
          </p:txBody>
        </p:sp>
      </p:grpSp>
      <p:grpSp>
        <p:nvGrpSpPr>
          <p:cNvPr name="Group 15" id="15"/>
          <p:cNvGrpSpPr/>
          <p:nvPr/>
        </p:nvGrpSpPr>
        <p:grpSpPr>
          <a:xfrm rot="0">
            <a:off x="914400" y="3028950"/>
            <a:ext cx="16430625" cy="600075"/>
            <a:chOff x="0" y="0"/>
            <a:chExt cx="21907500" cy="800100"/>
          </a:xfrm>
        </p:grpSpPr>
        <p:sp>
          <p:nvSpPr>
            <p:cNvPr name="Freeform 16" id="16"/>
            <p:cNvSpPr/>
            <p:nvPr/>
          </p:nvSpPr>
          <p:spPr>
            <a:xfrm flipH="false" flipV="false" rot="0">
              <a:off x="0" y="0"/>
              <a:ext cx="21907500" cy="800100"/>
            </a:xfrm>
            <a:custGeom>
              <a:avLst/>
              <a:gdLst/>
              <a:ahLst/>
              <a:cxnLst/>
              <a:rect r="r" b="b" t="t" l="l"/>
              <a:pathLst>
                <a:path h="800100" w="21907500">
                  <a:moveTo>
                    <a:pt x="0" y="0"/>
                  </a:moveTo>
                  <a:lnTo>
                    <a:pt x="21907500" y="0"/>
                  </a:lnTo>
                  <a:lnTo>
                    <a:pt x="21907500" y="800100"/>
                  </a:lnTo>
                  <a:lnTo>
                    <a:pt x="0" y="800100"/>
                  </a:lnTo>
                  <a:close/>
                </a:path>
              </a:pathLst>
            </a:custGeom>
            <a:blipFill>
              <a:blip r:embed="rId3">
                <a:alphaModFix amt="0"/>
              </a:blip>
              <a:stretch>
                <a:fillRect l="0" t="-483518" r="0" b="-483518"/>
              </a:stretch>
            </a:blipFill>
          </p:spPr>
        </p:sp>
        <p:sp>
          <p:nvSpPr>
            <p:cNvPr name="TextBox 17" id="17"/>
            <p:cNvSpPr txBox="true"/>
            <p:nvPr/>
          </p:nvSpPr>
          <p:spPr>
            <a:xfrm>
              <a:off x="0" y="-19050"/>
              <a:ext cx="21907500" cy="819150"/>
            </a:xfrm>
            <a:prstGeom prst="rect">
              <a:avLst/>
            </a:prstGeom>
          </p:spPr>
          <p:txBody>
            <a:bodyPr anchor="ctr" rtlCol="false" tIns="0" lIns="0" bIns="0" rIns="0"/>
            <a:lstStyle/>
            <a:p>
              <a:pPr algn="l">
                <a:lnSpc>
                  <a:spcPts val="3375"/>
                </a:lnSpc>
              </a:pPr>
              <a:r>
                <a:rPr lang="en-US" sz="2812">
                  <a:solidFill>
                    <a:srgbClr val="173B47"/>
                  </a:solidFill>
                  <a:latin typeface="Helvetica"/>
                  <a:ea typeface="Helvetica"/>
                  <a:cs typeface="Helvetica"/>
                  <a:sym typeface="Helvetica"/>
                </a:rPr>
                <a:t>La documentación avanza durante el proyecto y el cierre ocupa 2 semanas.</a:t>
              </a:r>
            </a:p>
          </p:txBody>
        </p:sp>
      </p:grpSp>
      <p:graphicFrame>
        <p:nvGraphicFramePr>
          <p:cNvPr name="Table 18" id="18"/>
          <p:cNvGraphicFramePr>
            <a:graphicFrameLocks noGrp="true"/>
          </p:cNvGraphicFramePr>
          <p:nvPr/>
        </p:nvGraphicFramePr>
        <p:xfrm>
          <a:off x="914400" y="4071938"/>
          <a:ext cx="16421100" cy="4000500"/>
        </p:xfrm>
        <a:graphic>
          <a:graphicData uri="http://schemas.openxmlformats.org/drawingml/2006/table">
            <a:tbl>
              <a:tblPr/>
              <a:tblGrid>
                <a:gridCol w="5487954"/>
                <a:gridCol w="2351980"/>
                <a:gridCol w="4133784"/>
                <a:gridCol w="4447381"/>
              </a:tblGrid>
              <a:tr h="800100">
                <a:tc>
                  <a:txBody>
                    <a:bodyPr anchor="t" rtlCol="false"/>
                    <a:lstStyle/>
                    <a:p>
                      <a:pPr algn="l">
                        <a:lnSpc>
                          <a:spcPts val="3240"/>
                        </a:lnSpc>
                        <a:defRPr/>
                      </a:pPr>
                      <a:r>
                        <a:rPr lang="en-US" sz="2700" b="true">
                          <a:solidFill>
                            <a:srgbClr val="FFFFFF"/>
                          </a:solidFill>
                          <a:latin typeface="Helvetica Bold"/>
                          <a:ea typeface="Helvetica Bold"/>
                          <a:cs typeface="Helvetica Bold"/>
                          <a:sym typeface="Helvetica Bold"/>
                        </a:rPr>
                        <a:t>Actividad</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17B82"/>
                    </a:solidFill>
                  </a:tcPr>
                </a:tc>
                <a:tc>
                  <a:txBody>
                    <a:bodyPr anchor="t" rtlCol="false"/>
                    <a:lstStyle/>
                    <a:p>
                      <a:pPr algn="l">
                        <a:lnSpc>
                          <a:spcPts val="3240"/>
                        </a:lnSpc>
                        <a:defRPr/>
                      </a:pPr>
                      <a:r>
                        <a:rPr lang="en-US" sz="2700" b="true">
                          <a:solidFill>
                            <a:srgbClr val="FFFFFF"/>
                          </a:solidFill>
                          <a:latin typeface="Helvetica Bold"/>
                          <a:ea typeface="Helvetica Bold"/>
                          <a:cs typeface="Helvetica Bold"/>
                          <a:sym typeface="Helvetica Bold"/>
                        </a:rPr>
                        <a:t>Semanas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17B82"/>
                    </a:solidFill>
                  </a:tcPr>
                </a:tc>
                <a:tc>
                  <a:txBody>
                    <a:bodyPr anchor="t" rtlCol="false"/>
                    <a:lstStyle/>
                    <a:p>
                      <a:pPr algn="l">
                        <a:lnSpc>
                          <a:spcPts val="3240"/>
                        </a:lnSpc>
                        <a:defRPr/>
                      </a:pPr>
                      <a:r>
                        <a:rPr lang="en-US" sz="2700" b="true">
                          <a:solidFill>
                            <a:srgbClr val="FFFFFF"/>
                          </a:solidFill>
                          <a:latin typeface="Helvetica Bold"/>
                          <a:ea typeface="Helvetica Bold"/>
                          <a:cs typeface="Helvetica Bold"/>
                          <a:sym typeface="Helvetica Bold"/>
                        </a:rPr>
                        <a:t>Responsables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17B82"/>
                    </a:solidFill>
                  </a:tcPr>
                </a:tc>
                <a:tc>
                  <a:txBody>
                    <a:bodyPr anchor="t" rtlCol="false"/>
                    <a:lstStyle/>
                    <a:p>
                      <a:pPr algn="l">
                        <a:lnSpc>
                          <a:spcPts val="3240"/>
                        </a:lnSpc>
                        <a:defRPr/>
                      </a:pPr>
                      <a:r>
                        <a:rPr lang="en-US" sz="2700" b="true">
                          <a:solidFill>
                            <a:srgbClr val="FFFFFF"/>
                          </a:solidFill>
                          <a:latin typeface="Helvetica Bold"/>
                          <a:ea typeface="Helvetica Bold"/>
                          <a:cs typeface="Helvetica Bold"/>
                          <a:sym typeface="Helvetica Bold"/>
                        </a:rPr>
                        <a:t>Estado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17B82"/>
                    </a:solidFill>
                  </a:tcPr>
                </a:tc>
              </a:tr>
              <a:tr h="800100">
                <a:tc>
                  <a:txBody>
                    <a:bodyPr anchor="t" rtlCol="false"/>
                    <a:lstStyle/>
                    <a:p>
                      <a:pPr algn="l">
                        <a:lnSpc>
                          <a:spcPts val="3240"/>
                        </a:lnSpc>
                        <a:defRPr/>
                      </a:pPr>
                      <a:r>
                        <a:rPr lang="en-US" sz="2700">
                          <a:solidFill>
                            <a:srgbClr val="173B47"/>
                          </a:solidFill>
                          <a:latin typeface="Helvetica"/>
                          <a:ea typeface="Helvetica"/>
                          <a:cs typeface="Helvetica"/>
                          <a:sym typeface="Helvetica"/>
                        </a:rPr>
                        <a:t>Backend y extracción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8 a 13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Nicolás y Felipe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No iniciado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r>
              <a:tr h="800100">
                <a:tc>
                  <a:txBody>
                    <a:bodyPr anchor="t" rtlCol="false"/>
                    <a:lstStyle/>
                    <a:p>
                      <a:pPr algn="l">
                        <a:lnSpc>
                          <a:spcPts val="3240"/>
                        </a:lnSpc>
                        <a:defRPr/>
                      </a:pPr>
                      <a:r>
                        <a:rPr lang="en-US" sz="2700">
                          <a:solidFill>
                            <a:srgbClr val="173B47"/>
                          </a:solidFill>
                          <a:latin typeface="Helvetica"/>
                          <a:ea typeface="Helvetica"/>
                          <a:cs typeface="Helvetica"/>
                          <a:sym typeface="Helvetica"/>
                        </a:rPr>
                        <a:t>Frontend</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9 a 14</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Nicolás y Camilo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No iniciado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00100">
                <a:tc>
                  <a:txBody>
                    <a:bodyPr anchor="t" rtlCol="false"/>
                    <a:lstStyle/>
                    <a:p>
                      <a:pPr algn="l">
                        <a:lnSpc>
                          <a:spcPts val="3240"/>
                        </a:lnSpc>
                        <a:defRPr/>
                      </a:pPr>
                      <a:r>
                        <a:rPr lang="en-US" sz="2700">
                          <a:solidFill>
                            <a:srgbClr val="173B47"/>
                          </a:solidFill>
                          <a:latin typeface="Helvetica"/>
                          <a:ea typeface="Helvetica"/>
                          <a:cs typeface="Helvetica"/>
                          <a:sym typeface="Helvetica"/>
                        </a:rPr>
                        <a:t>Pruebas y seguridad</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11 a 15</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Todo el equipo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No iniciado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EF7F6"/>
                    </a:solidFill>
                  </a:tcPr>
                </a:tc>
              </a:tr>
              <a:tr h="800100">
                <a:tc>
                  <a:txBody>
                    <a:bodyPr anchor="t" rtlCol="false"/>
                    <a:lstStyle/>
                    <a:p>
                      <a:pPr algn="l">
                        <a:lnSpc>
                          <a:spcPts val="3240"/>
                        </a:lnSpc>
                        <a:defRPr/>
                      </a:pPr>
                      <a:r>
                        <a:rPr lang="en-US" sz="2700">
                          <a:solidFill>
                            <a:srgbClr val="173B47"/>
                          </a:solidFill>
                          <a:latin typeface="Helvetica"/>
                          <a:ea typeface="Helvetica"/>
                          <a:cs typeface="Helvetica"/>
                          <a:sym typeface="Helvetica"/>
                        </a:rPr>
                        <a:t>Documentación y cierre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15 a 16</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Todo el equipo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173B47"/>
                          </a:solidFill>
                          <a:latin typeface="Helvetica"/>
                          <a:ea typeface="Helvetica"/>
                          <a:cs typeface="Helvetica"/>
                          <a:sym typeface="Helvetica"/>
                        </a:rPr>
                        <a:t>En curso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19" id="19"/>
          <p:cNvGrpSpPr/>
          <p:nvPr/>
        </p:nvGrpSpPr>
        <p:grpSpPr>
          <a:xfrm rot="0">
            <a:off x="914400" y="8715375"/>
            <a:ext cx="16430625" cy="571500"/>
            <a:chOff x="0" y="0"/>
            <a:chExt cx="21907500" cy="762000"/>
          </a:xfrm>
        </p:grpSpPr>
        <p:sp>
          <p:nvSpPr>
            <p:cNvPr name="Freeform 20" id="20"/>
            <p:cNvSpPr/>
            <p:nvPr/>
          </p:nvSpPr>
          <p:spPr>
            <a:xfrm flipH="false" flipV="false" rot="0">
              <a:off x="0" y="0"/>
              <a:ext cx="21907500" cy="762000"/>
            </a:xfrm>
            <a:custGeom>
              <a:avLst/>
              <a:gdLst/>
              <a:ahLst/>
              <a:cxnLst/>
              <a:rect r="r" b="b" t="t" l="l"/>
              <a:pathLst>
                <a:path h="762000" w="21907500">
                  <a:moveTo>
                    <a:pt x="0" y="0"/>
                  </a:moveTo>
                  <a:lnTo>
                    <a:pt x="21907500" y="0"/>
                  </a:lnTo>
                  <a:lnTo>
                    <a:pt x="21907500" y="762000"/>
                  </a:lnTo>
                  <a:lnTo>
                    <a:pt x="0" y="762000"/>
                  </a:lnTo>
                  <a:close/>
                </a:path>
              </a:pathLst>
            </a:custGeom>
            <a:blipFill>
              <a:blip r:embed="rId3">
                <a:alphaModFix amt="0"/>
              </a:blip>
              <a:stretch>
                <a:fillRect l="0" t="-510194" r="0" b="-510194"/>
              </a:stretch>
            </a:blipFill>
          </p:spPr>
        </p:sp>
        <p:sp>
          <p:nvSpPr>
            <p:cNvPr name="TextBox 21" id="21"/>
            <p:cNvSpPr txBox="true"/>
            <p:nvPr/>
          </p:nvSpPr>
          <p:spPr>
            <a:xfrm>
              <a:off x="0" y="-19050"/>
              <a:ext cx="21907500" cy="781050"/>
            </a:xfrm>
            <a:prstGeom prst="rect">
              <a:avLst/>
            </a:prstGeom>
          </p:spPr>
          <p:txBody>
            <a:bodyPr anchor="ctr" rtlCol="false" tIns="0" lIns="0" bIns="0" rIns="0"/>
            <a:lstStyle/>
            <a:p>
              <a:pPr algn="l">
                <a:lnSpc>
                  <a:spcPts val="3375"/>
                </a:lnSpc>
              </a:pPr>
              <a:r>
                <a:rPr lang="en-US" sz="2812" b="true">
                  <a:solidFill>
                    <a:srgbClr val="117B82"/>
                  </a:solidFill>
                  <a:latin typeface="Helvetica Bold"/>
                  <a:ea typeface="Helvetica Bold"/>
                  <a:cs typeface="Helvetica Bold"/>
                  <a:sym typeface="Helvetica Bold"/>
                </a:rPr>
                <a:t>Seguimiento semanal: requerimiento, pantalla, implementación y prueba.</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F7F6"/>
        </a:solidFill>
      </p:bgPr>
    </p:bg>
    <p:spTree>
      <p:nvGrpSpPr>
        <p:cNvPr id="1" name=""/>
        <p:cNvGrpSpPr/>
        <p:nvPr/>
      </p:nvGrpSpPr>
      <p:grpSpPr>
        <a:xfrm>
          <a:off x="0" y="0"/>
          <a:ext cx="0" cy="0"/>
          <a:chOff x="0" y="0"/>
          <a:chExt cx="0" cy="0"/>
        </a:xfrm>
      </p:grpSpPr>
      <p:sp>
        <p:nvSpPr>
          <p:cNvPr name="AutoShape 2" id="2"/>
          <p:cNvSpPr/>
          <p:nvPr/>
        </p:nvSpPr>
        <p:spPr>
          <a:xfrm rot="55920">
            <a:off x="11629911" y="7512844"/>
            <a:ext cx="1757591" cy="19050"/>
          </a:xfrm>
          <a:prstGeom prst="line">
            <a:avLst/>
          </a:prstGeom>
          <a:ln cap="rnd" w="19050">
            <a:solidFill>
              <a:srgbClr val="117B82"/>
            </a:solidFill>
            <a:prstDash val="solid"/>
            <a:headEnd type="none" len="sm" w="sm"/>
            <a:tailEnd type="triangle" len="med" w="lg"/>
          </a:ln>
        </p:spPr>
      </p:sp>
      <p:sp>
        <p:nvSpPr>
          <p:cNvPr name="AutoShape 3" id="3"/>
          <p:cNvSpPr/>
          <p:nvPr/>
        </p:nvSpPr>
        <p:spPr>
          <a:xfrm rot="5295840">
            <a:off x="8672293" y="6005512"/>
            <a:ext cx="943404" cy="19050"/>
          </a:xfrm>
          <a:prstGeom prst="line">
            <a:avLst/>
          </a:prstGeom>
          <a:ln cap="rnd" w="19050">
            <a:solidFill>
              <a:srgbClr val="117B82"/>
            </a:solidFill>
            <a:prstDash val="solid"/>
            <a:headEnd type="none" len="sm" w="sm"/>
            <a:tailEnd type="triangle" len="med" w="lg"/>
          </a:ln>
        </p:spPr>
      </p:sp>
      <p:sp>
        <p:nvSpPr>
          <p:cNvPr name="AutoShape 4" id="4"/>
          <p:cNvSpPr/>
          <p:nvPr/>
        </p:nvSpPr>
        <p:spPr>
          <a:xfrm rot="55920">
            <a:off x="11629911" y="4583906"/>
            <a:ext cx="1757591" cy="19050"/>
          </a:xfrm>
          <a:prstGeom prst="line">
            <a:avLst/>
          </a:prstGeom>
          <a:ln cap="rnd" w="19050">
            <a:solidFill>
              <a:srgbClr val="117B82"/>
            </a:solidFill>
            <a:prstDash val="solid"/>
            <a:headEnd type="none" len="sm" w="sm"/>
            <a:tailEnd type="triangle" len="med" w="lg"/>
          </a:ln>
        </p:spPr>
      </p:sp>
      <p:sp>
        <p:nvSpPr>
          <p:cNvPr name="AutoShape 5" id="5"/>
          <p:cNvSpPr/>
          <p:nvPr/>
        </p:nvSpPr>
        <p:spPr>
          <a:xfrm rot="55920">
            <a:off x="4900498" y="4583906"/>
            <a:ext cx="1757591" cy="19050"/>
          </a:xfrm>
          <a:prstGeom prst="line">
            <a:avLst/>
          </a:prstGeom>
          <a:ln cap="rnd" w="19050">
            <a:solidFill>
              <a:srgbClr val="117B82"/>
            </a:solidFill>
            <a:prstDash val="solid"/>
            <a:headEnd type="none" len="sm" w="sm"/>
            <a:tailEnd type="triangle" len="med" w="lg"/>
          </a:ln>
        </p:spPr>
      </p:sp>
      <p:grpSp>
        <p:nvGrpSpPr>
          <p:cNvPr name="Group 6" id="6"/>
          <p:cNvGrpSpPr/>
          <p:nvPr/>
        </p:nvGrpSpPr>
        <p:grpSpPr>
          <a:xfrm rot="0">
            <a:off x="914400" y="285750"/>
            <a:ext cx="3000375" cy="342900"/>
            <a:chOff x="0" y="0"/>
            <a:chExt cx="4000500" cy="457200"/>
          </a:xfrm>
        </p:grpSpPr>
        <p:sp>
          <p:nvSpPr>
            <p:cNvPr name="Freeform 7" id="7"/>
            <p:cNvSpPr/>
            <p:nvPr/>
          </p:nvSpPr>
          <p:spPr>
            <a:xfrm flipH="false" flipV="false" rot="0">
              <a:off x="0" y="0"/>
              <a:ext cx="4000500" cy="457200"/>
            </a:xfrm>
            <a:custGeom>
              <a:avLst/>
              <a:gdLst/>
              <a:ahLst/>
              <a:cxnLst/>
              <a:rect r="r" b="b" t="t" l="l"/>
              <a:pathLst>
                <a:path h="457200" w="4000500">
                  <a:moveTo>
                    <a:pt x="0" y="0"/>
                  </a:moveTo>
                  <a:lnTo>
                    <a:pt x="4000500" y="0"/>
                  </a:lnTo>
                  <a:lnTo>
                    <a:pt x="4000500" y="457200"/>
                  </a:lnTo>
                  <a:lnTo>
                    <a:pt x="0" y="457200"/>
                  </a:lnTo>
                  <a:close/>
                </a:path>
              </a:pathLst>
            </a:custGeom>
            <a:blipFill>
              <a:blip r:embed="rId3">
                <a:alphaModFix amt="0"/>
              </a:blip>
              <a:stretch>
                <a:fillRect l="0" t="-120494" r="0" b="-120494"/>
              </a:stretch>
            </a:blipFill>
          </p:spPr>
        </p:sp>
        <p:sp>
          <p:nvSpPr>
            <p:cNvPr name="TextBox 8" id="8"/>
            <p:cNvSpPr txBox="true"/>
            <p:nvPr/>
          </p:nvSpPr>
          <p:spPr>
            <a:xfrm>
              <a:off x="0" y="-19050"/>
              <a:ext cx="4000500" cy="476250"/>
            </a:xfrm>
            <a:prstGeom prst="rect">
              <a:avLst/>
            </a:prstGeom>
          </p:spPr>
          <p:txBody>
            <a:bodyPr anchor="ctr" rtlCol="false" tIns="0" lIns="0" bIns="0" rIns="0"/>
            <a:lstStyle/>
            <a:p>
              <a:pPr algn="l">
                <a:lnSpc>
                  <a:spcPts val="2295"/>
                </a:lnSpc>
              </a:pPr>
              <a:r>
                <a:rPr lang="en-US" sz="1912" b="true">
                  <a:solidFill>
                    <a:srgbClr val="117B82"/>
                  </a:solidFill>
                  <a:latin typeface="Helvetica Bold"/>
                  <a:ea typeface="Helvetica Bold"/>
                  <a:cs typeface="Helvetica Bold"/>
                  <a:sym typeface="Helvetica Bold"/>
                </a:rPr>
                <a:t>MEDLINK</a:t>
              </a:r>
            </a:p>
          </p:txBody>
        </p:sp>
      </p:grpSp>
      <p:grpSp>
        <p:nvGrpSpPr>
          <p:cNvPr name="Group 9" id="9"/>
          <p:cNvGrpSpPr/>
          <p:nvPr/>
        </p:nvGrpSpPr>
        <p:grpSpPr>
          <a:xfrm rot="0">
            <a:off x="914400" y="728662"/>
            <a:ext cx="16287750" cy="928688"/>
            <a:chOff x="0" y="0"/>
            <a:chExt cx="21717000" cy="1238250"/>
          </a:xfrm>
        </p:grpSpPr>
        <p:sp>
          <p:nvSpPr>
            <p:cNvPr name="Freeform 10" id="10"/>
            <p:cNvSpPr/>
            <p:nvPr/>
          </p:nvSpPr>
          <p:spPr>
            <a:xfrm flipH="false" flipV="false" rot="0">
              <a:off x="0" y="0"/>
              <a:ext cx="21717000" cy="1238250"/>
            </a:xfrm>
            <a:custGeom>
              <a:avLst/>
              <a:gdLst/>
              <a:ahLst/>
              <a:cxnLst/>
              <a:rect r="r" b="b" t="t" l="l"/>
              <a:pathLst>
                <a:path h="1238250" w="21717000">
                  <a:moveTo>
                    <a:pt x="0" y="0"/>
                  </a:moveTo>
                  <a:lnTo>
                    <a:pt x="21717000" y="0"/>
                  </a:lnTo>
                  <a:lnTo>
                    <a:pt x="21717000" y="1238250"/>
                  </a:lnTo>
                  <a:lnTo>
                    <a:pt x="0" y="1238250"/>
                  </a:lnTo>
                  <a:close/>
                </a:path>
              </a:pathLst>
            </a:custGeom>
            <a:blipFill>
              <a:blip r:embed="rId3">
                <a:alphaModFix amt="0"/>
              </a:blip>
              <a:stretch>
                <a:fillRect l="0" t="-291737" r="0" b="-291737"/>
              </a:stretch>
            </a:blipFill>
          </p:spPr>
        </p:sp>
        <p:sp>
          <p:nvSpPr>
            <p:cNvPr name="TextBox 11" id="11"/>
            <p:cNvSpPr txBox="true"/>
            <p:nvPr/>
          </p:nvSpPr>
          <p:spPr>
            <a:xfrm>
              <a:off x="0" y="-38100"/>
              <a:ext cx="21717000" cy="1276350"/>
            </a:xfrm>
            <a:prstGeom prst="rect">
              <a:avLst/>
            </a:prstGeom>
          </p:spPr>
          <p:txBody>
            <a:bodyPr anchor="ctr" rtlCol="false" tIns="0" lIns="0" bIns="0" rIns="0"/>
            <a:lstStyle/>
            <a:p>
              <a:pPr algn="l">
                <a:lnSpc>
                  <a:spcPts val="5670"/>
                </a:lnSpc>
              </a:pPr>
              <a:r>
                <a:rPr lang="en-US" sz="4725" b="true">
                  <a:solidFill>
                    <a:srgbClr val="173B47"/>
                  </a:solidFill>
                  <a:latin typeface="Helvetica Bold"/>
                  <a:ea typeface="Helvetica Bold"/>
                  <a:cs typeface="Helvetica Bold"/>
                  <a:sym typeface="Helvetica Bold"/>
                </a:rPr>
                <a:t>Arquitectura inicial del sistema</a:t>
              </a:r>
            </a:p>
          </p:txBody>
        </p:sp>
      </p:grpSp>
      <p:sp>
        <p:nvSpPr>
          <p:cNvPr name="AutoShape 12" id="12"/>
          <p:cNvSpPr/>
          <p:nvPr/>
        </p:nvSpPr>
        <p:spPr>
          <a:xfrm rot="4500">
            <a:off x="903675" y="1838325"/>
            <a:ext cx="16480650" cy="0"/>
          </a:xfrm>
          <a:prstGeom prst="line">
            <a:avLst/>
          </a:prstGeom>
          <a:ln cap="rnd" w="9525">
            <a:solidFill>
              <a:srgbClr val="D2E4E2"/>
            </a:solidFill>
            <a:prstDash val="solid"/>
            <a:headEnd type="none" len="sm" w="sm"/>
            <a:tailEnd type="none" len="sm" w="sm"/>
          </a:ln>
        </p:spPr>
      </p:sp>
      <p:grpSp>
        <p:nvGrpSpPr>
          <p:cNvPr name="Group 13" id="13"/>
          <p:cNvGrpSpPr/>
          <p:nvPr/>
        </p:nvGrpSpPr>
        <p:grpSpPr>
          <a:xfrm rot="0">
            <a:off x="16144875" y="9572625"/>
            <a:ext cx="1228725" cy="357188"/>
            <a:chOff x="0" y="0"/>
            <a:chExt cx="1638300" cy="476250"/>
          </a:xfrm>
        </p:grpSpPr>
        <p:sp>
          <p:nvSpPr>
            <p:cNvPr name="Freeform 14" id="14"/>
            <p:cNvSpPr/>
            <p:nvPr/>
          </p:nvSpPr>
          <p:spPr>
            <a:xfrm flipH="false" flipV="false" rot="0">
              <a:off x="0" y="0"/>
              <a:ext cx="1638300" cy="476250"/>
            </a:xfrm>
            <a:custGeom>
              <a:avLst/>
              <a:gdLst/>
              <a:ahLst/>
              <a:cxnLst/>
              <a:rect r="r" b="b" t="t" l="l"/>
              <a:pathLst>
                <a:path h="476250" w="1638300">
                  <a:moveTo>
                    <a:pt x="0" y="0"/>
                  </a:moveTo>
                  <a:lnTo>
                    <a:pt x="1638300" y="0"/>
                  </a:lnTo>
                  <a:lnTo>
                    <a:pt x="1638300" y="476250"/>
                  </a:lnTo>
                  <a:lnTo>
                    <a:pt x="0" y="476250"/>
                  </a:lnTo>
                  <a:close/>
                </a:path>
              </a:pathLst>
            </a:custGeom>
            <a:blipFill>
              <a:blip r:embed="rId3">
                <a:alphaModFix amt="0"/>
              </a:blip>
              <a:stretch>
                <a:fillRect l="0" t="-17028" r="0" b="-17028"/>
              </a:stretch>
            </a:blipFill>
          </p:spPr>
        </p:sp>
        <p:sp>
          <p:nvSpPr>
            <p:cNvPr name="TextBox 15" id="15"/>
            <p:cNvSpPr txBox="true"/>
            <p:nvPr/>
          </p:nvSpPr>
          <p:spPr>
            <a:xfrm>
              <a:off x="0" y="-19050"/>
              <a:ext cx="1638300" cy="495300"/>
            </a:xfrm>
            <a:prstGeom prst="rect">
              <a:avLst/>
            </a:prstGeom>
          </p:spPr>
          <p:txBody>
            <a:bodyPr anchor="ctr" rtlCol="false" tIns="0" lIns="0" bIns="0" rIns="0"/>
            <a:lstStyle/>
            <a:p>
              <a:pPr algn="l">
                <a:lnSpc>
                  <a:spcPts val="2430"/>
                </a:lnSpc>
              </a:pPr>
              <a:r>
                <a:rPr lang="en-US" sz="2025">
                  <a:solidFill>
                    <a:srgbClr val="59757B"/>
                  </a:solidFill>
                  <a:latin typeface="Helvetica"/>
                  <a:ea typeface="Helvetica"/>
                  <a:cs typeface="Helvetica"/>
                  <a:sym typeface="Helvetica"/>
                </a:rPr>
                <a:t>05 / 09</a:t>
              </a:r>
            </a:p>
          </p:txBody>
        </p:sp>
      </p:grpSp>
      <p:grpSp>
        <p:nvGrpSpPr>
          <p:cNvPr name="Group 16" id="16"/>
          <p:cNvGrpSpPr/>
          <p:nvPr/>
        </p:nvGrpSpPr>
        <p:grpSpPr>
          <a:xfrm rot="0">
            <a:off x="914400" y="2243138"/>
            <a:ext cx="16287750" cy="571500"/>
            <a:chOff x="0" y="0"/>
            <a:chExt cx="21717000" cy="762000"/>
          </a:xfrm>
        </p:grpSpPr>
        <p:sp>
          <p:nvSpPr>
            <p:cNvPr name="Freeform 17" id="17"/>
            <p:cNvSpPr/>
            <p:nvPr/>
          </p:nvSpPr>
          <p:spPr>
            <a:xfrm flipH="false" flipV="false" rot="0">
              <a:off x="0" y="0"/>
              <a:ext cx="21717000" cy="762000"/>
            </a:xfrm>
            <a:custGeom>
              <a:avLst/>
              <a:gdLst/>
              <a:ahLst/>
              <a:cxnLst/>
              <a:rect r="r" b="b" t="t" l="l"/>
              <a:pathLst>
                <a:path h="762000" w="21717000">
                  <a:moveTo>
                    <a:pt x="0" y="0"/>
                  </a:moveTo>
                  <a:lnTo>
                    <a:pt x="21717000" y="0"/>
                  </a:lnTo>
                  <a:lnTo>
                    <a:pt x="21717000" y="762000"/>
                  </a:lnTo>
                  <a:lnTo>
                    <a:pt x="0" y="762000"/>
                  </a:lnTo>
                  <a:close/>
                </a:path>
              </a:pathLst>
            </a:custGeom>
            <a:blipFill>
              <a:blip r:embed="rId3">
                <a:alphaModFix amt="0"/>
              </a:blip>
              <a:stretch>
                <a:fillRect l="0" t="-505323" r="0" b="-505323"/>
              </a:stretch>
            </a:blipFill>
          </p:spPr>
        </p:sp>
        <p:sp>
          <p:nvSpPr>
            <p:cNvPr name="TextBox 18" id="18"/>
            <p:cNvSpPr txBox="true"/>
            <p:nvPr/>
          </p:nvSpPr>
          <p:spPr>
            <a:xfrm>
              <a:off x="0" y="-19050"/>
              <a:ext cx="21717000" cy="781050"/>
            </a:xfrm>
            <a:prstGeom prst="rect">
              <a:avLst/>
            </a:prstGeom>
          </p:spPr>
          <p:txBody>
            <a:bodyPr anchor="ctr" rtlCol="false" tIns="0" lIns="0" bIns="0" rIns="0"/>
            <a:lstStyle/>
            <a:p>
              <a:pPr algn="l">
                <a:lnSpc>
                  <a:spcPts val="3510"/>
                </a:lnSpc>
              </a:pPr>
              <a:r>
                <a:rPr lang="en-US" sz="2925" b="true">
                  <a:solidFill>
                    <a:srgbClr val="117B82"/>
                  </a:solidFill>
                  <a:latin typeface="Helvetica Bold"/>
                  <a:ea typeface="Helvetica Bold"/>
                  <a:cs typeface="Helvetica Bold"/>
                  <a:sym typeface="Helvetica Bold"/>
                </a:rPr>
                <a:t>Diseño propuesto: backend como monolito modular</a:t>
              </a:r>
            </a:p>
          </p:txBody>
        </p:sp>
      </p:grpSp>
      <p:grpSp>
        <p:nvGrpSpPr>
          <p:cNvPr name="Group 19" id="19"/>
          <p:cNvGrpSpPr/>
          <p:nvPr/>
        </p:nvGrpSpPr>
        <p:grpSpPr>
          <a:xfrm rot="0">
            <a:off x="907256" y="3621881"/>
            <a:ext cx="4014788" cy="1943100"/>
            <a:chOff x="0" y="0"/>
            <a:chExt cx="5353050" cy="2590800"/>
          </a:xfrm>
        </p:grpSpPr>
        <p:sp>
          <p:nvSpPr>
            <p:cNvPr name="Freeform 20" id="20"/>
            <p:cNvSpPr/>
            <p:nvPr/>
          </p:nvSpPr>
          <p:spPr>
            <a:xfrm flipH="false" flipV="false" rot="0">
              <a:off x="0" y="0"/>
              <a:ext cx="5353050" cy="2590800"/>
            </a:xfrm>
            <a:custGeom>
              <a:avLst/>
              <a:gdLst/>
              <a:ahLst/>
              <a:cxnLst/>
              <a:rect r="r" b="b" t="t" l="l"/>
              <a:pathLst>
                <a:path h="2590800" w="5353050">
                  <a:moveTo>
                    <a:pt x="0" y="191897"/>
                  </a:moveTo>
                  <a:cubicBezTo>
                    <a:pt x="0" y="85979"/>
                    <a:pt x="85979" y="0"/>
                    <a:pt x="191897" y="0"/>
                  </a:cubicBezTo>
                  <a:lnTo>
                    <a:pt x="5161153" y="0"/>
                  </a:lnTo>
                  <a:cubicBezTo>
                    <a:pt x="5267198" y="0"/>
                    <a:pt x="5353050" y="85979"/>
                    <a:pt x="5353050" y="191897"/>
                  </a:cubicBezTo>
                  <a:lnTo>
                    <a:pt x="5353050" y="2398903"/>
                  </a:lnTo>
                  <a:cubicBezTo>
                    <a:pt x="5353050" y="2504948"/>
                    <a:pt x="5267071" y="2590800"/>
                    <a:pt x="5161153" y="2590800"/>
                  </a:cubicBezTo>
                  <a:lnTo>
                    <a:pt x="191897" y="2590800"/>
                  </a:lnTo>
                  <a:cubicBezTo>
                    <a:pt x="85979" y="2590800"/>
                    <a:pt x="0" y="2504821"/>
                    <a:pt x="0" y="2398903"/>
                  </a:cubicBezTo>
                  <a:close/>
                </a:path>
              </a:pathLst>
            </a:custGeom>
            <a:solidFill>
              <a:srgbClr val="FFFFFF"/>
            </a:solidFill>
            <a:ln w="14288" cap="sq">
              <a:solidFill>
                <a:srgbClr val="8FBDBA"/>
              </a:solidFill>
              <a:prstDash val="solid"/>
              <a:miter/>
            </a:ln>
          </p:spPr>
        </p:sp>
        <p:sp>
          <p:nvSpPr>
            <p:cNvPr name="TextBox 21" id="21"/>
            <p:cNvSpPr txBox="true"/>
            <p:nvPr/>
          </p:nvSpPr>
          <p:spPr>
            <a:xfrm>
              <a:off x="0" y="-28575"/>
              <a:ext cx="5353050" cy="2619375"/>
            </a:xfrm>
            <a:prstGeom prst="rect">
              <a:avLst/>
            </a:prstGeom>
          </p:spPr>
          <p:txBody>
            <a:bodyPr anchor="ctr" rtlCol="false" tIns="50800" lIns="50800" bIns="50800" rIns="50800"/>
            <a:lstStyle/>
            <a:p>
              <a:pPr algn="ctr">
                <a:lnSpc>
                  <a:spcPts val="3240"/>
                </a:lnSpc>
              </a:pPr>
              <a:r>
                <a:rPr lang="en-US" sz="2700" b="true">
                  <a:solidFill>
                    <a:srgbClr val="117B82"/>
                  </a:solidFill>
                  <a:latin typeface="Helvetica Bold"/>
                  <a:ea typeface="Helvetica Bold"/>
                  <a:cs typeface="Helvetica Bold"/>
                  <a:sym typeface="Helvetica Bold"/>
                </a:rPr>
                <a:t>Interfaz web</a:t>
              </a:r>
            </a:p>
            <a:p>
              <a:pPr algn="ctr">
                <a:lnSpc>
                  <a:spcPts val="3240"/>
                </a:lnSpc>
              </a:pPr>
              <a:r>
                <a:rPr lang="en-US" sz="2700">
                  <a:solidFill>
                    <a:srgbClr val="173B47"/>
                  </a:solidFill>
                  <a:latin typeface="Helvetica"/>
                  <a:ea typeface="Helvetica"/>
                  <a:cs typeface="Helvetica"/>
                  <a:sym typeface="Helvetica"/>
                </a:rPr>
                <a:t>React + TypeScript</a:t>
              </a:r>
            </a:p>
            <a:p>
              <a:pPr algn="ctr">
                <a:lnSpc>
                  <a:spcPts val="3240"/>
                </a:lnSpc>
              </a:pPr>
              <a:r>
                <a:rPr lang="en-US" sz="2700">
                  <a:solidFill>
                    <a:srgbClr val="173B47"/>
                  </a:solidFill>
                  <a:latin typeface="Helvetica"/>
                  <a:ea typeface="Helvetica"/>
                  <a:cs typeface="Helvetica"/>
                  <a:sym typeface="Helvetica"/>
                </a:rPr>
                <a:t>Vite + Tailwind</a:t>
              </a:r>
            </a:p>
          </p:txBody>
        </p:sp>
      </p:grpSp>
      <p:grpSp>
        <p:nvGrpSpPr>
          <p:cNvPr name="Group 22" id="22"/>
          <p:cNvGrpSpPr/>
          <p:nvPr/>
        </p:nvGrpSpPr>
        <p:grpSpPr>
          <a:xfrm rot="0">
            <a:off x="6636544" y="3621881"/>
            <a:ext cx="5014912" cy="1943100"/>
            <a:chOff x="0" y="0"/>
            <a:chExt cx="6686550" cy="2590800"/>
          </a:xfrm>
        </p:grpSpPr>
        <p:sp>
          <p:nvSpPr>
            <p:cNvPr name="Freeform 23" id="23"/>
            <p:cNvSpPr/>
            <p:nvPr/>
          </p:nvSpPr>
          <p:spPr>
            <a:xfrm flipH="false" flipV="false" rot="0">
              <a:off x="0" y="0"/>
              <a:ext cx="6686550" cy="2590800"/>
            </a:xfrm>
            <a:custGeom>
              <a:avLst/>
              <a:gdLst/>
              <a:ahLst/>
              <a:cxnLst/>
              <a:rect r="r" b="b" t="t" l="l"/>
              <a:pathLst>
                <a:path h="2590800" w="6686550">
                  <a:moveTo>
                    <a:pt x="0" y="191897"/>
                  </a:moveTo>
                  <a:cubicBezTo>
                    <a:pt x="0" y="85979"/>
                    <a:pt x="85979" y="0"/>
                    <a:pt x="191897" y="0"/>
                  </a:cubicBezTo>
                  <a:lnTo>
                    <a:pt x="6494653" y="0"/>
                  </a:lnTo>
                  <a:cubicBezTo>
                    <a:pt x="6600698" y="0"/>
                    <a:pt x="6686550" y="85979"/>
                    <a:pt x="6686550" y="191897"/>
                  </a:cubicBezTo>
                  <a:lnTo>
                    <a:pt x="6686550" y="2398903"/>
                  </a:lnTo>
                  <a:cubicBezTo>
                    <a:pt x="6686550" y="2504948"/>
                    <a:pt x="6600572" y="2590800"/>
                    <a:pt x="6494653" y="2590800"/>
                  </a:cubicBezTo>
                  <a:lnTo>
                    <a:pt x="191897" y="2590800"/>
                  </a:lnTo>
                  <a:cubicBezTo>
                    <a:pt x="85979" y="2590800"/>
                    <a:pt x="0" y="2504821"/>
                    <a:pt x="0" y="2398903"/>
                  </a:cubicBezTo>
                  <a:close/>
                </a:path>
              </a:pathLst>
            </a:custGeom>
            <a:solidFill>
              <a:srgbClr val="FFFFFF"/>
            </a:solidFill>
            <a:ln w="14288" cap="sq">
              <a:solidFill>
                <a:srgbClr val="8FBDBA"/>
              </a:solidFill>
              <a:prstDash val="solid"/>
              <a:miter/>
            </a:ln>
          </p:spPr>
        </p:sp>
        <p:sp>
          <p:nvSpPr>
            <p:cNvPr name="TextBox 24" id="24"/>
            <p:cNvSpPr txBox="true"/>
            <p:nvPr/>
          </p:nvSpPr>
          <p:spPr>
            <a:xfrm>
              <a:off x="0" y="-28575"/>
              <a:ext cx="6686550" cy="2619375"/>
            </a:xfrm>
            <a:prstGeom prst="rect">
              <a:avLst/>
            </a:prstGeom>
          </p:spPr>
          <p:txBody>
            <a:bodyPr anchor="ctr" rtlCol="false" tIns="50800" lIns="50800" bIns="50800" rIns="50800"/>
            <a:lstStyle/>
            <a:p>
              <a:pPr algn="ctr">
                <a:lnSpc>
                  <a:spcPts val="3240"/>
                </a:lnSpc>
              </a:pPr>
              <a:r>
                <a:rPr lang="en-US" sz="2700" b="true">
                  <a:solidFill>
                    <a:srgbClr val="117B82"/>
                  </a:solidFill>
                  <a:latin typeface="Helvetica Bold"/>
                  <a:ea typeface="Helvetica Bold"/>
                  <a:cs typeface="Helvetica Bold"/>
                  <a:sym typeface="Helvetica Bold"/>
                </a:rPr>
                <a:t>API REST</a:t>
              </a:r>
            </a:p>
            <a:p>
              <a:pPr algn="ctr">
                <a:lnSpc>
                  <a:spcPts val="3240"/>
                </a:lnSpc>
              </a:pPr>
              <a:r>
                <a:rPr lang="en-US" sz="2700">
                  <a:solidFill>
                    <a:srgbClr val="173B47"/>
                  </a:solidFill>
                  <a:latin typeface="Helvetica"/>
                  <a:ea typeface="Helvetica"/>
                  <a:cs typeface="Helvetica"/>
                  <a:sym typeface="Helvetica"/>
                </a:rPr>
                <a:t>Django + DRF</a:t>
              </a:r>
            </a:p>
            <a:p>
              <a:pPr algn="ctr">
                <a:lnSpc>
                  <a:spcPts val="3240"/>
                </a:lnSpc>
              </a:pPr>
              <a:r>
                <a:rPr lang="en-US" sz="2700">
                  <a:solidFill>
                    <a:srgbClr val="173B47"/>
                  </a:solidFill>
                  <a:latin typeface="Helvetica"/>
                  <a:ea typeface="Helvetica"/>
                  <a:cs typeface="Helvetica"/>
                  <a:sym typeface="Helvetica"/>
                </a:rPr>
                <a:t>Autorización por recurso</a:t>
              </a:r>
            </a:p>
          </p:txBody>
        </p:sp>
      </p:grpSp>
      <p:grpSp>
        <p:nvGrpSpPr>
          <p:cNvPr name="Group 25" id="25"/>
          <p:cNvGrpSpPr/>
          <p:nvPr/>
        </p:nvGrpSpPr>
        <p:grpSpPr>
          <a:xfrm rot="0">
            <a:off x="13365956" y="3621881"/>
            <a:ext cx="4014788" cy="1943100"/>
            <a:chOff x="0" y="0"/>
            <a:chExt cx="5353050" cy="2590800"/>
          </a:xfrm>
        </p:grpSpPr>
        <p:sp>
          <p:nvSpPr>
            <p:cNvPr name="Freeform 26" id="26"/>
            <p:cNvSpPr/>
            <p:nvPr/>
          </p:nvSpPr>
          <p:spPr>
            <a:xfrm flipH="false" flipV="false" rot="0">
              <a:off x="0" y="0"/>
              <a:ext cx="5353050" cy="2590800"/>
            </a:xfrm>
            <a:custGeom>
              <a:avLst/>
              <a:gdLst/>
              <a:ahLst/>
              <a:cxnLst/>
              <a:rect r="r" b="b" t="t" l="l"/>
              <a:pathLst>
                <a:path h="2590800" w="5353050">
                  <a:moveTo>
                    <a:pt x="0" y="191897"/>
                  </a:moveTo>
                  <a:cubicBezTo>
                    <a:pt x="0" y="85979"/>
                    <a:pt x="85979" y="0"/>
                    <a:pt x="191897" y="0"/>
                  </a:cubicBezTo>
                  <a:lnTo>
                    <a:pt x="5161153" y="0"/>
                  </a:lnTo>
                  <a:cubicBezTo>
                    <a:pt x="5267198" y="0"/>
                    <a:pt x="5353050" y="85979"/>
                    <a:pt x="5353050" y="191897"/>
                  </a:cubicBezTo>
                  <a:lnTo>
                    <a:pt x="5353050" y="2398903"/>
                  </a:lnTo>
                  <a:cubicBezTo>
                    <a:pt x="5353050" y="2504948"/>
                    <a:pt x="5267071" y="2590800"/>
                    <a:pt x="5161153" y="2590800"/>
                  </a:cubicBezTo>
                  <a:lnTo>
                    <a:pt x="191897" y="2590800"/>
                  </a:lnTo>
                  <a:cubicBezTo>
                    <a:pt x="85979" y="2590800"/>
                    <a:pt x="0" y="2504821"/>
                    <a:pt x="0" y="2398903"/>
                  </a:cubicBezTo>
                  <a:close/>
                </a:path>
              </a:pathLst>
            </a:custGeom>
            <a:solidFill>
              <a:srgbClr val="FFFFFF"/>
            </a:solidFill>
            <a:ln w="14288" cap="sq">
              <a:solidFill>
                <a:srgbClr val="8FBDBA"/>
              </a:solidFill>
              <a:prstDash val="solid"/>
              <a:miter/>
            </a:ln>
          </p:spPr>
        </p:sp>
        <p:sp>
          <p:nvSpPr>
            <p:cNvPr name="TextBox 27" id="27"/>
            <p:cNvSpPr txBox="true"/>
            <p:nvPr/>
          </p:nvSpPr>
          <p:spPr>
            <a:xfrm>
              <a:off x="0" y="-28575"/>
              <a:ext cx="5353050" cy="2619375"/>
            </a:xfrm>
            <a:prstGeom prst="rect">
              <a:avLst/>
            </a:prstGeom>
          </p:spPr>
          <p:txBody>
            <a:bodyPr anchor="ctr" rtlCol="false" tIns="50800" lIns="50800" bIns="50800" rIns="50800"/>
            <a:lstStyle/>
            <a:p>
              <a:pPr algn="ctr">
                <a:lnSpc>
                  <a:spcPts val="3104"/>
                </a:lnSpc>
              </a:pPr>
              <a:r>
                <a:rPr lang="en-US" sz="2587" b="true">
                  <a:solidFill>
                    <a:srgbClr val="117B82"/>
                  </a:solidFill>
                  <a:latin typeface="Helvetica Bold"/>
                  <a:ea typeface="Helvetica Bold"/>
                  <a:cs typeface="Helvetica Bold"/>
                  <a:sym typeface="Helvetica Bold"/>
                </a:rPr>
                <a:t>PostgreSQL</a:t>
              </a:r>
            </a:p>
            <a:p>
              <a:pPr algn="ctr">
                <a:lnSpc>
                  <a:spcPts val="3104"/>
                </a:lnSpc>
              </a:pPr>
              <a:r>
                <a:rPr lang="en-US" sz="2587">
                  <a:solidFill>
                    <a:srgbClr val="173B47"/>
                  </a:solidFill>
                  <a:latin typeface="Helvetica"/>
                  <a:ea typeface="Helvetica"/>
                  <a:cs typeface="Helvetica"/>
                  <a:sym typeface="Helvetica"/>
                </a:rPr>
                <a:t>Metadatos, antecedentes,</a:t>
              </a:r>
            </a:p>
            <a:p>
              <a:pPr algn="ctr">
                <a:lnSpc>
                  <a:spcPts val="3104"/>
                </a:lnSpc>
              </a:pPr>
              <a:r>
                <a:rPr lang="en-US" sz="2587">
                  <a:solidFill>
                    <a:srgbClr val="173B47"/>
                  </a:solidFill>
                  <a:latin typeface="Helvetica"/>
                  <a:ea typeface="Helvetica"/>
                  <a:cs typeface="Helvetica"/>
                  <a:sym typeface="Helvetica"/>
                </a:rPr>
                <a:t>permisos y auditoría</a:t>
              </a:r>
            </a:p>
          </p:txBody>
        </p:sp>
      </p:grpSp>
      <p:grpSp>
        <p:nvGrpSpPr>
          <p:cNvPr name="Group 28" id="28"/>
          <p:cNvGrpSpPr/>
          <p:nvPr/>
        </p:nvGrpSpPr>
        <p:grpSpPr>
          <a:xfrm rot="0">
            <a:off x="6636544" y="6465094"/>
            <a:ext cx="5014912" cy="2114550"/>
            <a:chOff x="0" y="0"/>
            <a:chExt cx="6686550" cy="2819400"/>
          </a:xfrm>
        </p:grpSpPr>
        <p:sp>
          <p:nvSpPr>
            <p:cNvPr name="Freeform 29" id="29"/>
            <p:cNvSpPr/>
            <p:nvPr/>
          </p:nvSpPr>
          <p:spPr>
            <a:xfrm flipH="false" flipV="false" rot="0">
              <a:off x="0" y="0"/>
              <a:ext cx="6686550" cy="2819400"/>
            </a:xfrm>
            <a:custGeom>
              <a:avLst/>
              <a:gdLst/>
              <a:ahLst/>
              <a:cxnLst/>
              <a:rect r="r" b="b" t="t" l="l"/>
              <a:pathLst>
                <a:path h="2819400" w="6686550">
                  <a:moveTo>
                    <a:pt x="0" y="191770"/>
                  </a:moveTo>
                  <a:cubicBezTo>
                    <a:pt x="0" y="85852"/>
                    <a:pt x="85852" y="0"/>
                    <a:pt x="191770" y="0"/>
                  </a:cubicBezTo>
                  <a:lnTo>
                    <a:pt x="6494780" y="0"/>
                  </a:lnTo>
                  <a:cubicBezTo>
                    <a:pt x="6600698" y="0"/>
                    <a:pt x="6686550" y="85852"/>
                    <a:pt x="6686550" y="191770"/>
                  </a:cubicBezTo>
                  <a:lnTo>
                    <a:pt x="6686550" y="2627630"/>
                  </a:lnTo>
                  <a:cubicBezTo>
                    <a:pt x="6686550" y="2733548"/>
                    <a:pt x="6600698" y="2819400"/>
                    <a:pt x="6494780" y="2819400"/>
                  </a:cubicBezTo>
                  <a:lnTo>
                    <a:pt x="191770" y="2819400"/>
                  </a:lnTo>
                  <a:cubicBezTo>
                    <a:pt x="85852" y="2819400"/>
                    <a:pt x="0" y="2733548"/>
                    <a:pt x="0" y="2627630"/>
                  </a:cubicBezTo>
                  <a:close/>
                </a:path>
              </a:pathLst>
            </a:custGeom>
            <a:solidFill>
              <a:srgbClr val="FFFFFF"/>
            </a:solidFill>
            <a:ln w="14288" cap="sq">
              <a:solidFill>
                <a:srgbClr val="8FBDBA"/>
              </a:solidFill>
              <a:prstDash val="solid"/>
              <a:miter/>
            </a:ln>
          </p:spPr>
        </p:sp>
        <p:sp>
          <p:nvSpPr>
            <p:cNvPr name="TextBox 30" id="30"/>
            <p:cNvSpPr txBox="true"/>
            <p:nvPr/>
          </p:nvSpPr>
          <p:spPr>
            <a:xfrm>
              <a:off x="0" y="-28575"/>
              <a:ext cx="6686550" cy="2847975"/>
            </a:xfrm>
            <a:prstGeom prst="rect">
              <a:avLst/>
            </a:prstGeom>
          </p:spPr>
          <p:txBody>
            <a:bodyPr anchor="ctr" rtlCol="false" tIns="50800" lIns="50800" bIns="50800" rIns="50800"/>
            <a:lstStyle/>
            <a:p>
              <a:pPr algn="ctr">
                <a:lnSpc>
                  <a:spcPts val="3104"/>
                </a:lnSpc>
              </a:pPr>
              <a:r>
                <a:rPr lang="en-US" sz="2587" b="true">
                  <a:solidFill>
                    <a:srgbClr val="117B82"/>
                  </a:solidFill>
                  <a:latin typeface="Helvetica Bold"/>
                  <a:ea typeface="Helvetica Bold"/>
                  <a:cs typeface="Helvetica Bold"/>
                  <a:sym typeface="Helvetica Bold"/>
                </a:rPr>
                <a:t>Módulos del backend</a:t>
              </a:r>
            </a:p>
            <a:p>
              <a:pPr algn="ctr">
                <a:lnSpc>
                  <a:spcPts val="3104"/>
                </a:lnSpc>
              </a:pPr>
              <a:r>
                <a:rPr lang="en-US" sz="2587">
                  <a:solidFill>
                    <a:srgbClr val="173B47"/>
                  </a:solidFill>
                  <a:latin typeface="Helvetica"/>
                  <a:ea typeface="Helvetica"/>
                  <a:cs typeface="Helvetica"/>
                  <a:sym typeface="Helvetica"/>
                </a:rPr>
                <a:t>Documentos y extracción</a:t>
              </a:r>
            </a:p>
            <a:p>
              <a:pPr algn="ctr">
                <a:lnSpc>
                  <a:spcPts val="3104"/>
                </a:lnSpc>
              </a:pPr>
              <a:r>
                <a:rPr lang="en-US" sz="2587">
                  <a:solidFill>
                    <a:srgbClr val="173B47"/>
                  </a:solidFill>
                  <a:latin typeface="Helvetica"/>
                  <a:ea typeface="Helvetica"/>
                  <a:cs typeface="Helvetica"/>
                  <a:sym typeface="Helvetica"/>
                </a:rPr>
                <a:t>Historial y accesos compartidos</a:t>
              </a:r>
            </a:p>
            <a:p>
              <a:pPr algn="ctr">
                <a:lnSpc>
                  <a:spcPts val="3104"/>
                </a:lnSpc>
              </a:pPr>
              <a:r>
                <a:rPr lang="en-US" sz="2587">
                  <a:solidFill>
                    <a:srgbClr val="173B47"/>
                  </a:solidFill>
                  <a:latin typeface="Helvetica"/>
                  <a:ea typeface="Helvetica"/>
                  <a:cs typeface="Helvetica"/>
                  <a:sym typeface="Helvetica"/>
                </a:rPr>
                <a:t>Auditoría y persistencia</a:t>
              </a:r>
            </a:p>
          </p:txBody>
        </p:sp>
      </p:grpSp>
      <p:grpSp>
        <p:nvGrpSpPr>
          <p:cNvPr name="Group 31" id="31"/>
          <p:cNvGrpSpPr/>
          <p:nvPr/>
        </p:nvGrpSpPr>
        <p:grpSpPr>
          <a:xfrm rot="0">
            <a:off x="13365956" y="6465094"/>
            <a:ext cx="4014788" cy="2114550"/>
            <a:chOff x="0" y="0"/>
            <a:chExt cx="5353050" cy="2819400"/>
          </a:xfrm>
        </p:grpSpPr>
        <p:sp>
          <p:nvSpPr>
            <p:cNvPr name="Freeform 32" id="32"/>
            <p:cNvSpPr/>
            <p:nvPr/>
          </p:nvSpPr>
          <p:spPr>
            <a:xfrm flipH="false" flipV="false" rot="0">
              <a:off x="0" y="0"/>
              <a:ext cx="5353050" cy="2819400"/>
            </a:xfrm>
            <a:custGeom>
              <a:avLst/>
              <a:gdLst/>
              <a:ahLst/>
              <a:cxnLst/>
              <a:rect r="r" b="b" t="t" l="l"/>
              <a:pathLst>
                <a:path h="2819400" w="5353050">
                  <a:moveTo>
                    <a:pt x="0" y="191770"/>
                  </a:moveTo>
                  <a:cubicBezTo>
                    <a:pt x="0" y="85852"/>
                    <a:pt x="85852" y="0"/>
                    <a:pt x="191770" y="0"/>
                  </a:cubicBezTo>
                  <a:lnTo>
                    <a:pt x="5161280" y="0"/>
                  </a:lnTo>
                  <a:cubicBezTo>
                    <a:pt x="5267198" y="0"/>
                    <a:pt x="5353050" y="85852"/>
                    <a:pt x="5353050" y="191770"/>
                  </a:cubicBezTo>
                  <a:lnTo>
                    <a:pt x="5353050" y="2627630"/>
                  </a:lnTo>
                  <a:cubicBezTo>
                    <a:pt x="5353050" y="2733548"/>
                    <a:pt x="5267198" y="2819400"/>
                    <a:pt x="5161280" y="2819400"/>
                  </a:cubicBezTo>
                  <a:lnTo>
                    <a:pt x="191770" y="2819400"/>
                  </a:lnTo>
                  <a:cubicBezTo>
                    <a:pt x="85852" y="2819400"/>
                    <a:pt x="0" y="2733548"/>
                    <a:pt x="0" y="2627630"/>
                  </a:cubicBezTo>
                  <a:close/>
                </a:path>
              </a:pathLst>
            </a:custGeom>
            <a:solidFill>
              <a:srgbClr val="FFFFFF"/>
            </a:solidFill>
            <a:ln w="14288" cap="sq">
              <a:solidFill>
                <a:srgbClr val="8FBDBA"/>
              </a:solidFill>
              <a:prstDash val="solid"/>
              <a:miter/>
            </a:ln>
          </p:spPr>
        </p:sp>
        <p:sp>
          <p:nvSpPr>
            <p:cNvPr name="TextBox 33" id="33"/>
            <p:cNvSpPr txBox="true"/>
            <p:nvPr/>
          </p:nvSpPr>
          <p:spPr>
            <a:xfrm>
              <a:off x="0" y="-28575"/>
              <a:ext cx="5353050" cy="2847975"/>
            </a:xfrm>
            <a:prstGeom prst="rect">
              <a:avLst/>
            </a:prstGeom>
          </p:spPr>
          <p:txBody>
            <a:bodyPr anchor="ctr" rtlCol="false" tIns="50800" lIns="50800" bIns="50800" rIns="50800"/>
            <a:lstStyle/>
            <a:p>
              <a:pPr algn="ctr">
                <a:lnSpc>
                  <a:spcPts val="3104"/>
                </a:lnSpc>
              </a:pPr>
              <a:r>
                <a:rPr lang="en-US" sz="2587" b="true">
                  <a:solidFill>
                    <a:srgbClr val="117B82"/>
                  </a:solidFill>
                  <a:latin typeface="Helvetica Bold"/>
                  <a:ea typeface="Helvetica Bold"/>
                  <a:cs typeface="Helvetica Bold"/>
                  <a:sym typeface="Helvetica Bold"/>
                </a:rPr>
                <a:t>Archivos privados</a:t>
              </a:r>
            </a:p>
            <a:p>
              <a:pPr algn="ctr">
                <a:lnSpc>
                  <a:spcPts val="3104"/>
                </a:lnSpc>
              </a:pPr>
              <a:r>
                <a:rPr lang="en-US" sz="2587">
                  <a:solidFill>
                    <a:srgbClr val="173B47"/>
                  </a:solidFill>
                  <a:latin typeface="Helvetica"/>
                  <a:ea typeface="Helvetica"/>
                  <a:cs typeface="Helvetica"/>
                  <a:sym typeface="Helvetica"/>
                </a:rPr>
                <a:t>PDF e imágenes</a:t>
              </a:r>
            </a:p>
            <a:p>
              <a:pPr algn="ctr">
                <a:lnSpc>
                  <a:spcPts val="3104"/>
                </a:lnSpc>
              </a:pPr>
              <a:r>
                <a:rPr lang="en-US" sz="2587">
                  <a:solidFill>
                    <a:srgbClr val="173B47"/>
                  </a:solidFill>
                  <a:latin typeface="Helvetica"/>
                  <a:ea typeface="Helvetica"/>
                  <a:cs typeface="Helvetica"/>
                  <a:sym typeface="Helvetica"/>
                </a:rPr>
                <a:t>Acceso protegido por API</a:t>
              </a:r>
            </a:p>
          </p:txBody>
        </p:sp>
      </p:grpSp>
      <p:grpSp>
        <p:nvGrpSpPr>
          <p:cNvPr name="Group 34" id="34"/>
          <p:cNvGrpSpPr/>
          <p:nvPr/>
        </p:nvGrpSpPr>
        <p:grpSpPr>
          <a:xfrm rot="0">
            <a:off x="5214938" y="3857625"/>
            <a:ext cx="1285875" cy="500062"/>
            <a:chOff x="0" y="0"/>
            <a:chExt cx="1714500" cy="666750"/>
          </a:xfrm>
        </p:grpSpPr>
        <p:sp>
          <p:nvSpPr>
            <p:cNvPr name="Freeform 35" id="35"/>
            <p:cNvSpPr/>
            <p:nvPr/>
          </p:nvSpPr>
          <p:spPr>
            <a:xfrm flipH="false" flipV="false" rot="0">
              <a:off x="0" y="0"/>
              <a:ext cx="1714500" cy="666750"/>
            </a:xfrm>
            <a:custGeom>
              <a:avLst/>
              <a:gdLst/>
              <a:ahLst/>
              <a:cxnLst/>
              <a:rect r="r" b="b" t="t" l="l"/>
              <a:pathLst>
                <a:path h="666750" w="1714500">
                  <a:moveTo>
                    <a:pt x="0" y="0"/>
                  </a:moveTo>
                  <a:lnTo>
                    <a:pt x="1714500" y="0"/>
                  </a:lnTo>
                  <a:lnTo>
                    <a:pt x="1714500" y="666750"/>
                  </a:lnTo>
                  <a:lnTo>
                    <a:pt x="0" y="666750"/>
                  </a:lnTo>
                  <a:close/>
                </a:path>
              </a:pathLst>
            </a:custGeom>
            <a:blipFill>
              <a:blip r:embed="rId3">
                <a:alphaModFix amt="0"/>
              </a:blip>
              <a:stretch>
                <a:fillRect l="0" t="-104" r="0" b="-104"/>
              </a:stretch>
            </a:blipFill>
          </p:spPr>
        </p:sp>
        <p:sp>
          <p:nvSpPr>
            <p:cNvPr name="TextBox 36" id="36"/>
            <p:cNvSpPr txBox="true"/>
            <p:nvPr/>
          </p:nvSpPr>
          <p:spPr>
            <a:xfrm>
              <a:off x="0" y="-28575"/>
              <a:ext cx="1714500" cy="695325"/>
            </a:xfrm>
            <a:prstGeom prst="rect">
              <a:avLst/>
            </a:prstGeom>
          </p:spPr>
          <p:txBody>
            <a:bodyPr anchor="ctr" rtlCol="false" tIns="0" lIns="0" bIns="0" rIns="0"/>
            <a:lstStyle/>
            <a:p>
              <a:pPr algn="l">
                <a:lnSpc>
                  <a:spcPts val="2835"/>
                </a:lnSpc>
              </a:pPr>
              <a:r>
                <a:rPr lang="en-US" sz="2362" b="true">
                  <a:solidFill>
                    <a:srgbClr val="117B82"/>
                  </a:solidFill>
                  <a:latin typeface="Helvetica Bold"/>
                  <a:ea typeface="Helvetica Bold"/>
                  <a:cs typeface="Helvetica Bold"/>
                  <a:sym typeface="Helvetica Bold"/>
                </a:rPr>
                <a:t>HTTPS</a:t>
              </a:r>
            </a:p>
          </p:txBody>
        </p:sp>
      </p:grpSp>
      <p:grpSp>
        <p:nvGrpSpPr>
          <p:cNvPr name="Group 37" id="37"/>
          <p:cNvGrpSpPr/>
          <p:nvPr/>
        </p:nvGrpSpPr>
        <p:grpSpPr>
          <a:xfrm rot="0">
            <a:off x="11858625" y="3157538"/>
            <a:ext cx="1428750" cy="928688"/>
            <a:chOff x="0" y="0"/>
            <a:chExt cx="1905000" cy="1238250"/>
          </a:xfrm>
        </p:grpSpPr>
        <p:sp>
          <p:nvSpPr>
            <p:cNvPr name="Freeform 38" id="38"/>
            <p:cNvSpPr/>
            <p:nvPr/>
          </p:nvSpPr>
          <p:spPr>
            <a:xfrm flipH="false" flipV="false" rot="0">
              <a:off x="0" y="0"/>
              <a:ext cx="1905000" cy="1238250"/>
            </a:xfrm>
            <a:custGeom>
              <a:avLst/>
              <a:gdLst/>
              <a:ahLst/>
              <a:cxnLst/>
              <a:rect r="r" b="b" t="t" l="l"/>
              <a:pathLst>
                <a:path h="1238250" w="1905000">
                  <a:moveTo>
                    <a:pt x="0" y="0"/>
                  </a:moveTo>
                  <a:lnTo>
                    <a:pt x="1905000" y="0"/>
                  </a:lnTo>
                  <a:lnTo>
                    <a:pt x="1905000" y="1238250"/>
                  </a:lnTo>
                  <a:lnTo>
                    <a:pt x="0" y="1238250"/>
                  </a:lnTo>
                  <a:close/>
                </a:path>
              </a:pathLst>
            </a:custGeom>
            <a:blipFill>
              <a:blip r:embed="rId3">
                <a:alphaModFix amt="0"/>
              </a:blip>
              <a:stretch>
                <a:fillRect l="-33397" t="0" r="-33397" b="0"/>
              </a:stretch>
            </a:blipFill>
          </p:spPr>
        </p:sp>
        <p:sp>
          <p:nvSpPr>
            <p:cNvPr name="TextBox 39" id="39"/>
            <p:cNvSpPr txBox="true"/>
            <p:nvPr/>
          </p:nvSpPr>
          <p:spPr>
            <a:xfrm>
              <a:off x="0" y="-28575"/>
              <a:ext cx="1905000" cy="1266825"/>
            </a:xfrm>
            <a:prstGeom prst="rect">
              <a:avLst/>
            </a:prstGeom>
          </p:spPr>
          <p:txBody>
            <a:bodyPr anchor="ctr" rtlCol="false" tIns="0" lIns="0" bIns="0" rIns="0"/>
            <a:lstStyle/>
            <a:p>
              <a:pPr algn="l">
                <a:lnSpc>
                  <a:spcPts val="2700"/>
                </a:lnSpc>
              </a:pPr>
              <a:r>
                <a:rPr lang="en-US" sz="2250">
                  <a:solidFill>
                    <a:srgbClr val="59757B"/>
                  </a:solidFill>
                  <a:latin typeface="Helvetica"/>
                  <a:ea typeface="Helvetica"/>
                  <a:cs typeface="Helvetica"/>
                  <a:sym typeface="Helvetica"/>
                </a:rPr>
                <a:t>Modelos</a:t>
              </a:r>
            </a:p>
            <a:p>
              <a:pPr algn="l">
                <a:lnSpc>
                  <a:spcPts val="2700"/>
                </a:lnSpc>
              </a:pPr>
              <a:r>
                <a:rPr lang="en-US" sz="2250">
                  <a:solidFill>
                    <a:srgbClr val="59757B"/>
                  </a:solidFill>
                  <a:latin typeface="Helvetica"/>
                  <a:ea typeface="Helvetica"/>
                  <a:cs typeface="Helvetica"/>
                  <a:sym typeface="Helvetica"/>
                </a:rPr>
                <a:t>Django</a:t>
              </a:r>
            </a:p>
          </p:txBody>
        </p:sp>
      </p:grpSp>
      <p:grpSp>
        <p:nvGrpSpPr>
          <p:cNvPr name="Group 40" id="40"/>
          <p:cNvGrpSpPr/>
          <p:nvPr/>
        </p:nvGrpSpPr>
        <p:grpSpPr>
          <a:xfrm rot="0">
            <a:off x="914400" y="2957512"/>
            <a:ext cx="4000500" cy="614362"/>
            <a:chOff x="0" y="0"/>
            <a:chExt cx="5334000" cy="819150"/>
          </a:xfrm>
        </p:grpSpPr>
        <p:sp>
          <p:nvSpPr>
            <p:cNvPr name="Freeform 41" id="41"/>
            <p:cNvSpPr/>
            <p:nvPr/>
          </p:nvSpPr>
          <p:spPr>
            <a:xfrm flipH="false" flipV="false" rot="0">
              <a:off x="0" y="0"/>
              <a:ext cx="5334000" cy="819150"/>
            </a:xfrm>
            <a:custGeom>
              <a:avLst/>
              <a:gdLst/>
              <a:ahLst/>
              <a:cxnLst/>
              <a:rect r="r" b="b" t="t" l="l"/>
              <a:pathLst>
                <a:path h="819150" w="5334000">
                  <a:moveTo>
                    <a:pt x="0" y="0"/>
                  </a:moveTo>
                  <a:lnTo>
                    <a:pt x="5334000" y="0"/>
                  </a:lnTo>
                  <a:lnTo>
                    <a:pt x="5334000" y="819150"/>
                  </a:lnTo>
                  <a:lnTo>
                    <a:pt x="0" y="819150"/>
                  </a:lnTo>
                  <a:close/>
                </a:path>
              </a:pathLst>
            </a:custGeom>
            <a:blipFill>
              <a:blip r:embed="rId3">
                <a:alphaModFix amt="0"/>
              </a:blip>
              <a:stretch>
                <a:fillRect l="0" t="-76879" r="0" b="-76879"/>
              </a:stretch>
            </a:blipFill>
          </p:spPr>
        </p:sp>
        <p:sp>
          <p:nvSpPr>
            <p:cNvPr name="TextBox 42" id="42"/>
            <p:cNvSpPr txBox="true"/>
            <p:nvPr/>
          </p:nvSpPr>
          <p:spPr>
            <a:xfrm>
              <a:off x="0" y="-28575"/>
              <a:ext cx="5334000" cy="847725"/>
            </a:xfrm>
            <a:prstGeom prst="rect">
              <a:avLst/>
            </a:prstGeom>
          </p:spPr>
          <p:txBody>
            <a:bodyPr anchor="ctr" rtlCol="false" tIns="0" lIns="0" bIns="0" rIns="0"/>
            <a:lstStyle/>
            <a:p>
              <a:pPr algn="l">
                <a:lnSpc>
                  <a:spcPts val="2835"/>
                </a:lnSpc>
              </a:pPr>
              <a:r>
                <a:rPr lang="en-US" sz="2362">
                  <a:solidFill>
                    <a:srgbClr val="59757B"/>
                  </a:solidFill>
                  <a:latin typeface="Helvetica"/>
                  <a:ea typeface="Helvetica"/>
                  <a:cs typeface="Helvetica"/>
                  <a:sym typeface="Helvetica"/>
                </a:rPr>
                <a:t>Usuario propietario</a:t>
              </a:r>
            </a:p>
            <a:p>
              <a:pPr algn="l">
                <a:lnSpc>
                  <a:spcPts val="2835"/>
                </a:lnSpc>
              </a:pPr>
              <a:r>
                <a:rPr lang="en-US" sz="2362">
                  <a:solidFill>
                    <a:srgbClr val="59757B"/>
                  </a:solidFill>
                  <a:latin typeface="Helvetica"/>
                  <a:ea typeface="Helvetica"/>
                  <a:cs typeface="Helvetica"/>
                  <a:sym typeface="Helvetica"/>
                </a:rPr>
                <a:t>o destinatario autenticado</a:t>
              </a:r>
            </a:p>
          </p:txBody>
        </p:sp>
      </p:grpSp>
      <p:grpSp>
        <p:nvGrpSpPr>
          <p:cNvPr name="Group 43" id="43"/>
          <p:cNvGrpSpPr/>
          <p:nvPr/>
        </p:nvGrpSpPr>
        <p:grpSpPr>
          <a:xfrm rot="0">
            <a:off x="914400" y="8972550"/>
            <a:ext cx="16002000" cy="485775"/>
            <a:chOff x="0" y="0"/>
            <a:chExt cx="21336000" cy="647700"/>
          </a:xfrm>
        </p:grpSpPr>
        <p:sp>
          <p:nvSpPr>
            <p:cNvPr name="Freeform 44" id="44"/>
            <p:cNvSpPr/>
            <p:nvPr/>
          </p:nvSpPr>
          <p:spPr>
            <a:xfrm flipH="false" flipV="false" rot="0">
              <a:off x="0" y="0"/>
              <a:ext cx="21336000" cy="647700"/>
            </a:xfrm>
            <a:custGeom>
              <a:avLst/>
              <a:gdLst/>
              <a:ahLst/>
              <a:cxnLst/>
              <a:rect r="r" b="b" t="t" l="l"/>
              <a:pathLst>
                <a:path h="647700" w="21336000">
                  <a:moveTo>
                    <a:pt x="0" y="0"/>
                  </a:moveTo>
                  <a:lnTo>
                    <a:pt x="21336000" y="0"/>
                  </a:lnTo>
                  <a:lnTo>
                    <a:pt x="21336000" y="647700"/>
                  </a:lnTo>
                  <a:lnTo>
                    <a:pt x="0" y="647700"/>
                  </a:lnTo>
                  <a:close/>
                </a:path>
              </a:pathLst>
            </a:custGeom>
            <a:blipFill>
              <a:blip r:embed="rId3">
                <a:alphaModFix amt="0"/>
              </a:blip>
              <a:stretch>
                <a:fillRect l="0" t="-591860" r="0" b="-591860"/>
              </a:stretch>
            </a:blipFill>
          </p:spPr>
        </p:sp>
        <p:sp>
          <p:nvSpPr>
            <p:cNvPr name="TextBox 45" id="45"/>
            <p:cNvSpPr txBox="true"/>
            <p:nvPr/>
          </p:nvSpPr>
          <p:spPr>
            <a:xfrm>
              <a:off x="0" y="-28575"/>
              <a:ext cx="21336000" cy="676275"/>
            </a:xfrm>
            <a:prstGeom prst="rect">
              <a:avLst/>
            </a:prstGeom>
          </p:spPr>
          <p:txBody>
            <a:bodyPr anchor="ctr" rtlCol="false" tIns="0" lIns="0" bIns="0" rIns="0"/>
            <a:lstStyle/>
            <a:p>
              <a:pPr algn="l">
                <a:lnSpc>
                  <a:spcPts val="3240"/>
                </a:lnSpc>
              </a:pPr>
              <a:r>
                <a:rPr lang="en-US" sz="2700" b="true">
                  <a:solidFill>
                    <a:srgbClr val="117B82"/>
                  </a:solidFill>
                  <a:latin typeface="Helvetica Bold"/>
                  <a:ea typeface="Helvetica Bold"/>
                  <a:cs typeface="Helvetica Bold"/>
                  <a:sym typeface="Helvetica Bold"/>
                </a:rPr>
                <a:t>Extracción con revisión humana. Motor OCR/IA aún por seleccionar.</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F7F6"/>
        </a:solidFill>
      </p:bgPr>
    </p:bg>
    <p:spTree>
      <p:nvGrpSpPr>
        <p:cNvPr id="1" name=""/>
        <p:cNvGrpSpPr/>
        <p:nvPr/>
      </p:nvGrpSpPr>
      <p:grpSpPr>
        <a:xfrm>
          <a:off x="0" y="0"/>
          <a:ext cx="0" cy="0"/>
          <a:chOff x="0" y="0"/>
          <a:chExt cx="0" cy="0"/>
        </a:xfrm>
      </p:grpSpPr>
      <p:sp>
        <p:nvSpPr>
          <p:cNvPr name="AutoShape 2" id="2"/>
          <p:cNvSpPr/>
          <p:nvPr/>
        </p:nvSpPr>
        <p:spPr>
          <a:xfrm rot="5339700">
            <a:off x="6136357" y="5905500"/>
            <a:ext cx="1629023" cy="19050"/>
          </a:xfrm>
          <a:prstGeom prst="line">
            <a:avLst/>
          </a:prstGeom>
          <a:ln cap="rnd" w="19050">
            <a:solidFill>
              <a:srgbClr val="117B82"/>
            </a:solidFill>
            <a:prstDash val="solid"/>
            <a:headEnd type="none" len="sm" w="sm"/>
            <a:tailEnd type="none" len="sm" w="sm"/>
          </a:ln>
        </p:spPr>
      </p:sp>
      <p:sp>
        <p:nvSpPr>
          <p:cNvPr name="AutoShape 3" id="3"/>
          <p:cNvSpPr/>
          <p:nvPr/>
        </p:nvSpPr>
        <p:spPr>
          <a:xfrm rot="95460">
            <a:off x="4257475" y="7584281"/>
            <a:ext cx="1029100" cy="19050"/>
          </a:xfrm>
          <a:prstGeom prst="line">
            <a:avLst/>
          </a:prstGeom>
          <a:ln cap="rnd" w="19050">
            <a:solidFill>
              <a:srgbClr val="117B82"/>
            </a:solidFill>
            <a:prstDash val="solid"/>
            <a:headEnd type="none" len="sm" w="sm"/>
            <a:tailEnd type="none" len="sm" w="sm"/>
          </a:ln>
        </p:spPr>
      </p:sp>
      <p:sp>
        <p:nvSpPr>
          <p:cNvPr name="AutoShape 4" id="4"/>
          <p:cNvSpPr/>
          <p:nvPr/>
        </p:nvSpPr>
        <p:spPr>
          <a:xfrm rot="5339700">
            <a:off x="1778670" y="5905500"/>
            <a:ext cx="1629023" cy="19050"/>
          </a:xfrm>
          <a:prstGeom prst="line">
            <a:avLst/>
          </a:prstGeom>
          <a:ln cap="rnd" w="19050">
            <a:solidFill>
              <a:srgbClr val="117B82"/>
            </a:solidFill>
            <a:prstDash val="solid"/>
            <a:headEnd type="none" len="sm" w="sm"/>
            <a:tailEnd type="none" len="sm" w="sm"/>
          </a:ln>
        </p:spPr>
      </p:sp>
      <p:sp>
        <p:nvSpPr>
          <p:cNvPr name="AutoShape 5" id="5"/>
          <p:cNvSpPr/>
          <p:nvPr/>
        </p:nvSpPr>
        <p:spPr>
          <a:xfrm rot="95460">
            <a:off x="12972850" y="4298156"/>
            <a:ext cx="1029100" cy="19050"/>
          </a:xfrm>
          <a:prstGeom prst="line">
            <a:avLst/>
          </a:prstGeom>
          <a:ln cap="rnd" w="19050">
            <a:solidFill>
              <a:srgbClr val="117B82"/>
            </a:solidFill>
            <a:prstDash val="solid"/>
            <a:headEnd type="none" len="sm" w="sm"/>
            <a:tailEnd type="none" len="sm" w="sm"/>
          </a:ln>
        </p:spPr>
      </p:sp>
      <p:sp>
        <p:nvSpPr>
          <p:cNvPr name="AutoShape 6" id="6"/>
          <p:cNvSpPr/>
          <p:nvPr/>
        </p:nvSpPr>
        <p:spPr>
          <a:xfrm rot="95460">
            <a:off x="8615162" y="4298156"/>
            <a:ext cx="1029100" cy="19050"/>
          </a:xfrm>
          <a:prstGeom prst="line">
            <a:avLst/>
          </a:prstGeom>
          <a:ln cap="rnd" w="19050">
            <a:solidFill>
              <a:srgbClr val="117B82"/>
            </a:solidFill>
            <a:prstDash val="solid"/>
            <a:headEnd type="none" len="sm" w="sm"/>
            <a:tailEnd type="none" len="sm" w="sm"/>
          </a:ln>
        </p:spPr>
      </p:sp>
      <p:sp>
        <p:nvSpPr>
          <p:cNvPr name="AutoShape 7" id="7"/>
          <p:cNvSpPr/>
          <p:nvPr/>
        </p:nvSpPr>
        <p:spPr>
          <a:xfrm rot="95460">
            <a:off x="4257475" y="4298156"/>
            <a:ext cx="1029100" cy="19050"/>
          </a:xfrm>
          <a:prstGeom prst="line">
            <a:avLst/>
          </a:prstGeom>
          <a:ln cap="rnd" w="19050">
            <a:solidFill>
              <a:srgbClr val="117B82"/>
            </a:solidFill>
            <a:prstDash val="solid"/>
            <a:headEnd type="none" len="sm" w="sm"/>
            <a:tailEnd type="none" len="sm" w="sm"/>
          </a:ln>
        </p:spPr>
      </p:sp>
      <p:grpSp>
        <p:nvGrpSpPr>
          <p:cNvPr name="Group 8" id="8"/>
          <p:cNvGrpSpPr/>
          <p:nvPr/>
        </p:nvGrpSpPr>
        <p:grpSpPr>
          <a:xfrm rot="0">
            <a:off x="914400" y="285750"/>
            <a:ext cx="3000375" cy="342900"/>
            <a:chOff x="0" y="0"/>
            <a:chExt cx="4000500" cy="457200"/>
          </a:xfrm>
        </p:grpSpPr>
        <p:sp>
          <p:nvSpPr>
            <p:cNvPr name="Freeform 9" id="9"/>
            <p:cNvSpPr/>
            <p:nvPr/>
          </p:nvSpPr>
          <p:spPr>
            <a:xfrm flipH="false" flipV="false" rot="0">
              <a:off x="0" y="0"/>
              <a:ext cx="4000500" cy="457200"/>
            </a:xfrm>
            <a:custGeom>
              <a:avLst/>
              <a:gdLst/>
              <a:ahLst/>
              <a:cxnLst/>
              <a:rect r="r" b="b" t="t" l="l"/>
              <a:pathLst>
                <a:path h="457200" w="4000500">
                  <a:moveTo>
                    <a:pt x="0" y="0"/>
                  </a:moveTo>
                  <a:lnTo>
                    <a:pt x="4000500" y="0"/>
                  </a:lnTo>
                  <a:lnTo>
                    <a:pt x="4000500" y="457200"/>
                  </a:lnTo>
                  <a:lnTo>
                    <a:pt x="0" y="457200"/>
                  </a:lnTo>
                  <a:close/>
                </a:path>
              </a:pathLst>
            </a:custGeom>
            <a:blipFill>
              <a:blip r:embed="rId3">
                <a:alphaModFix amt="0"/>
              </a:blip>
              <a:stretch>
                <a:fillRect l="0" t="-120494" r="0" b="-120494"/>
              </a:stretch>
            </a:blipFill>
          </p:spPr>
        </p:sp>
        <p:sp>
          <p:nvSpPr>
            <p:cNvPr name="TextBox 10" id="10"/>
            <p:cNvSpPr txBox="true"/>
            <p:nvPr/>
          </p:nvSpPr>
          <p:spPr>
            <a:xfrm>
              <a:off x="0" y="-19050"/>
              <a:ext cx="4000500" cy="476250"/>
            </a:xfrm>
            <a:prstGeom prst="rect">
              <a:avLst/>
            </a:prstGeom>
          </p:spPr>
          <p:txBody>
            <a:bodyPr anchor="ctr" rtlCol="false" tIns="0" lIns="0" bIns="0" rIns="0"/>
            <a:lstStyle/>
            <a:p>
              <a:pPr algn="l">
                <a:lnSpc>
                  <a:spcPts val="2295"/>
                </a:lnSpc>
              </a:pPr>
              <a:r>
                <a:rPr lang="en-US" sz="1912" b="true">
                  <a:solidFill>
                    <a:srgbClr val="117B82"/>
                  </a:solidFill>
                  <a:latin typeface="Helvetica Bold"/>
                  <a:ea typeface="Helvetica Bold"/>
                  <a:cs typeface="Helvetica Bold"/>
                  <a:sym typeface="Helvetica Bold"/>
                </a:rPr>
                <a:t>MEDLINK</a:t>
              </a:r>
            </a:p>
          </p:txBody>
        </p:sp>
      </p:grpSp>
      <p:grpSp>
        <p:nvGrpSpPr>
          <p:cNvPr name="Group 11" id="11"/>
          <p:cNvGrpSpPr/>
          <p:nvPr/>
        </p:nvGrpSpPr>
        <p:grpSpPr>
          <a:xfrm rot="0">
            <a:off x="914400" y="728662"/>
            <a:ext cx="16287750" cy="928688"/>
            <a:chOff x="0" y="0"/>
            <a:chExt cx="21717000" cy="1238250"/>
          </a:xfrm>
        </p:grpSpPr>
        <p:sp>
          <p:nvSpPr>
            <p:cNvPr name="Freeform 12" id="12"/>
            <p:cNvSpPr/>
            <p:nvPr/>
          </p:nvSpPr>
          <p:spPr>
            <a:xfrm flipH="false" flipV="false" rot="0">
              <a:off x="0" y="0"/>
              <a:ext cx="21717000" cy="1238250"/>
            </a:xfrm>
            <a:custGeom>
              <a:avLst/>
              <a:gdLst/>
              <a:ahLst/>
              <a:cxnLst/>
              <a:rect r="r" b="b" t="t" l="l"/>
              <a:pathLst>
                <a:path h="1238250" w="21717000">
                  <a:moveTo>
                    <a:pt x="0" y="0"/>
                  </a:moveTo>
                  <a:lnTo>
                    <a:pt x="21717000" y="0"/>
                  </a:lnTo>
                  <a:lnTo>
                    <a:pt x="21717000" y="1238250"/>
                  </a:lnTo>
                  <a:lnTo>
                    <a:pt x="0" y="1238250"/>
                  </a:lnTo>
                  <a:close/>
                </a:path>
              </a:pathLst>
            </a:custGeom>
            <a:blipFill>
              <a:blip r:embed="rId3">
                <a:alphaModFix amt="0"/>
              </a:blip>
              <a:stretch>
                <a:fillRect l="0" t="-291737" r="0" b="-291737"/>
              </a:stretch>
            </a:blipFill>
          </p:spPr>
        </p:sp>
        <p:sp>
          <p:nvSpPr>
            <p:cNvPr name="TextBox 13" id="13"/>
            <p:cNvSpPr txBox="true"/>
            <p:nvPr/>
          </p:nvSpPr>
          <p:spPr>
            <a:xfrm>
              <a:off x="0" y="-38100"/>
              <a:ext cx="21717000" cy="1276350"/>
            </a:xfrm>
            <a:prstGeom prst="rect">
              <a:avLst/>
            </a:prstGeom>
          </p:spPr>
          <p:txBody>
            <a:bodyPr anchor="ctr" rtlCol="false" tIns="0" lIns="0" bIns="0" rIns="0"/>
            <a:lstStyle/>
            <a:p>
              <a:pPr algn="l">
                <a:lnSpc>
                  <a:spcPts val="5670"/>
                </a:lnSpc>
              </a:pPr>
              <a:r>
                <a:rPr lang="en-US" sz="4725" b="true">
                  <a:solidFill>
                    <a:srgbClr val="173B47"/>
                  </a:solidFill>
                  <a:latin typeface="Helvetica Bold"/>
                  <a:ea typeface="Helvetica Bold"/>
                  <a:cs typeface="Helvetica Bold"/>
                  <a:sym typeface="Helvetica Bold"/>
                </a:rPr>
                <a:t>Modelo inicial de datos</a:t>
              </a:r>
            </a:p>
          </p:txBody>
        </p:sp>
      </p:grpSp>
      <p:sp>
        <p:nvSpPr>
          <p:cNvPr name="AutoShape 14" id="14"/>
          <p:cNvSpPr/>
          <p:nvPr/>
        </p:nvSpPr>
        <p:spPr>
          <a:xfrm rot="4500">
            <a:off x="903675" y="1838325"/>
            <a:ext cx="16480650" cy="0"/>
          </a:xfrm>
          <a:prstGeom prst="line">
            <a:avLst/>
          </a:prstGeom>
          <a:ln cap="rnd" w="9525">
            <a:solidFill>
              <a:srgbClr val="D2E4E2"/>
            </a:solidFill>
            <a:prstDash val="solid"/>
            <a:headEnd type="none" len="sm" w="sm"/>
            <a:tailEnd type="none" len="sm" w="sm"/>
          </a:ln>
        </p:spPr>
      </p:sp>
      <p:grpSp>
        <p:nvGrpSpPr>
          <p:cNvPr name="Group 15" id="15"/>
          <p:cNvGrpSpPr/>
          <p:nvPr/>
        </p:nvGrpSpPr>
        <p:grpSpPr>
          <a:xfrm rot="0">
            <a:off x="16144875" y="9572625"/>
            <a:ext cx="1228725" cy="357188"/>
            <a:chOff x="0" y="0"/>
            <a:chExt cx="1638300" cy="476250"/>
          </a:xfrm>
        </p:grpSpPr>
        <p:sp>
          <p:nvSpPr>
            <p:cNvPr name="Freeform 16" id="16"/>
            <p:cNvSpPr/>
            <p:nvPr/>
          </p:nvSpPr>
          <p:spPr>
            <a:xfrm flipH="false" flipV="false" rot="0">
              <a:off x="0" y="0"/>
              <a:ext cx="1638300" cy="476250"/>
            </a:xfrm>
            <a:custGeom>
              <a:avLst/>
              <a:gdLst/>
              <a:ahLst/>
              <a:cxnLst/>
              <a:rect r="r" b="b" t="t" l="l"/>
              <a:pathLst>
                <a:path h="476250" w="1638300">
                  <a:moveTo>
                    <a:pt x="0" y="0"/>
                  </a:moveTo>
                  <a:lnTo>
                    <a:pt x="1638300" y="0"/>
                  </a:lnTo>
                  <a:lnTo>
                    <a:pt x="1638300" y="476250"/>
                  </a:lnTo>
                  <a:lnTo>
                    <a:pt x="0" y="476250"/>
                  </a:lnTo>
                  <a:close/>
                </a:path>
              </a:pathLst>
            </a:custGeom>
            <a:blipFill>
              <a:blip r:embed="rId3">
                <a:alphaModFix amt="0"/>
              </a:blip>
              <a:stretch>
                <a:fillRect l="0" t="-17028" r="0" b="-17028"/>
              </a:stretch>
            </a:blipFill>
          </p:spPr>
        </p:sp>
        <p:sp>
          <p:nvSpPr>
            <p:cNvPr name="TextBox 17" id="17"/>
            <p:cNvSpPr txBox="true"/>
            <p:nvPr/>
          </p:nvSpPr>
          <p:spPr>
            <a:xfrm>
              <a:off x="0" y="-19050"/>
              <a:ext cx="1638300" cy="495300"/>
            </a:xfrm>
            <a:prstGeom prst="rect">
              <a:avLst/>
            </a:prstGeom>
          </p:spPr>
          <p:txBody>
            <a:bodyPr anchor="ctr" rtlCol="false" tIns="0" lIns="0" bIns="0" rIns="0"/>
            <a:lstStyle/>
            <a:p>
              <a:pPr algn="l">
                <a:lnSpc>
                  <a:spcPts val="2430"/>
                </a:lnSpc>
              </a:pPr>
              <a:r>
                <a:rPr lang="en-US" sz="2025">
                  <a:solidFill>
                    <a:srgbClr val="59757B"/>
                  </a:solidFill>
                  <a:latin typeface="Helvetica"/>
                  <a:ea typeface="Helvetica"/>
                  <a:cs typeface="Helvetica"/>
                  <a:sym typeface="Helvetica"/>
                </a:rPr>
                <a:t>06 / 09</a:t>
              </a:r>
            </a:p>
          </p:txBody>
        </p:sp>
      </p:grpSp>
      <p:grpSp>
        <p:nvGrpSpPr>
          <p:cNvPr name="Group 18" id="18"/>
          <p:cNvGrpSpPr/>
          <p:nvPr/>
        </p:nvGrpSpPr>
        <p:grpSpPr>
          <a:xfrm rot="0">
            <a:off x="914400" y="2214562"/>
            <a:ext cx="16287750" cy="571500"/>
            <a:chOff x="0" y="0"/>
            <a:chExt cx="21717000" cy="762000"/>
          </a:xfrm>
        </p:grpSpPr>
        <p:sp>
          <p:nvSpPr>
            <p:cNvPr name="Freeform 19" id="19"/>
            <p:cNvSpPr/>
            <p:nvPr/>
          </p:nvSpPr>
          <p:spPr>
            <a:xfrm flipH="false" flipV="false" rot="0">
              <a:off x="0" y="0"/>
              <a:ext cx="21717000" cy="762000"/>
            </a:xfrm>
            <a:custGeom>
              <a:avLst/>
              <a:gdLst/>
              <a:ahLst/>
              <a:cxnLst/>
              <a:rect r="r" b="b" t="t" l="l"/>
              <a:pathLst>
                <a:path h="762000" w="21717000">
                  <a:moveTo>
                    <a:pt x="0" y="0"/>
                  </a:moveTo>
                  <a:lnTo>
                    <a:pt x="21717000" y="0"/>
                  </a:lnTo>
                  <a:lnTo>
                    <a:pt x="21717000" y="762000"/>
                  </a:lnTo>
                  <a:lnTo>
                    <a:pt x="0" y="762000"/>
                  </a:lnTo>
                  <a:close/>
                </a:path>
              </a:pathLst>
            </a:custGeom>
            <a:blipFill>
              <a:blip r:embed="rId3">
                <a:alphaModFix amt="0"/>
              </a:blip>
              <a:stretch>
                <a:fillRect l="0" t="-505323" r="0" b="-505323"/>
              </a:stretch>
            </a:blipFill>
          </p:spPr>
        </p:sp>
        <p:sp>
          <p:nvSpPr>
            <p:cNvPr name="TextBox 20" id="20"/>
            <p:cNvSpPr txBox="true"/>
            <p:nvPr/>
          </p:nvSpPr>
          <p:spPr>
            <a:xfrm>
              <a:off x="0" y="-19050"/>
              <a:ext cx="21717000" cy="781050"/>
            </a:xfrm>
            <a:prstGeom prst="rect">
              <a:avLst/>
            </a:prstGeom>
          </p:spPr>
          <p:txBody>
            <a:bodyPr anchor="ctr" rtlCol="false" tIns="0" lIns="0" bIns="0" rIns="0"/>
            <a:lstStyle/>
            <a:p>
              <a:pPr algn="l">
                <a:lnSpc>
                  <a:spcPts val="3510"/>
                </a:lnSpc>
              </a:pPr>
              <a:r>
                <a:rPr lang="en-US" sz="2925" b="true">
                  <a:solidFill>
                    <a:srgbClr val="117B82"/>
                  </a:solidFill>
                  <a:latin typeface="Helvetica Bold"/>
                  <a:ea typeface="Helvetica Bold"/>
                  <a:cs typeface="Helvetica Bold"/>
                  <a:sym typeface="Helvetica Bold"/>
                </a:rPr>
                <a:t>Modelo lógico propuesto para PostgreSQL y Django</a:t>
              </a:r>
            </a:p>
          </p:txBody>
        </p:sp>
      </p:grpSp>
      <p:grpSp>
        <p:nvGrpSpPr>
          <p:cNvPr name="Group 21" id="21"/>
          <p:cNvGrpSpPr/>
          <p:nvPr/>
        </p:nvGrpSpPr>
        <p:grpSpPr>
          <a:xfrm rot="0">
            <a:off x="907256" y="3493294"/>
            <a:ext cx="3371850" cy="1628775"/>
            <a:chOff x="0" y="0"/>
            <a:chExt cx="4495800" cy="2171700"/>
          </a:xfrm>
        </p:grpSpPr>
        <p:sp>
          <p:nvSpPr>
            <p:cNvPr name="Freeform 22" id="22"/>
            <p:cNvSpPr/>
            <p:nvPr/>
          </p:nvSpPr>
          <p:spPr>
            <a:xfrm flipH="false" flipV="false" rot="0">
              <a:off x="0" y="0"/>
              <a:ext cx="4495800" cy="2171700"/>
            </a:xfrm>
            <a:custGeom>
              <a:avLst/>
              <a:gdLst/>
              <a:ahLst/>
              <a:cxnLst/>
              <a:rect r="r" b="b" t="t" l="l"/>
              <a:pathLst>
                <a:path h="2171700" w="4495800">
                  <a:moveTo>
                    <a:pt x="0" y="192151"/>
                  </a:moveTo>
                  <a:cubicBezTo>
                    <a:pt x="0" y="86106"/>
                    <a:pt x="86106" y="0"/>
                    <a:pt x="192151" y="0"/>
                  </a:cubicBezTo>
                  <a:lnTo>
                    <a:pt x="4303649" y="0"/>
                  </a:lnTo>
                  <a:cubicBezTo>
                    <a:pt x="4409694" y="0"/>
                    <a:pt x="4495800" y="86106"/>
                    <a:pt x="4495800" y="192151"/>
                  </a:cubicBezTo>
                  <a:lnTo>
                    <a:pt x="4495800" y="1979549"/>
                  </a:lnTo>
                  <a:cubicBezTo>
                    <a:pt x="4495800" y="2085721"/>
                    <a:pt x="4409694" y="2171700"/>
                    <a:pt x="4303649" y="2171700"/>
                  </a:cubicBezTo>
                  <a:lnTo>
                    <a:pt x="192151" y="2171700"/>
                  </a:lnTo>
                  <a:cubicBezTo>
                    <a:pt x="86106" y="2171700"/>
                    <a:pt x="0" y="2085594"/>
                    <a:pt x="0" y="1979549"/>
                  </a:cubicBezTo>
                  <a:close/>
                </a:path>
              </a:pathLst>
            </a:custGeom>
            <a:solidFill>
              <a:srgbClr val="FFFFFF"/>
            </a:solidFill>
            <a:ln w="14288" cap="sq">
              <a:solidFill>
                <a:srgbClr val="8FBDBA"/>
              </a:solidFill>
              <a:prstDash val="solid"/>
              <a:miter/>
            </a:ln>
          </p:spPr>
        </p:sp>
        <p:sp>
          <p:nvSpPr>
            <p:cNvPr name="TextBox 23" id="23"/>
            <p:cNvSpPr txBox="true"/>
            <p:nvPr/>
          </p:nvSpPr>
          <p:spPr>
            <a:xfrm>
              <a:off x="0" y="-19050"/>
              <a:ext cx="4495800" cy="2190750"/>
            </a:xfrm>
            <a:prstGeom prst="rect">
              <a:avLst/>
            </a:prstGeom>
          </p:spPr>
          <p:txBody>
            <a:bodyPr anchor="ctr" rtlCol="false" tIns="50800" lIns="50800" bIns="50800" rIns="50800"/>
            <a:lstStyle/>
            <a:p>
              <a:pPr algn="ctr">
                <a:lnSpc>
                  <a:spcPts val="2970"/>
                </a:lnSpc>
              </a:pPr>
              <a:r>
                <a:rPr lang="en-US" sz="2475" b="true">
                  <a:solidFill>
                    <a:srgbClr val="117B82"/>
                  </a:solidFill>
                  <a:latin typeface="Helvetica Bold"/>
                  <a:ea typeface="Helvetica Bold"/>
                  <a:cs typeface="Helvetica Bold"/>
                  <a:sym typeface="Helvetica Bold"/>
                </a:rPr>
                <a:t>USUARIO</a:t>
              </a:r>
            </a:p>
            <a:p>
              <a:pPr algn="ctr">
                <a:lnSpc>
                  <a:spcPts val="2970"/>
                </a:lnSpc>
              </a:pPr>
              <a:r>
                <a:rPr lang="en-US" sz="2475">
                  <a:solidFill>
                    <a:srgbClr val="173B47"/>
                  </a:solidFill>
                  <a:latin typeface="Helvetica"/>
                  <a:ea typeface="Helvetica"/>
                  <a:cs typeface="Helvetica"/>
                  <a:sym typeface="Helvetica"/>
                </a:rPr>
                <a:t>id (PK)</a:t>
              </a:r>
            </a:p>
            <a:p>
              <a:pPr algn="ctr">
                <a:lnSpc>
                  <a:spcPts val="2970"/>
                </a:lnSpc>
              </a:pPr>
              <a:r>
                <a:rPr lang="en-US" sz="2475">
                  <a:solidFill>
                    <a:srgbClr val="173B47"/>
                  </a:solidFill>
                  <a:latin typeface="Helvetica"/>
                  <a:ea typeface="Helvetica"/>
                  <a:cs typeface="Helvetica"/>
                  <a:sym typeface="Helvetica"/>
                </a:rPr>
                <a:t>email único</a:t>
              </a:r>
            </a:p>
          </p:txBody>
        </p:sp>
      </p:grpSp>
      <p:grpSp>
        <p:nvGrpSpPr>
          <p:cNvPr name="Group 24" id="24"/>
          <p:cNvGrpSpPr/>
          <p:nvPr/>
        </p:nvGrpSpPr>
        <p:grpSpPr>
          <a:xfrm rot="0">
            <a:off x="5264944" y="3493294"/>
            <a:ext cx="3371850" cy="1628775"/>
            <a:chOff x="0" y="0"/>
            <a:chExt cx="4495800" cy="2171700"/>
          </a:xfrm>
        </p:grpSpPr>
        <p:sp>
          <p:nvSpPr>
            <p:cNvPr name="Freeform 25" id="25"/>
            <p:cNvSpPr/>
            <p:nvPr/>
          </p:nvSpPr>
          <p:spPr>
            <a:xfrm flipH="false" flipV="false" rot="0">
              <a:off x="0" y="0"/>
              <a:ext cx="4495800" cy="2171700"/>
            </a:xfrm>
            <a:custGeom>
              <a:avLst/>
              <a:gdLst/>
              <a:ahLst/>
              <a:cxnLst/>
              <a:rect r="r" b="b" t="t" l="l"/>
              <a:pathLst>
                <a:path h="2171700" w="4495800">
                  <a:moveTo>
                    <a:pt x="0" y="192151"/>
                  </a:moveTo>
                  <a:cubicBezTo>
                    <a:pt x="0" y="86106"/>
                    <a:pt x="86106" y="0"/>
                    <a:pt x="192151" y="0"/>
                  </a:cubicBezTo>
                  <a:lnTo>
                    <a:pt x="4303649" y="0"/>
                  </a:lnTo>
                  <a:cubicBezTo>
                    <a:pt x="4409694" y="0"/>
                    <a:pt x="4495800" y="86106"/>
                    <a:pt x="4495800" y="192151"/>
                  </a:cubicBezTo>
                  <a:lnTo>
                    <a:pt x="4495800" y="1979549"/>
                  </a:lnTo>
                  <a:cubicBezTo>
                    <a:pt x="4495800" y="2085721"/>
                    <a:pt x="4409694" y="2171700"/>
                    <a:pt x="4303649" y="2171700"/>
                  </a:cubicBezTo>
                  <a:lnTo>
                    <a:pt x="192151" y="2171700"/>
                  </a:lnTo>
                  <a:cubicBezTo>
                    <a:pt x="86106" y="2171700"/>
                    <a:pt x="0" y="2085594"/>
                    <a:pt x="0" y="1979549"/>
                  </a:cubicBezTo>
                  <a:close/>
                </a:path>
              </a:pathLst>
            </a:custGeom>
            <a:solidFill>
              <a:srgbClr val="FFFFFF"/>
            </a:solidFill>
            <a:ln w="14288" cap="sq">
              <a:solidFill>
                <a:srgbClr val="8FBDBA"/>
              </a:solidFill>
              <a:prstDash val="solid"/>
              <a:miter/>
            </a:ln>
          </p:spPr>
        </p:sp>
        <p:sp>
          <p:nvSpPr>
            <p:cNvPr name="TextBox 26" id="26"/>
            <p:cNvSpPr txBox="true"/>
            <p:nvPr/>
          </p:nvSpPr>
          <p:spPr>
            <a:xfrm>
              <a:off x="0" y="-19050"/>
              <a:ext cx="4495800" cy="2190750"/>
            </a:xfrm>
            <a:prstGeom prst="rect">
              <a:avLst/>
            </a:prstGeom>
          </p:spPr>
          <p:txBody>
            <a:bodyPr anchor="ctr" rtlCol="false" tIns="50800" lIns="50800" bIns="50800" rIns="50800"/>
            <a:lstStyle/>
            <a:p>
              <a:pPr algn="ctr">
                <a:lnSpc>
                  <a:spcPts val="2970"/>
                </a:lnSpc>
              </a:pPr>
              <a:r>
                <a:rPr lang="en-US" sz="2475" b="true">
                  <a:solidFill>
                    <a:srgbClr val="117B82"/>
                  </a:solidFill>
                  <a:latin typeface="Helvetica Bold"/>
                  <a:ea typeface="Helvetica Bold"/>
                  <a:cs typeface="Helvetica Bold"/>
                  <a:sym typeface="Helvetica Bold"/>
                </a:rPr>
                <a:t>DOCUMENTO</a:t>
              </a:r>
            </a:p>
            <a:p>
              <a:pPr algn="ctr">
                <a:lnSpc>
                  <a:spcPts val="2970"/>
                </a:lnSpc>
              </a:pPr>
              <a:r>
                <a:rPr lang="en-US" sz="2475">
                  <a:solidFill>
                    <a:srgbClr val="173B47"/>
                  </a:solidFill>
                  <a:latin typeface="Helvetica"/>
                  <a:ea typeface="Helvetica"/>
                  <a:cs typeface="Helvetica"/>
                  <a:sym typeface="Helvetica"/>
                </a:rPr>
                <a:t>id (PK)</a:t>
              </a:r>
            </a:p>
            <a:p>
              <a:pPr algn="ctr">
                <a:lnSpc>
                  <a:spcPts val="2970"/>
                </a:lnSpc>
              </a:pPr>
              <a:r>
                <a:rPr lang="en-US" sz="2475">
                  <a:solidFill>
                    <a:srgbClr val="173B47"/>
                  </a:solidFill>
                  <a:latin typeface="Helvetica"/>
                  <a:ea typeface="Helvetica"/>
                  <a:cs typeface="Helvetica"/>
                  <a:sym typeface="Helvetica"/>
                </a:rPr>
                <a:t>propietario_id (FK)</a:t>
              </a:r>
            </a:p>
          </p:txBody>
        </p:sp>
      </p:grpSp>
      <p:grpSp>
        <p:nvGrpSpPr>
          <p:cNvPr name="Group 27" id="27"/>
          <p:cNvGrpSpPr/>
          <p:nvPr/>
        </p:nvGrpSpPr>
        <p:grpSpPr>
          <a:xfrm rot="0">
            <a:off x="9622631" y="3493294"/>
            <a:ext cx="3371850" cy="1628775"/>
            <a:chOff x="0" y="0"/>
            <a:chExt cx="4495800" cy="2171700"/>
          </a:xfrm>
        </p:grpSpPr>
        <p:sp>
          <p:nvSpPr>
            <p:cNvPr name="Freeform 28" id="28"/>
            <p:cNvSpPr/>
            <p:nvPr/>
          </p:nvSpPr>
          <p:spPr>
            <a:xfrm flipH="false" flipV="false" rot="0">
              <a:off x="0" y="0"/>
              <a:ext cx="4495800" cy="2171700"/>
            </a:xfrm>
            <a:custGeom>
              <a:avLst/>
              <a:gdLst/>
              <a:ahLst/>
              <a:cxnLst/>
              <a:rect r="r" b="b" t="t" l="l"/>
              <a:pathLst>
                <a:path h="2171700" w="4495800">
                  <a:moveTo>
                    <a:pt x="0" y="192151"/>
                  </a:moveTo>
                  <a:cubicBezTo>
                    <a:pt x="0" y="86106"/>
                    <a:pt x="86106" y="0"/>
                    <a:pt x="192151" y="0"/>
                  </a:cubicBezTo>
                  <a:lnTo>
                    <a:pt x="4303649" y="0"/>
                  </a:lnTo>
                  <a:cubicBezTo>
                    <a:pt x="4409694" y="0"/>
                    <a:pt x="4495800" y="86106"/>
                    <a:pt x="4495800" y="192151"/>
                  </a:cubicBezTo>
                  <a:lnTo>
                    <a:pt x="4495800" y="1979549"/>
                  </a:lnTo>
                  <a:cubicBezTo>
                    <a:pt x="4495800" y="2085721"/>
                    <a:pt x="4409694" y="2171700"/>
                    <a:pt x="4303649" y="2171700"/>
                  </a:cubicBezTo>
                  <a:lnTo>
                    <a:pt x="192151" y="2171700"/>
                  </a:lnTo>
                  <a:cubicBezTo>
                    <a:pt x="86106" y="2171700"/>
                    <a:pt x="0" y="2085594"/>
                    <a:pt x="0" y="1979549"/>
                  </a:cubicBezTo>
                  <a:close/>
                </a:path>
              </a:pathLst>
            </a:custGeom>
            <a:solidFill>
              <a:srgbClr val="FFFFFF"/>
            </a:solidFill>
            <a:ln w="14288" cap="sq">
              <a:solidFill>
                <a:srgbClr val="8FBDBA"/>
              </a:solidFill>
              <a:prstDash val="solid"/>
              <a:miter/>
            </a:ln>
          </p:spPr>
        </p:sp>
        <p:sp>
          <p:nvSpPr>
            <p:cNvPr name="TextBox 29" id="29"/>
            <p:cNvSpPr txBox="true"/>
            <p:nvPr/>
          </p:nvSpPr>
          <p:spPr>
            <a:xfrm>
              <a:off x="0" y="-19050"/>
              <a:ext cx="4495800" cy="2190750"/>
            </a:xfrm>
            <a:prstGeom prst="rect">
              <a:avLst/>
            </a:prstGeom>
          </p:spPr>
          <p:txBody>
            <a:bodyPr anchor="ctr" rtlCol="false" tIns="50800" lIns="50800" bIns="50800" rIns="50800"/>
            <a:lstStyle/>
            <a:p>
              <a:pPr algn="ctr">
                <a:lnSpc>
                  <a:spcPts val="2970"/>
                </a:lnSpc>
              </a:pPr>
              <a:r>
                <a:rPr lang="en-US" sz="2475" b="true">
                  <a:solidFill>
                    <a:srgbClr val="117B82"/>
                  </a:solidFill>
                  <a:latin typeface="Helvetica Bold"/>
                  <a:ea typeface="Helvetica Bold"/>
                  <a:cs typeface="Helvetica Bold"/>
                  <a:sym typeface="Helvetica Bold"/>
                </a:rPr>
                <a:t>EXTRACCIÓN</a:t>
              </a:r>
            </a:p>
            <a:p>
              <a:pPr algn="ctr">
                <a:lnSpc>
                  <a:spcPts val="2970"/>
                </a:lnSpc>
              </a:pPr>
              <a:r>
                <a:rPr lang="en-US" sz="2475">
                  <a:solidFill>
                    <a:srgbClr val="173B47"/>
                  </a:solidFill>
                  <a:latin typeface="Helvetica"/>
                  <a:ea typeface="Helvetica"/>
                  <a:cs typeface="Helvetica"/>
                  <a:sym typeface="Helvetica"/>
                </a:rPr>
                <a:t>id (PK)</a:t>
              </a:r>
            </a:p>
            <a:p>
              <a:pPr algn="ctr">
                <a:lnSpc>
                  <a:spcPts val="2970"/>
                </a:lnSpc>
              </a:pPr>
              <a:r>
                <a:rPr lang="en-US" sz="2475">
                  <a:solidFill>
                    <a:srgbClr val="173B47"/>
                  </a:solidFill>
                  <a:latin typeface="Helvetica"/>
                  <a:ea typeface="Helvetica"/>
                  <a:cs typeface="Helvetica"/>
                  <a:sym typeface="Helvetica"/>
                </a:rPr>
                <a:t>documento_id (FK)</a:t>
              </a:r>
            </a:p>
          </p:txBody>
        </p:sp>
      </p:grpSp>
      <p:grpSp>
        <p:nvGrpSpPr>
          <p:cNvPr name="Group 30" id="30"/>
          <p:cNvGrpSpPr/>
          <p:nvPr/>
        </p:nvGrpSpPr>
        <p:grpSpPr>
          <a:xfrm rot="0">
            <a:off x="13980319" y="3350419"/>
            <a:ext cx="3371850" cy="1914525"/>
            <a:chOff x="0" y="0"/>
            <a:chExt cx="4495800" cy="2552700"/>
          </a:xfrm>
        </p:grpSpPr>
        <p:sp>
          <p:nvSpPr>
            <p:cNvPr name="Freeform 31" id="31"/>
            <p:cNvSpPr/>
            <p:nvPr/>
          </p:nvSpPr>
          <p:spPr>
            <a:xfrm flipH="false" flipV="false" rot="0">
              <a:off x="0" y="0"/>
              <a:ext cx="4495800" cy="2552700"/>
            </a:xfrm>
            <a:custGeom>
              <a:avLst/>
              <a:gdLst/>
              <a:ahLst/>
              <a:cxnLst/>
              <a:rect r="r" b="b" t="t" l="l"/>
              <a:pathLst>
                <a:path h="2552700" w="4495800">
                  <a:moveTo>
                    <a:pt x="0" y="191897"/>
                  </a:moveTo>
                  <a:cubicBezTo>
                    <a:pt x="0" y="85979"/>
                    <a:pt x="85979" y="0"/>
                    <a:pt x="191897" y="0"/>
                  </a:cubicBezTo>
                  <a:lnTo>
                    <a:pt x="4303903" y="0"/>
                  </a:lnTo>
                  <a:cubicBezTo>
                    <a:pt x="4409821" y="0"/>
                    <a:pt x="4495800" y="85979"/>
                    <a:pt x="4495800" y="191897"/>
                  </a:cubicBezTo>
                  <a:lnTo>
                    <a:pt x="4495800" y="2360803"/>
                  </a:lnTo>
                  <a:cubicBezTo>
                    <a:pt x="4495800" y="2466848"/>
                    <a:pt x="4409821" y="2552700"/>
                    <a:pt x="4303903" y="2552700"/>
                  </a:cubicBezTo>
                  <a:lnTo>
                    <a:pt x="191897" y="2552700"/>
                  </a:lnTo>
                  <a:cubicBezTo>
                    <a:pt x="85979" y="2552700"/>
                    <a:pt x="0" y="2466721"/>
                    <a:pt x="0" y="2360803"/>
                  </a:cubicBezTo>
                  <a:close/>
                </a:path>
              </a:pathLst>
            </a:custGeom>
            <a:solidFill>
              <a:srgbClr val="FFFFFF"/>
            </a:solidFill>
            <a:ln w="14288" cap="sq">
              <a:solidFill>
                <a:srgbClr val="8FBDBA"/>
              </a:solidFill>
              <a:prstDash val="solid"/>
              <a:miter/>
            </a:ln>
          </p:spPr>
        </p:sp>
        <p:sp>
          <p:nvSpPr>
            <p:cNvPr name="TextBox 32" id="32"/>
            <p:cNvSpPr txBox="true"/>
            <p:nvPr/>
          </p:nvSpPr>
          <p:spPr>
            <a:xfrm>
              <a:off x="0" y="-28575"/>
              <a:ext cx="4495800" cy="2581275"/>
            </a:xfrm>
            <a:prstGeom prst="rect">
              <a:avLst/>
            </a:prstGeom>
          </p:spPr>
          <p:txBody>
            <a:bodyPr anchor="ctr" rtlCol="false" tIns="50800" lIns="50800" bIns="50800" rIns="50800"/>
            <a:lstStyle/>
            <a:p>
              <a:pPr algn="ctr">
                <a:lnSpc>
                  <a:spcPts val="2700"/>
                </a:lnSpc>
              </a:pPr>
              <a:r>
                <a:rPr lang="en-US" sz="2250" b="true">
                  <a:solidFill>
                    <a:srgbClr val="117B82"/>
                  </a:solidFill>
                  <a:latin typeface="Helvetica Bold"/>
                  <a:ea typeface="Helvetica Bold"/>
                  <a:cs typeface="Helvetica Bold"/>
                  <a:sym typeface="Helvetica Bold"/>
                </a:rPr>
                <a:t>ANTECEDENTE</a:t>
              </a:r>
            </a:p>
            <a:p>
              <a:pPr algn="ctr">
                <a:lnSpc>
                  <a:spcPts val="2700"/>
                </a:lnSpc>
              </a:pPr>
              <a:r>
                <a:rPr lang="en-US" sz="2250">
                  <a:solidFill>
                    <a:srgbClr val="173B47"/>
                  </a:solidFill>
                  <a:latin typeface="Helvetica"/>
                  <a:ea typeface="Helvetica"/>
                  <a:cs typeface="Helvetica"/>
                  <a:sym typeface="Helvetica"/>
                </a:rPr>
                <a:t>id (PK)</a:t>
              </a:r>
            </a:p>
            <a:p>
              <a:pPr algn="ctr">
                <a:lnSpc>
                  <a:spcPts val="2700"/>
                </a:lnSpc>
              </a:pPr>
              <a:r>
                <a:rPr lang="en-US" sz="2250">
                  <a:solidFill>
                    <a:srgbClr val="173B47"/>
                  </a:solidFill>
                  <a:latin typeface="Helvetica"/>
                  <a:ea typeface="Helvetica"/>
                  <a:cs typeface="Helvetica"/>
                  <a:sym typeface="Helvetica"/>
                </a:rPr>
                <a:t>documento_id (FK)</a:t>
              </a:r>
            </a:p>
            <a:p>
              <a:pPr algn="ctr">
                <a:lnSpc>
                  <a:spcPts val="2700"/>
                </a:lnSpc>
              </a:pPr>
              <a:r>
                <a:rPr lang="en-US" sz="2250">
                  <a:solidFill>
                    <a:srgbClr val="173B47"/>
                  </a:solidFill>
                  <a:latin typeface="Helvetica"/>
                  <a:ea typeface="Helvetica"/>
                  <a:cs typeface="Helvetica"/>
                  <a:sym typeface="Helvetica"/>
                </a:rPr>
                <a:t>extraccion_id (FK, opcional)</a:t>
              </a:r>
            </a:p>
          </p:txBody>
        </p:sp>
      </p:grpSp>
      <p:grpSp>
        <p:nvGrpSpPr>
          <p:cNvPr name="Group 33" id="33"/>
          <p:cNvGrpSpPr/>
          <p:nvPr/>
        </p:nvGrpSpPr>
        <p:grpSpPr>
          <a:xfrm rot="0">
            <a:off x="907256" y="6707981"/>
            <a:ext cx="3371850" cy="1771650"/>
            <a:chOff x="0" y="0"/>
            <a:chExt cx="4495800" cy="2362200"/>
          </a:xfrm>
        </p:grpSpPr>
        <p:sp>
          <p:nvSpPr>
            <p:cNvPr name="Freeform 34" id="34"/>
            <p:cNvSpPr/>
            <p:nvPr/>
          </p:nvSpPr>
          <p:spPr>
            <a:xfrm flipH="false" flipV="false" rot="0">
              <a:off x="0" y="0"/>
              <a:ext cx="4495800" cy="2362200"/>
            </a:xfrm>
            <a:custGeom>
              <a:avLst/>
              <a:gdLst/>
              <a:ahLst/>
              <a:cxnLst/>
              <a:rect r="r" b="b" t="t" l="l"/>
              <a:pathLst>
                <a:path h="2362200" w="4495800">
                  <a:moveTo>
                    <a:pt x="0" y="192024"/>
                  </a:moveTo>
                  <a:cubicBezTo>
                    <a:pt x="0" y="85979"/>
                    <a:pt x="85979" y="0"/>
                    <a:pt x="192024" y="0"/>
                  </a:cubicBezTo>
                  <a:lnTo>
                    <a:pt x="4303776" y="0"/>
                  </a:lnTo>
                  <a:cubicBezTo>
                    <a:pt x="4409821" y="0"/>
                    <a:pt x="4495800" y="85979"/>
                    <a:pt x="4495800" y="192024"/>
                  </a:cubicBezTo>
                  <a:lnTo>
                    <a:pt x="4495800" y="2170176"/>
                  </a:lnTo>
                  <a:cubicBezTo>
                    <a:pt x="4495800" y="2276221"/>
                    <a:pt x="4409821" y="2362200"/>
                    <a:pt x="4303776" y="2362200"/>
                  </a:cubicBezTo>
                  <a:lnTo>
                    <a:pt x="192024" y="2362200"/>
                  </a:lnTo>
                  <a:cubicBezTo>
                    <a:pt x="85979" y="2362200"/>
                    <a:pt x="0" y="2276221"/>
                    <a:pt x="0" y="2170176"/>
                  </a:cubicBezTo>
                  <a:close/>
                </a:path>
              </a:pathLst>
            </a:custGeom>
            <a:solidFill>
              <a:srgbClr val="FFFFFF"/>
            </a:solidFill>
            <a:ln w="14288" cap="sq">
              <a:solidFill>
                <a:srgbClr val="8FBDBA"/>
              </a:solidFill>
              <a:prstDash val="solid"/>
              <a:miter/>
            </a:ln>
          </p:spPr>
        </p:sp>
        <p:sp>
          <p:nvSpPr>
            <p:cNvPr name="TextBox 35" id="35"/>
            <p:cNvSpPr txBox="true"/>
            <p:nvPr/>
          </p:nvSpPr>
          <p:spPr>
            <a:xfrm>
              <a:off x="0" y="-28575"/>
              <a:ext cx="4495800" cy="2390775"/>
            </a:xfrm>
            <a:prstGeom prst="rect">
              <a:avLst/>
            </a:prstGeom>
          </p:spPr>
          <p:txBody>
            <a:bodyPr anchor="ctr" rtlCol="false" tIns="50800" lIns="50800" bIns="50800" rIns="50800"/>
            <a:lstStyle/>
            <a:p>
              <a:pPr algn="ctr">
                <a:lnSpc>
                  <a:spcPts val="2700"/>
                </a:lnSpc>
              </a:pPr>
              <a:r>
                <a:rPr lang="en-US" sz="2250" b="true">
                  <a:solidFill>
                    <a:srgbClr val="117B82"/>
                  </a:solidFill>
                  <a:latin typeface="Helvetica Bold"/>
                  <a:ea typeface="Helvetica Bold"/>
                  <a:cs typeface="Helvetica Bold"/>
                  <a:sym typeface="Helvetica Bold"/>
                </a:rPr>
                <a:t>ACCESO COMPARTIDO</a:t>
              </a:r>
            </a:p>
            <a:p>
              <a:pPr algn="ctr">
                <a:lnSpc>
                  <a:spcPts val="2700"/>
                </a:lnSpc>
              </a:pPr>
              <a:r>
                <a:rPr lang="en-US" sz="2250">
                  <a:solidFill>
                    <a:srgbClr val="173B47"/>
                  </a:solidFill>
                  <a:latin typeface="Helvetica"/>
                  <a:ea typeface="Helvetica"/>
                  <a:cs typeface="Helvetica"/>
                  <a:sym typeface="Helvetica"/>
                </a:rPr>
                <a:t>Otorgante y receptor</a:t>
              </a:r>
            </a:p>
            <a:p>
              <a:pPr algn="ctr">
                <a:lnSpc>
                  <a:spcPts val="2700"/>
                </a:lnSpc>
              </a:pPr>
              <a:r>
                <a:rPr lang="en-US" sz="2250">
                  <a:solidFill>
                    <a:srgbClr val="173B47"/>
                  </a:solidFill>
                  <a:latin typeface="Helvetica"/>
                  <a:ea typeface="Helvetica"/>
                  <a:cs typeface="Helvetica"/>
                  <a:sym typeface="Helvetica"/>
                </a:rPr>
                <a:t>Vence / revocable</a:t>
              </a:r>
            </a:p>
          </p:txBody>
        </p:sp>
      </p:grpSp>
      <p:grpSp>
        <p:nvGrpSpPr>
          <p:cNvPr name="Group 36" id="36"/>
          <p:cNvGrpSpPr/>
          <p:nvPr/>
        </p:nvGrpSpPr>
        <p:grpSpPr>
          <a:xfrm rot="0">
            <a:off x="5264944" y="6707981"/>
            <a:ext cx="3371850" cy="1771650"/>
            <a:chOff x="0" y="0"/>
            <a:chExt cx="4495800" cy="2362200"/>
          </a:xfrm>
        </p:grpSpPr>
        <p:sp>
          <p:nvSpPr>
            <p:cNvPr name="Freeform 37" id="37"/>
            <p:cNvSpPr/>
            <p:nvPr/>
          </p:nvSpPr>
          <p:spPr>
            <a:xfrm flipH="false" flipV="false" rot="0">
              <a:off x="0" y="0"/>
              <a:ext cx="4495800" cy="2362200"/>
            </a:xfrm>
            <a:custGeom>
              <a:avLst/>
              <a:gdLst/>
              <a:ahLst/>
              <a:cxnLst/>
              <a:rect r="r" b="b" t="t" l="l"/>
              <a:pathLst>
                <a:path h="2362200" w="4495800">
                  <a:moveTo>
                    <a:pt x="0" y="192024"/>
                  </a:moveTo>
                  <a:cubicBezTo>
                    <a:pt x="0" y="85979"/>
                    <a:pt x="85979" y="0"/>
                    <a:pt x="192024" y="0"/>
                  </a:cubicBezTo>
                  <a:lnTo>
                    <a:pt x="4303776" y="0"/>
                  </a:lnTo>
                  <a:cubicBezTo>
                    <a:pt x="4409821" y="0"/>
                    <a:pt x="4495800" y="85979"/>
                    <a:pt x="4495800" y="192024"/>
                  </a:cubicBezTo>
                  <a:lnTo>
                    <a:pt x="4495800" y="2170176"/>
                  </a:lnTo>
                  <a:cubicBezTo>
                    <a:pt x="4495800" y="2276221"/>
                    <a:pt x="4409821" y="2362200"/>
                    <a:pt x="4303776" y="2362200"/>
                  </a:cubicBezTo>
                  <a:lnTo>
                    <a:pt x="192024" y="2362200"/>
                  </a:lnTo>
                  <a:cubicBezTo>
                    <a:pt x="85979" y="2362200"/>
                    <a:pt x="0" y="2276221"/>
                    <a:pt x="0" y="2170176"/>
                  </a:cubicBezTo>
                  <a:close/>
                </a:path>
              </a:pathLst>
            </a:custGeom>
            <a:solidFill>
              <a:srgbClr val="FFFFFF"/>
            </a:solidFill>
            <a:ln w="14288" cap="sq">
              <a:solidFill>
                <a:srgbClr val="8FBDBA"/>
              </a:solidFill>
              <a:prstDash val="solid"/>
              <a:miter/>
            </a:ln>
          </p:spPr>
        </p:sp>
        <p:sp>
          <p:nvSpPr>
            <p:cNvPr name="TextBox 38" id="38"/>
            <p:cNvSpPr txBox="true"/>
            <p:nvPr/>
          </p:nvSpPr>
          <p:spPr>
            <a:xfrm>
              <a:off x="0" y="-28575"/>
              <a:ext cx="4495800" cy="2390775"/>
            </a:xfrm>
            <a:prstGeom prst="rect">
              <a:avLst/>
            </a:prstGeom>
          </p:spPr>
          <p:txBody>
            <a:bodyPr anchor="ctr" rtlCol="false" tIns="50800" lIns="50800" bIns="50800" rIns="50800"/>
            <a:lstStyle/>
            <a:p>
              <a:pPr algn="ctr">
                <a:lnSpc>
                  <a:spcPts val="2700"/>
                </a:lnSpc>
              </a:pPr>
              <a:r>
                <a:rPr lang="en-US" sz="2250" b="true">
                  <a:solidFill>
                    <a:srgbClr val="117B82"/>
                  </a:solidFill>
                  <a:latin typeface="Helvetica Bold"/>
                  <a:ea typeface="Helvetica Bold"/>
                  <a:cs typeface="Helvetica Bold"/>
                  <a:sym typeface="Helvetica Bold"/>
                </a:rPr>
                <a:t>DOCUMENTO COMPARTIDO</a:t>
              </a:r>
            </a:p>
            <a:p>
              <a:pPr algn="ctr">
                <a:lnSpc>
                  <a:spcPts val="2700"/>
                </a:lnSpc>
              </a:pPr>
              <a:r>
                <a:rPr lang="en-US" sz="2250">
                  <a:solidFill>
                    <a:srgbClr val="173B47"/>
                  </a:solidFill>
                  <a:latin typeface="Helvetica"/>
                  <a:ea typeface="Helvetica"/>
                  <a:cs typeface="Helvetica"/>
                  <a:sym typeface="Helvetica"/>
                </a:rPr>
                <a:t>acceso_id (FK)</a:t>
              </a:r>
            </a:p>
            <a:p>
              <a:pPr algn="ctr">
                <a:lnSpc>
                  <a:spcPts val="2700"/>
                </a:lnSpc>
              </a:pPr>
              <a:r>
                <a:rPr lang="en-US" sz="2250">
                  <a:solidFill>
                    <a:srgbClr val="173B47"/>
                  </a:solidFill>
                  <a:latin typeface="Helvetica"/>
                  <a:ea typeface="Helvetica"/>
                  <a:cs typeface="Helvetica"/>
                  <a:sym typeface="Helvetica"/>
                </a:rPr>
                <a:t>documento_id (FK)</a:t>
              </a:r>
            </a:p>
          </p:txBody>
        </p:sp>
      </p:grpSp>
      <p:grpSp>
        <p:nvGrpSpPr>
          <p:cNvPr name="Group 39" id="39"/>
          <p:cNvGrpSpPr/>
          <p:nvPr/>
        </p:nvGrpSpPr>
        <p:grpSpPr>
          <a:xfrm rot="0">
            <a:off x="13980319" y="6707981"/>
            <a:ext cx="3371850" cy="1771650"/>
            <a:chOff x="0" y="0"/>
            <a:chExt cx="4495800" cy="2362200"/>
          </a:xfrm>
        </p:grpSpPr>
        <p:sp>
          <p:nvSpPr>
            <p:cNvPr name="Freeform 40" id="40"/>
            <p:cNvSpPr/>
            <p:nvPr/>
          </p:nvSpPr>
          <p:spPr>
            <a:xfrm flipH="false" flipV="false" rot="0">
              <a:off x="0" y="0"/>
              <a:ext cx="4495800" cy="2362200"/>
            </a:xfrm>
            <a:custGeom>
              <a:avLst/>
              <a:gdLst/>
              <a:ahLst/>
              <a:cxnLst/>
              <a:rect r="r" b="b" t="t" l="l"/>
              <a:pathLst>
                <a:path h="2362200" w="4495800">
                  <a:moveTo>
                    <a:pt x="0" y="192024"/>
                  </a:moveTo>
                  <a:cubicBezTo>
                    <a:pt x="0" y="85979"/>
                    <a:pt x="85979" y="0"/>
                    <a:pt x="192024" y="0"/>
                  </a:cubicBezTo>
                  <a:lnTo>
                    <a:pt x="4303776" y="0"/>
                  </a:lnTo>
                  <a:cubicBezTo>
                    <a:pt x="4409821" y="0"/>
                    <a:pt x="4495800" y="85979"/>
                    <a:pt x="4495800" y="192024"/>
                  </a:cubicBezTo>
                  <a:lnTo>
                    <a:pt x="4495800" y="2170176"/>
                  </a:lnTo>
                  <a:cubicBezTo>
                    <a:pt x="4495800" y="2276221"/>
                    <a:pt x="4409821" y="2362200"/>
                    <a:pt x="4303776" y="2362200"/>
                  </a:cubicBezTo>
                  <a:lnTo>
                    <a:pt x="192024" y="2362200"/>
                  </a:lnTo>
                  <a:cubicBezTo>
                    <a:pt x="85979" y="2362200"/>
                    <a:pt x="0" y="2276221"/>
                    <a:pt x="0" y="2170176"/>
                  </a:cubicBezTo>
                  <a:close/>
                </a:path>
              </a:pathLst>
            </a:custGeom>
            <a:solidFill>
              <a:srgbClr val="FFFFFF"/>
            </a:solidFill>
            <a:ln w="14288" cap="sq">
              <a:solidFill>
                <a:srgbClr val="8FBDBA"/>
              </a:solidFill>
              <a:prstDash val="solid"/>
              <a:miter/>
            </a:ln>
          </p:spPr>
        </p:sp>
        <p:sp>
          <p:nvSpPr>
            <p:cNvPr name="TextBox 41" id="41"/>
            <p:cNvSpPr txBox="true"/>
            <p:nvPr/>
          </p:nvSpPr>
          <p:spPr>
            <a:xfrm>
              <a:off x="0" y="-28575"/>
              <a:ext cx="4495800" cy="2390775"/>
            </a:xfrm>
            <a:prstGeom prst="rect">
              <a:avLst/>
            </a:prstGeom>
          </p:spPr>
          <p:txBody>
            <a:bodyPr anchor="ctr" rtlCol="false" tIns="50800" lIns="50800" bIns="50800" rIns="50800"/>
            <a:lstStyle/>
            <a:p>
              <a:pPr algn="ctr">
                <a:lnSpc>
                  <a:spcPts val="2700"/>
                </a:lnSpc>
              </a:pPr>
              <a:r>
                <a:rPr lang="en-US" sz="2250" b="true">
                  <a:solidFill>
                    <a:srgbClr val="117B82"/>
                  </a:solidFill>
                  <a:latin typeface="Helvetica Bold"/>
                  <a:ea typeface="Helvetica Bold"/>
                  <a:cs typeface="Helvetica Bold"/>
                  <a:sym typeface="Helvetica Bold"/>
                </a:rPr>
                <a:t>AUDITORÍA</a:t>
              </a:r>
            </a:p>
            <a:p>
              <a:pPr algn="ctr">
                <a:lnSpc>
                  <a:spcPts val="2700"/>
                </a:lnSpc>
              </a:pPr>
              <a:r>
                <a:rPr lang="en-US" sz="2250">
                  <a:solidFill>
                    <a:srgbClr val="173B47"/>
                  </a:solidFill>
                  <a:latin typeface="Helvetica"/>
                  <a:ea typeface="Helvetica"/>
                  <a:cs typeface="Helvetica"/>
                  <a:sym typeface="Helvetica"/>
                </a:rPr>
                <a:t>Actor y documento</a:t>
              </a:r>
            </a:p>
            <a:p>
              <a:pPr algn="ctr">
                <a:lnSpc>
                  <a:spcPts val="2700"/>
                </a:lnSpc>
              </a:pPr>
              <a:r>
                <a:rPr lang="en-US" sz="2250">
                  <a:solidFill>
                    <a:srgbClr val="173B47"/>
                  </a:solidFill>
                  <a:latin typeface="Helvetica"/>
                  <a:ea typeface="Helvetica"/>
                  <a:cs typeface="Helvetica"/>
                  <a:sym typeface="Helvetica"/>
                </a:rPr>
                <a:t>Acción y resultado</a:t>
              </a:r>
            </a:p>
            <a:p>
              <a:pPr algn="ctr">
                <a:lnSpc>
                  <a:spcPts val="2700"/>
                </a:lnSpc>
              </a:pPr>
              <a:r>
                <a:rPr lang="en-US" sz="2250">
                  <a:solidFill>
                    <a:srgbClr val="173B47"/>
                  </a:solidFill>
                  <a:latin typeface="Helvetica"/>
                  <a:ea typeface="Helvetica"/>
                  <a:cs typeface="Helvetica"/>
                  <a:sym typeface="Helvetica"/>
                </a:rPr>
                <a:t>Fecha del evento</a:t>
              </a:r>
            </a:p>
          </p:txBody>
        </p:sp>
      </p:grpSp>
      <p:grpSp>
        <p:nvGrpSpPr>
          <p:cNvPr name="Group 42" id="42"/>
          <p:cNvGrpSpPr/>
          <p:nvPr/>
        </p:nvGrpSpPr>
        <p:grpSpPr>
          <a:xfrm rot="0">
            <a:off x="4471988" y="3571875"/>
            <a:ext cx="714375" cy="371475"/>
            <a:chOff x="0" y="0"/>
            <a:chExt cx="952500" cy="495300"/>
          </a:xfrm>
        </p:grpSpPr>
        <p:sp>
          <p:nvSpPr>
            <p:cNvPr name="Freeform 43" id="43"/>
            <p:cNvSpPr/>
            <p:nvPr/>
          </p:nvSpPr>
          <p:spPr>
            <a:xfrm flipH="false" flipV="false" rot="0">
              <a:off x="0" y="0"/>
              <a:ext cx="952500" cy="495300"/>
            </a:xfrm>
            <a:custGeom>
              <a:avLst/>
              <a:gdLst/>
              <a:ahLst/>
              <a:cxnLst/>
              <a:rect r="r" b="b" t="t" l="l"/>
              <a:pathLst>
                <a:path h="495300" w="952500">
                  <a:moveTo>
                    <a:pt x="0" y="0"/>
                  </a:moveTo>
                  <a:lnTo>
                    <a:pt x="952500" y="0"/>
                  </a:lnTo>
                  <a:lnTo>
                    <a:pt x="952500" y="495300"/>
                  </a:lnTo>
                  <a:lnTo>
                    <a:pt x="0" y="495300"/>
                  </a:lnTo>
                  <a:close/>
                </a:path>
              </a:pathLst>
            </a:custGeom>
            <a:blipFill>
              <a:blip r:embed="rId3">
                <a:alphaModFix amt="0"/>
              </a:blip>
              <a:stretch>
                <a:fillRect l="-16717" t="0" r="-16717" b="0"/>
              </a:stretch>
            </a:blipFill>
          </p:spPr>
        </p:sp>
        <p:sp>
          <p:nvSpPr>
            <p:cNvPr name="TextBox 44" id="44"/>
            <p:cNvSpPr txBox="true"/>
            <p:nvPr/>
          </p:nvSpPr>
          <p:spPr>
            <a:xfrm>
              <a:off x="0" y="-19050"/>
              <a:ext cx="952500" cy="514350"/>
            </a:xfrm>
            <a:prstGeom prst="rect">
              <a:avLst/>
            </a:prstGeom>
          </p:spPr>
          <p:txBody>
            <a:bodyPr anchor="ctr" rtlCol="false" tIns="0" lIns="0" bIns="0" rIns="0"/>
            <a:lstStyle/>
            <a:p>
              <a:pPr algn="l">
                <a:lnSpc>
                  <a:spcPts val="2430"/>
                </a:lnSpc>
              </a:pPr>
              <a:r>
                <a:rPr lang="en-US" sz="2025" b="true">
                  <a:solidFill>
                    <a:srgbClr val="117B82"/>
                  </a:solidFill>
                  <a:latin typeface="Helvetica Bold"/>
                  <a:ea typeface="Helvetica Bold"/>
                  <a:cs typeface="Helvetica Bold"/>
                  <a:sym typeface="Helvetica Bold"/>
                </a:rPr>
                <a:t>1 : N</a:t>
              </a:r>
            </a:p>
          </p:txBody>
        </p:sp>
      </p:grpSp>
      <p:grpSp>
        <p:nvGrpSpPr>
          <p:cNvPr name="Group 45" id="45"/>
          <p:cNvGrpSpPr/>
          <p:nvPr/>
        </p:nvGrpSpPr>
        <p:grpSpPr>
          <a:xfrm rot="0">
            <a:off x="8843962" y="3571875"/>
            <a:ext cx="714375" cy="371475"/>
            <a:chOff x="0" y="0"/>
            <a:chExt cx="952500" cy="495300"/>
          </a:xfrm>
        </p:grpSpPr>
        <p:sp>
          <p:nvSpPr>
            <p:cNvPr name="Freeform 46" id="46"/>
            <p:cNvSpPr/>
            <p:nvPr/>
          </p:nvSpPr>
          <p:spPr>
            <a:xfrm flipH="false" flipV="false" rot="0">
              <a:off x="0" y="0"/>
              <a:ext cx="952500" cy="495300"/>
            </a:xfrm>
            <a:custGeom>
              <a:avLst/>
              <a:gdLst/>
              <a:ahLst/>
              <a:cxnLst/>
              <a:rect r="r" b="b" t="t" l="l"/>
              <a:pathLst>
                <a:path h="495300" w="952500">
                  <a:moveTo>
                    <a:pt x="0" y="0"/>
                  </a:moveTo>
                  <a:lnTo>
                    <a:pt x="952500" y="0"/>
                  </a:lnTo>
                  <a:lnTo>
                    <a:pt x="952500" y="495300"/>
                  </a:lnTo>
                  <a:lnTo>
                    <a:pt x="0" y="495300"/>
                  </a:lnTo>
                  <a:close/>
                </a:path>
              </a:pathLst>
            </a:custGeom>
            <a:blipFill>
              <a:blip r:embed="rId3">
                <a:alphaModFix amt="0"/>
              </a:blip>
              <a:stretch>
                <a:fillRect l="-16717" t="0" r="-16717" b="0"/>
              </a:stretch>
            </a:blipFill>
          </p:spPr>
        </p:sp>
        <p:sp>
          <p:nvSpPr>
            <p:cNvPr name="TextBox 47" id="47"/>
            <p:cNvSpPr txBox="true"/>
            <p:nvPr/>
          </p:nvSpPr>
          <p:spPr>
            <a:xfrm>
              <a:off x="0" y="-19050"/>
              <a:ext cx="952500" cy="514350"/>
            </a:xfrm>
            <a:prstGeom prst="rect">
              <a:avLst/>
            </a:prstGeom>
          </p:spPr>
          <p:txBody>
            <a:bodyPr anchor="ctr" rtlCol="false" tIns="0" lIns="0" bIns="0" rIns="0"/>
            <a:lstStyle/>
            <a:p>
              <a:pPr algn="l">
                <a:lnSpc>
                  <a:spcPts val="2430"/>
                </a:lnSpc>
              </a:pPr>
              <a:r>
                <a:rPr lang="en-US" sz="2025" b="true">
                  <a:solidFill>
                    <a:srgbClr val="117B82"/>
                  </a:solidFill>
                  <a:latin typeface="Helvetica Bold"/>
                  <a:ea typeface="Helvetica Bold"/>
                  <a:cs typeface="Helvetica Bold"/>
                  <a:sym typeface="Helvetica Bold"/>
                </a:rPr>
                <a:t>1 : N</a:t>
              </a:r>
            </a:p>
          </p:txBody>
        </p:sp>
      </p:grpSp>
      <p:grpSp>
        <p:nvGrpSpPr>
          <p:cNvPr name="Group 48" id="48"/>
          <p:cNvGrpSpPr/>
          <p:nvPr/>
        </p:nvGrpSpPr>
        <p:grpSpPr>
          <a:xfrm rot="0">
            <a:off x="13030200" y="3571875"/>
            <a:ext cx="928688" cy="371475"/>
            <a:chOff x="0" y="0"/>
            <a:chExt cx="1238250" cy="495300"/>
          </a:xfrm>
        </p:grpSpPr>
        <p:sp>
          <p:nvSpPr>
            <p:cNvPr name="Freeform 49" id="49"/>
            <p:cNvSpPr/>
            <p:nvPr/>
          </p:nvSpPr>
          <p:spPr>
            <a:xfrm flipH="false" flipV="false" rot="0">
              <a:off x="0" y="0"/>
              <a:ext cx="1238250" cy="495300"/>
            </a:xfrm>
            <a:custGeom>
              <a:avLst/>
              <a:gdLst/>
              <a:ahLst/>
              <a:cxnLst/>
              <a:rect r="r" b="b" t="t" l="l"/>
              <a:pathLst>
                <a:path h="495300" w="1238250">
                  <a:moveTo>
                    <a:pt x="0" y="0"/>
                  </a:moveTo>
                  <a:lnTo>
                    <a:pt x="1238250" y="0"/>
                  </a:lnTo>
                  <a:lnTo>
                    <a:pt x="1238250" y="495300"/>
                  </a:lnTo>
                  <a:lnTo>
                    <a:pt x="0" y="495300"/>
                  </a:lnTo>
                  <a:close/>
                </a:path>
              </a:pathLst>
            </a:custGeom>
            <a:blipFill>
              <a:blip r:embed="rId3">
                <a:alphaModFix amt="0"/>
              </a:blip>
              <a:stretch>
                <a:fillRect l="-1321" t="0" r="-1321" b="0"/>
              </a:stretch>
            </a:blipFill>
          </p:spPr>
        </p:sp>
        <p:sp>
          <p:nvSpPr>
            <p:cNvPr name="TextBox 50" id="50"/>
            <p:cNvSpPr txBox="true"/>
            <p:nvPr/>
          </p:nvSpPr>
          <p:spPr>
            <a:xfrm>
              <a:off x="0" y="-19050"/>
              <a:ext cx="1238250" cy="514350"/>
            </a:xfrm>
            <a:prstGeom prst="rect">
              <a:avLst/>
            </a:prstGeom>
          </p:spPr>
          <p:txBody>
            <a:bodyPr anchor="ctr" rtlCol="false" tIns="0" lIns="0" bIns="0" rIns="0"/>
            <a:lstStyle/>
            <a:p>
              <a:pPr algn="l">
                <a:lnSpc>
                  <a:spcPts val="2295"/>
                </a:lnSpc>
              </a:pPr>
              <a:r>
                <a:rPr lang="en-US" sz="1912" b="true">
                  <a:solidFill>
                    <a:srgbClr val="117B82"/>
                  </a:solidFill>
                  <a:latin typeface="Helvetica Bold"/>
                  <a:ea typeface="Helvetica Bold"/>
                  <a:cs typeface="Helvetica Bold"/>
                  <a:sym typeface="Helvetica Bold"/>
                </a:rPr>
                <a:t>0..1 : N</a:t>
              </a:r>
            </a:p>
          </p:txBody>
        </p:sp>
      </p:grpSp>
      <p:grpSp>
        <p:nvGrpSpPr>
          <p:cNvPr name="Group 51" id="51"/>
          <p:cNvGrpSpPr/>
          <p:nvPr/>
        </p:nvGrpSpPr>
        <p:grpSpPr>
          <a:xfrm rot="0">
            <a:off x="914400" y="5643562"/>
            <a:ext cx="3357562" cy="542925"/>
            <a:chOff x="0" y="0"/>
            <a:chExt cx="4476750" cy="723900"/>
          </a:xfrm>
        </p:grpSpPr>
        <p:sp>
          <p:nvSpPr>
            <p:cNvPr name="Freeform 52" id="52"/>
            <p:cNvSpPr/>
            <p:nvPr/>
          </p:nvSpPr>
          <p:spPr>
            <a:xfrm flipH="false" flipV="false" rot="0">
              <a:off x="0" y="0"/>
              <a:ext cx="4476750" cy="723900"/>
            </a:xfrm>
            <a:custGeom>
              <a:avLst/>
              <a:gdLst/>
              <a:ahLst/>
              <a:cxnLst/>
              <a:rect r="r" b="b" t="t" l="l"/>
              <a:pathLst>
                <a:path h="723900" w="4476750">
                  <a:moveTo>
                    <a:pt x="0" y="0"/>
                  </a:moveTo>
                  <a:lnTo>
                    <a:pt x="4476750" y="0"/>
                  </a:lnTo>
                  <a:lnTo>
                    <a:pt x="4476750" y="723900"/>
                  </a:lnTo>
                  <a:lnTo>
                    <a:pt x="0" y="723900"/>
                  </a:lnTo>
                  <a:close/>
                </a:path>
              </a:pathLst>
            </a:custGeom>
            <a:blipFill>
              <a:blip r:embed="rId3">
                <a:alphaModFix amt="0"/>
              </a:blip>
              <a:stretch>
                <a:fillRect l="0" t="-70499" r="0" b="-70499"/>
              </a:stretch>
            </a:blipFill>
          </p:spPr>
        </p:sp>
        <p:sp>
          <p:nvSpPr>
            <p:cNvPr name="TextBox 53" id="53"/>
            <p:cNvSpPr txBox="true"/>
            <p:nvPr/>
          </p:nvSpPr>
          <p:spPr>
            <a:xfrm>
              <a:off x="0" y="-19050"/>
              <a:ext cx="4476750" cy="742950"/>
            </a:xfrm>
            <a:prstGeom prst="rect">
              <a:avLst/>
            </a:prstGeom>
          </p:spPr>
          <p:txBody>
            <a:bodyPr anchor="ctr" rtlCol="false" tIns="0" lIns="0" bIns="0" rIns="0"/>
            <a:lstStyle/>
            <a:p>
              <a:pPr algn="l">
                <a:lnSpc>
                  <a:spcPts val="2565"/>
                </a:lnSpc>
              </a:pPr>
              <a:r>
                <a:rPr lang="en-US" sz="2137">
                  <a:solidFill>
                    <a:srgbClr val="59757B"/>
                  </a:solidFill>
                  <a:latin typeface="Helvetica"/>
                  <a:ea typeface="Helvetica"/>
                  <a:cs typeface="Helvetica"/>
                  <a:sym typeface="Helvetica"/>
                </a:rPr>
                <a:t>Otorga / recibe (1 : N)</a:t>
              </a:r>
            </a:p>
          </p:txBody>
        </p:sp>
      </p:grpSp>
      <p:grpSp>
        <p:nvGrpSpPr>
          <p:cNvPr name="Group 54" id="54"/>
          <p:cNvGrpSpPr/>
          <p:nvPr/>
        </p:nvGrpSpPr>
        <p:grpSpPr>
          <a:xfrm rot="0">
            <a:off x="4471988" y="6886575"/>
            <a:ext cx="714375" cy="371475"/>
            <a:chOff x="0" y="0"/>
            <a:chExt cx="952500" cy="495300"/>
          </a:xfrm>
        </p:grpSpPr>
        <p:sp>
          <p:nvSpPr>
            <p:cNvPr name="Freeform 55" id="55"/>
            <p:cNvSpPr/>
            <p:nvPr/>
          </p:nvSpPr>
          <p:spPr>
            <a:xfrm flipH="false" flipV="false" rot="0">
              <a:off x="0" y="0"/>
              <a:ext cx="952500" cy="495300"/>
            </a:xfrm>
            <a:custGeom>
              <a:avLst/>
              <a:gdLst/>
              <a:ahLst/>
              <a:cxnLst/>
              <a:rect r="r" b="b" t="t" l="l"/>
              <a:pathLst>
                <a:path h="495300" w="952500">
                  <a:moveTo>
                    <a:pt x="0" y="0"/>
                  </a:moveTo>
                  <a:lnTo>
                    <a:pt x="952500" y="0"/>
                  </a:lnTo>
                  <a:lnTo>
                    <a:pt x="952500" y="495300"/>
                  </a:lnTo>
                  <a:lnTo>
                    <a:pt x="0" y="495300"/>
                  </a:lnTo>
                  <a:close/>
                </a:path>
              </a:pathLst>
            </a:custGeom>
            <a:blipFill>
              <a:blip r:embed="rId3">
                <a:alphaModFix amt="0"/>
              </a:blip>
              <a:stretch>
                <a:fillRect l="-16717" t="0" r="-16717" b="0"/>
              </a:stretch>
            </a:blipFill>
          </p:spPr>
        </p:sp>
        <p:sp>
          <p:nvSpPr>
            <p:cNvPr name="TextBox 56" id="56"/>
            <p:cNvSpPr txBox="true"/>
            <p:nvPr/>
          </p:nvSpPr>
          <p:spPr>
            <a:xfrm>
              <a:off x="0" y="-19050"/>
              <a:ext cx="952500" cy="514350"/>
            </a:xfrm>
            <a:prstGeom prst="rect">
              <a:avLst/>
            </a:prstGeom>
          </p:spPr>
          <p:txBody>
            <a:bodyPr anchor="ctr" rtlCol="false" tIns="0" lIns="0" bIns="0" rIns="0"/>
            <a:lstStyle/>
            <a:p>
              <a:pPr algn="l">
                <a:lnSpc>
                  <a:spcPts val="2430"/>
                </a:lnSpc>
              </a:pPr>
              <a:r>
                <a:rPr lang="en-US" sz="2025" b="true">
                  <a:solidFill>
                    <a:srgbClr val="117B82"/>
                  </a:solidFill>
                  <a:latin typeface="Helvetica Bold"/>
                  <a:ea typeface="Helvetica Bold"/>
                  <a:cs typeface="Helvetica Bold"/>
                  <a:sym typeface="Helvetica Bold"/>
                </a:rPr>
                <a:t>1 : N</a:t>
              </a:r>
            </a:p>
          </p:txBody>
        </p:sp>
      </p:grpSp>
      <p:grpSp>
        <p:nvGrpSpPr>
          <p:cNvPr name="Group 57" id="57"/>
          <p:cNvGrpSpPr/>
          <p:nvPr/>
        </p:nvGrpSpPr>
        <p:grpSpPr>
          <a:xfrm rot="0">
            <a:off x="7186612" y="5786438"/>
            <a:ext cx="857250" cy="371475"/>
            <a:chOff x="0" y="0"/>
            <a:chExt cx="1143000" cy="495300"/>
          </a:xfrm>
        </p:grpSpPr>
        <p:sp>
          <p:nvSpPr>
            <p:cNvPr name="Freeform 58" id="58"/>
            <p:cNvSpPr/>
            <p:nvPr/>
          </p:nvSpPr>
          <p:spPr>
            <a:xfrm flipH="false" flipV="false" rot="0">
              <a:off x="0" y="0"/>
              <a:ext cx="1143000" cy="495300"/>
            </a:xfrm>
            <a:custGeom>
              <a:avLst/>
              <a:gdLst/>
              <a:ahLst/>
              <a:cxnLst/>
              <a:rect r="r" b="b" t="t" l="l"/>
              <a:pathLst>
                <a:path h="495300" w="1143000">
                  <a:moveTo>
                    <a:pt x="0" y="0"/>
                  </a:moveTo>
                  <a:lnTo>
                    <a:pt x="1143000" y="0"/>
                  </a:lnTo>
                  <a:lnTo>
                    <a:pt x="1143000" y="495300"/>
                  </a:lnTo>
                  <a:lnTo>
                    <a:pt x="0" y="495300"/>
                  </a:lnTo>
                  <a:close/>
                </a:path>
              </a:pathLst>
            </a:custGeom>
            <a:blipFill>
              <a:blip r:embed="rId3">
                <a:alphaModFix amt="0"/>
              </a:blip>
              <a:stretch>
                <a:fillRect l="-5598" t="0" r="-5598" b="0"/>
              </a:stretch>
            </a:blipFill>
          </p:spPr>
        </p:sp>
        <p:sp>
          <p:nvSpPr>
            <p:cNvPr name="TextBox 59" id="59"/>
            <p:cNvSpPr txBox="true"/>
            <p:nvPr/>
          </p:nvSpPr>
          <p:spPr>
            <a:xfrm>
              <a:off x="0" y="-19050"/>
              <a:ext cx="1143000" cy="514350"/>
            </a:xfrm>
            <a:prstGeom prst="rect">
              <a:avLst/>
            </a:prstGeom>
          </p:spPr>
          <p:txBody>
            <a:bodyPr anchor="ctr" rtlCol="false" tIns="0" lIns="0" bIns="0" rIns="0"/>
            <a:lstStyle/>
            <a:p>
              <a:pPr algn="l">
                <a:lnSpc>
                  <a:spcPts val="2430"/>
                </a:lnSpc>
              </a:pPr>
              <a:r>
                <a:rPr lang="en-US" sz="2025" b="true">
                  <a:solidFill>
                    <a:srgbClr val="117B82"/>
                  </a:solidFill>
                  <a:latin typeface="Helvetica Bold"/>
                  <a:ea typeface="Helvetica Bold"/>
                  <a:cs typeface="Helvetica Bold"/>
                  <a:sym typeface="Helvetica Bold"/>
                </a:rPr>
                <a:t>1 : N</a:t>
              </a:r>
            </a:p>
          </p:txBody>
        </p:sp>
      </p:grpSp>
      <p:grpSp>
        <p:nvGrpSpPr>
          <p:cNvPr name="Group 60" id="60"/>
          <p:cNvGrpSpPr/>
          <p:nvPr/>
        </p:nvGrpSpPr>
        <p:grpSpPr>
          <a:xfrm rot="0">
            <a:off x="9629775" y="5715000"/>
            <a:ext cx="7715250" cy="785812"/>
            <a:chOff x="0" y="0"/>
            <a:chExt cx="10287000" cy="1047750"/>
          </a:xfrm>
        </p:grpSpPr>
        <p:sp>
          <p:nvSpPr>
            <p:cNvPr name="Freeform 61" id="61"/>
            <p:cNvSpPr/>
            <p:nvPr/>
          </p:nvSpPr>
          <p:spPr>
            <a:xfrm flipH="false" flipV="false" rot="0">
              <a:off x="0" y="0"/>
              <a:ext cx="10287000" cy="1047750"/>
            </a:xfrm>
            <a:custGeom>
              <a:avLst/>
              <a:gdLst/>
              <a:ahLst/>
              <a:cxnLst/>
              <a:rect r="r" b="b" t="t" l="l"/>
              <a:pathLst>
                <a:path h="1047750" w="10287000">
                  <a:moveTo>
                    <a:pt x="0" y="0"/>
                  </a:moveTo>
                  <a:lnTo>
                    <a:pt x="10287000" y="0"/>
                  </a:lnTo>
                  <a:lnTo>
                    <a:pt x="10287000" y="1047750"/>
                  </a:lnTo>
                  <a:lnTo>
                    <a:pt x="0" y="1047750"/>
                  </a:lnTo>
                  <a:close/>
                </a:path>
              </a:pathLst>
            </a:custGeom>
            <a:blipFill>
              <a:blip r:embed="rId3">
                <a:alphaModFix amt="0"/>
              </a:blip>
              <a:stretch>
                <a:fillRect l="0" t="-141307" r="0" b="-141307"/>
              </a:stretch>
            </a:blipFill>
          </p:spPr>
        </p:sp>
        <p:sp>
          <p:nvSpPr>
            <p:cNvPr name="TextBox 62" id="62"/>
            <p:cNvSpPr txBox="true"/>
            <p:nvPr/>
          </p:nvSpPr>
          <p:spPr>
            <a:xfrm>
              <a:off x="0" y="-28575"/>
              <a:ext cx="10287000" cy="1076325"/>
            </a:xfrm>
            <a:prstGeom prst="rect">
              <a:avLst/>
            </a:prstGeom>
          </p:spPr>
          <p:txBody>
            <a:bodyPr anchor="ctr" rtlCol="false" tIns="0" lIns="0" bIns="0" rIns="0"/>
            <a:lstStyle/>
            <a:p>
              <a:pPr algn="l">
                <a:lnSpc>
                  <a:spcPts val="2700"/>
                </a:lnSpc>
              </a:pPr>
              <a:r>
                <a:rPr lang="en-US" sz="2250">
                  <a:solidFill>
                    <a:srgbClr val="59757B"/>
                  </a:solidFill>
                  <a:latin typeface="Helvetica"/>
                  <a:ea typeface="Helvetica"/>
                  <a:cs typeface="Helvetica"/>
                  <a:sym typeface="Helvetica"/>
                </a:rPr>
                <a:t>Documento origina antecedentes (1 : N).</a:t>
              </a:r>
            </a:p>
            <a:p>
              <a:pPr algn="l">
                <a:lnSpc>
                  <a:spcPts val="2700"/>
                </a:lnSpc>
              </a:pPr>
              <a:r>
                <a:rPr lang="en-US" sz="2250">
                  <a:solidFill>
                    <a:srgbClr val="59757B"/>
                  </a:solidFill>
                  <a:latin typeface="Helvetica"/>
                  <a:ea typeface="Helvetica"/>
                  <a:cs typeface="Helvetica"/>
                  <a:sym typeface="Helvetica"/>
                </a:rPr>
                <a:t>Auditoría referencia usuario y documento.</a:t>
              </a:r>
            </a:p>
          </p:txBody>
        </p:sp>
      </p:grpSp>
      <p:grpSp>
        <p:nvGrpSpPr>
          <p:cNvPr name="Group 63" id="63"/>
          <p:cNvGrpSpPr/>
          <p:nvPr/>
        </p:nvGrpSpPr>
        <p:grpSpPr>
          <a:xfrm rot="0">
            <a:off x="914400" y="8886825"/>
            <a:ext cx="16430625" cy="514350"/>
            <a:chOff x="0" y="0"/>
            <a:chExt cx="21907500" cy="685800"/>
          </a:xfrm>
        </p:grpSpPr>
        <p:sp>
          <p:nvSpPr>
            <p:cNvPr name="Freeform 64" id="64"/>
            <p:cNvSpPr/>
            <p:nvPr/>
          </p:nvSpPr>
          <p:spPr>
            <a:xfrm flipH="false" flipV="false" rot="0">
              <a:off x="0" y="0"/>
              <a:ext cx="21907500" cy="685800"/>
            </a:xfrm>
            <a:custGeom>
              <a:avLst/>
              <a:gdLst/>
              <a:ahLst/>
              <a:cxnLst/>
              <a:rect r="r" b="b" t="t" l="l"/>
              <a:pathLst>
                <a:path h="685800" w="21907500">
                  <a:moveTo>
                    <a:pt x="0" y="0"/>
                  </a:moveTo>
                  <a:lnTo>
                    <a:pt x="21907500" y="0"/>
                  </a:lnTo>
                  <a:lnTo>
                    <a:pt x="21907500" y="685800"/>
                  </a:lnTo>
                  <a:lnTo>
                    <a:pt x="0" y="685800"/>
                  </a:lnTo>
                  <a:close/>
                </a:path>
              </a:pathLst>
            </a:custGeom>
            <a:blipFill>
              <a:blip r:embed="rId3">
                <a:alphaModFix amt="0"/>
              </a:blip>
              <a:stretch>
                <a:fillRect l="0" t="-572438" r="0" b="-572438"/>
              </a:stretch>
            </a:blipFill>
          </p:spPr>
        </p:sp>
        <p:sp>
          <p:nvSpPr>
            <p:cNvPr name="TextBox 65" id="65"/>
            <p:cNvSpPr txBox="true"/>
            <p:nvPr/>
          </p:nvSpPr>
          <p:spPr>
            <a:xfrm>
              <a:off x="0" y="-19050"/>
              <a:ext cx="21907500" cy="704850"/>
            </a:xfrm>
            <a:prstGeom prst="rect">
              <a:avLst/>
            </a:prstGeom>
          </p:spPr>
          <p:txBody>
            <a:bodyPr anchor="ctr" rtlCol="false" tIns="0" lIns="0" bIns="0" rIns="0"/>
            <a:lstStyle/>
            <a:p>
              <a:pPr algn="l">
                <a:lnSpc>
                  <a:spcPts val="3375"/>
                </a:lnSpc>
              </a:pPr>
              <a:r>
                <a:rPr lang="en-US" sz="2812" b="true">
                  <a:solidFill>
                    <a:srgbClr val="117B82"/>
                  </a:solidFill>
                  <a:latin typeface="Helvetica Bold"/>
                  <a:ea typeface="Helvetica Bold"/>
                  <a:cs typeface="Helvetica Bold"/>
                  <a:sym typeface="Helvetica Bold"/>
                </a:rPr>
                <a:t>Trazabilidad: cada antecedente conserva su documento de origen.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CFEFD"/>
        </a:solidFill>
      </p:bgPr>
    </p:bg>
    <p:spTree>
      <p:nvGrpSpPr>
        <p:cNvPr id="1" name=""/>
        <p:cNvGrpSpPr/>
        <p:nvPr/>
      </p:nvGrpSpPr>
      <p:grpSpPr>
        <a:xfrm>
          <a:off x="0" y="0"/>
          <a:ext cx="0" cy="0"/>
          <a:chOff x="0" y="0"/>
          <a:chExt cx="0" cy="0"/>
        </a:xfrm>
      </p:grpSpPr>
      <p:grpSp>
        <p:nvGrpSpPr>
          <p:cNvPr name="Group 2" id="2"/>
          <p:cNvGrpSpPr/>
          <p:nvPr/>
        </p:nvGrpSpPr>
        <p:grpSpPr>
          <a:xfrm rot="0">
            <a:off x="914400" y="285750"/>
            <a:ext cx="3000375" cy="342900"/>
            <a:chOff x="0" y="0"/>
            <a:chExt cx="4000500" cy="457200"/>
          </a:xfrm>
        </p:grpSpPr>
        <p:sp>
          <p:nvSpPr>
            <p:cNvPr name="Freeform 3" id="3"/>
            <p:cNvSpPr/>
            <p:nvPr/>
          </p:nvSpPr>
          <p:spPr>
            <a:xfrm flipH="false" flipV="false" rot="0">
              <a:off x="0" y="0"/>
              <a:ext cx="4000500" cy="457200"/>
            </a:xfrm>
            <a:custGeom>
              <a:avLst/>
              <a:gdLst/>
              <a:ahLst/>
              <a:cxnLst/>
              <a:rect r="r" b="b" t="t" l="l"/>
              <a:pathLst>
                <a:path h="457200" w="4000500">
                  <a:moveTo>
                    <a:pt x="0" y="0"/>
                  </a:moveTo>
                  <a:lnTo>
                    <a:pt x="4000500" y="0"/>
                  </a:lnTo>
                  <a:lnTo>
                    <a:pt x="4000500" y="457200"/>
                  </a:lnTo>
                  <a:lnTo>
                    <a:pt x="0" y="457200"/>
                  </a:lnTo>
                  <a:close/>
                </a:path>
              </a:pathLst>
            </a:custGeom>
            <a:blipFill>
              <a:blip r:embed="rId3">
                <a:alphaModFix amt="0"/>
              </a:blip>
              <a:stretch>
                <a:fillRect l="0" t="-120494" r="0" b="-120494"/>
              </a:stretch>
            </a:blipFill>
          </p:spPr>
        </p:sp>
        <p:sp>
          <p:nvSpPr>
            <p:cNvPr name="TextBox 4" id="4"/>
            <p:cNvSpPr txBox="true"/>
            <p:nvPr/>
          </p:nvSpPr>
          <p:spPr>
            <a:xfrm>
              <a:off x="0" y="-19050"/>
              <a:ext cx="4000500" cy="476250"/>
            </a:xfrm>
            <a:prstGeom prst="rect">
              <a:avLst/>
            </a:prstGeom>
          </p:spPr>
          <p:txBody>
            <a:bodyPr anchor="ctr" rtlCol="false" tIns="0" lIns="0" bIns="0" rIns="0"/>
            <a:lstStyle/>
            <a:p>
              <a:pPr algn="l">
                <a:lnSpc>
                  <a:spcPts val="2295"/>
                </a:lnSpc>
              </a:pPr>
              <a:r>
                <a:rPr lang="en-US" sz="1912" b="true">
                  <a:solidFill>
                    <a:srgbClr val="117B82"/>
                  </a:solidFill>
                  <a:latin typeface="Helvetica Bold"/>
                  <a:ea typeface="Helvetica Bold"/>
                  <a:cs typeface="Helvetica Bold"/>
                  <a:sym typeface="Helvetica Bold"/>
                </a:rPr>
                <a:t>MEDLINK</a:t>
              </a:r>
            </a:p>
          </p:txBody>
        </p:sp>
      </p:grpSp>
      <p:grpSp>
        <p:nvGrpSpPr>
          <p:cNvPr name="Group 5" id="5"/>
          <p:cNvGrpSpPr/>
          <p:nvPr/>
        </p:nvGrpSpPr>
        <p:grpSpPr>
          <a:xfrm rot="0">
            <a:off x="914400" y="728662"/>
            <a:ext cx="16287750" cy="928688"/>
            <a:chOff x="0" y="0"/>
            <a:chExt cx="21717000" cy="1238250"/>
          </a:xfrm>
        </p:grpSpPr>
        <p:sp>
          <p:nvSpPr>
            <p:cNvPr name="Freeform 6" id="6"/>
            <p:cNvSpPr/>
            <p:nvPr/>
          </p:nvSpPr>
          <p:spPr>
            <a:xfrm flipH="false" flipV="false" rot="0">
              <a:off x="0" y="0"/>
              <a:ext cx="21717000" cy="1238250"/>
            </a:xfrm>
            <a:custGeom>
              <a:avLst/>
              <a:gdLst/>
              <a:ahLst/>
              <a:cxnLst/>
              <a:rect r="r" b="b" t="t" l="l"/>
              <a:pathLst>
                <a:path h="1238250" w="21717000">
                  <a:moveTo>
                    <a:pt x="0" y="0"/>
                  </a:moveTo>
                  <a:lnTo>
                    <a:pt x="21717000" y="0"/>
                  </a:lnTo>
                  <a:lnTo>
                    <a:pt x="21717000" y="1238250"/>
                  </a:lnTo>
                  <a:lnTo>
                    <a:pt x="0" y="1238250"/>
                  </a:lnTo>
                  <a:close/>
                </a:path>
              </a:pathLst>
            </a:custGeom>
            <a:blipFill>
              <a:blip r:embed="rId3">
                <a:alphaModFix amt="0"/>
              </a:blip>
              <a:stretch>
                <a:fillRect l="0" t="-291737" r="0" b="-291737"/>
              </a:stretch>
            </a:blipFill>
          </p:spPr>
        </p:sp>
        <p:sp>
          <p:nvSpPr>
            <p:cNvPr name="TextBox 7" id="7"/>
            <p:cNvSpPr txBox="true"/>
            <p:nvPr/>
          </p:nvSpPr>
          <p:spPr>
            <a:xfrm>
              <a:off x="0" y="-38100"/>
              <a:ext cx="21717000" cy="1276350"/>
            </a:xfrm>
            <a:prstGeom prst="rect">
              <a:avLst/>
            </a:prstGeom>
          </p:spPr>
          <p:txBody>
            <a:bodyPr anchor="ctr" rtlCol="false" tIns="0" lIns="0" bIns="0" rIns="0"/>
            <a:lstStyle/>
            <a:p>
              <a:pPr algn="l">
                <a:lnSpc>
                  <a:spcPts val="5670"/>
                </a:lnSpc>
              </a:pPr>
              <a:r>
                <a:rPr lang="en-US" sz="4725" b="true">
                  <a:solidFill>
                    <a:srgbClr val="173B47"/>
                  </a:solidFill>
                  <a:latin typeface="Helvetica Bold"/>
                  <a:ea typeface="Helvetica Bold"/>
                  <a:cs typeface="Helvetica Bold"/>
                  <a:sym typeface="Helvetica Bold"/>
                </a:rPr>
                <a:t>Mockups del flujo principal</a:t>
              </a:r>
            </a:p>
          </p:txBody>
        </p:sp>
      </p:grpSp>
      <p:sp>
        <p:nvSpPr>
          <p:cNvPr name="AutoShape 8" id="8"/>
          <p:cNvSpPr/>
          <p:nvPr/>
        </p:nvSpPr>
        <p:spPr>
          <a:xfrm rot="4500">
            <a:off x="903675" y="1838325"/>
            <a:ext cx="16480650" cy="0"/>
          </a:xfrm>
          <a:prstGeom prst="line">
            <a:avLst/>
          </a:prstGeom>
          <a:ln cap="rnd" w="9525">
            <a:solidFill>
              <a:srgbClr val="D2E4E2"/>
            </a:solidFill>
            <a:prstDash val="solid"/>
            <a:headEnd type="none" len="sm" w="sm"/>
            <a:tailEnd type="none" len="sm" w="sm"/>
          </a:ln>
        </p:spPr>
      </p:sp>
      <p:grpSp>
        <p:nvGrpSpPr>
          <p:cNvPr name="Group 9" id="9"/>
          <p:cNvGrpSpPr/>
          <p:nvPr/>
        </p:nvGrpSpPr>
        <p:grpSpPr>
          <a:xfrm rot="0">
            <a:off x="16144875" y="9572625"/>
            <a:ext cx="1228725" cy="357188"/>
            <a:chOff x="0" y="0"/>
            <a:chExt cx="1638300" cy="476250"/>
          </a:xfrm>
        </p:grpSpPr>
        <p:sp>
          <p:nvSpPr>
            <p:cNvPr name="Freeform 10" id="10"/>
            <p:cNvSpPr/>
            <p:nvPr/>
          </p:nvSpPr>
          <p:spPr>
            <a:xfrm flipH="false" flipV="false" rot="0">
              <a:off x="0" y="0"/>
              <a:ext cx="1638300" cy="476250"/>
            </a:xfrm>
            <a:custGeom>
              <a:avLst/>
              <a:gdLst/>
              <a:ahLst/>
              <a:cxnLst/>
              <a:rect r="r" b="b" t="t" l="l"/>
              <a:pathLst>
                <a:path h="476250" w="1638300">
                  <a:moveTo>
                    <a:pt x="0" y="0"/>
                  </a:moveTo>
                  <a:lnTo>
                    <a:pt x="1638300" y="0"/>
                  </a:lnTo>
                  <a:lnTo>
                    <a:pt x="1638300" y="476250"/>
                  </a:lnTo>
                  <a:lnTo>
                    <a:pt x="0" y="476250"/>
                  </a:lnTo>
                  <a:close/>
                </a:path>
              </a:pathLst>
            </a:custGeom>
            <a:blipFill>
              <a:blip r:embed="rId3">
                <a:alphaModFix amt="0"/>
              </a:blip>
              <a:stretch>
                <a:fillRect l="0" t="-17028" r="0" b="-17028"/>
              </a:stretch>
            </a:blipFill>
          </p:spPr>
        </p:sp>
        <p:sp>
          <p:nvSpPr>
            <p:cNvPr name="TextBox 11" id="11"/>
            <p:cNvSpPr txBox="true"/>
            <p:nvPr/>
          </p:nvSpPr>
          <p:spPr>
            <a:xfrm>
              <a:off x="0" y="-19050"/>
              <a:ext cx="1638300" cy="495300"/>
            </a:xfrm>
            <a:prstGeom prst="rect">
              <a:avLst/>
            </a:prstGeom>
          </p:spPr>
          <p:txBody>
            <a:bodyPr anchor="ctr" rtlCol="false" tIns="0" lIns="0" bIns="0" rIns="0"/>
            <a:lstStyle/>
            <a:p>
              <a:pPr algn="l">
                <a:lnSpc>
                  <a:spcPts val="2430"/>
                </a:lnSpc>
              </a:pPr>
              <a:r>
                <a:rPr lang="en-US" sz="2025">
                  <a:solidFill>
                    <a:srgbClr val="59757B"/>
                  </a:solidFill>
                  <a:latin typeface="Helvetica"/>
                  <a:ea typeface="Helvetica"/>
                  <a:cs typeface="Helvetica"/>
                  <a:sym typeface="Helvetica"/>
                </a:rPr>
                <a:t>07 / 09</a:t>
              </a:r>
            </a:p>
          </p:txBody>
        </p:sp>
      </p:grpSp>
      <p:grpSp>
        <p:nvGrpSpPr>
          <p:cNvPr name="Group 12" id="12"/>
          <p:cNvGrpSpPr/>
          <p:nvPr/>
        </p:nvGrpSpPr>
        <p:grpSpPr>
          <a:xfrm rot="0">
            <a:off x="914400" y="2257425"/>
            <a:ext cx="8001000" cy="571500"/>
            <a:chOff x="0" y="0"/>
            <a:chExt cx="10668000" cy="762000"/>
          </a:xfrm>
        </p:grpSpPr>
        <p:sp>
          <p:nvSpPr>
            <p:cNvPr name="Freeform 13" id="13"/>
            <p:cNvSpPr/>
            <p:nvPr/>
          </p:nvSpPr>
          <p:spPr>
            <a:xfrm flipH="false" flipV="false" rot="0">
              <a:off x="0" y="0"/>
              <a:ext cx="10668000" cy="762000"/>
            </a:xfrm>
            <a:custGeom>
              <a:avLst/>
              <a:gdLst/>
              <a:ahLst/>
              <a:cxnLst/>
              <a:rect r="r" b="b" t="t" l="l"/>
              <a:pathLst>
                <a:path h="762000" w="10668000">
                  <a:moveTo>
                    <a:pt x="0" y="0"/>
                  </a:moveTo>
                  <a:lnTo>
                    <a:pt x="10668000" y="0"/>
                  </a:lnTo>
                  <a:lnTo>
                    <a:pt x="10668000" y="762000"/>
                  </a:lnTo>
                  <a:lnTo>
                    <a:pt x="0" y="762000"/>
                  </a:lnTo>
                  <a:close/>
                </a:path>
              </a:pathLst>
            </a:custGeom>
            <a:blipFill>
              <a:blip r:embed="rId3">
                <a:alphaModFix amt="0"/>
              </a:blip>
              <a:stretch>
                <a:fillRect l="0" t="-222790" r="0" b="-222790"/>
              </a:stretch>
            </a:blipFill>
          </p:spPr>
        </p:sp>
        <p:sp>
          <p:nvSpPr>
            <p:cNvPr name="TextBox 14" id="14"/>
            <p:cNvSpPr txBox="true"/>
            <p:nvPr/>
          </p:nvSpPr>
          <p:spPr>
            <a:xfrm>
              <a:off x="0" y="-28575"/>
              <a:ext cx="10668000" cy="790575"/>
            </a:xfrm>
            <a:prstGeom prst="rect">
              <a:avLst/>
            </a:prstGeom>
          </p:spPr>
          <p:txBody>
            <a:bodyPr anchor="ctr" rtlCol="false" tIns="0" lIns="0" bIns="0" rIns="0"/>
            <a:lstStyle/>
            <a:p>
              <a:pPr algn="l">
                <a:lnSpc>
                  <a:spcPts val="3779"/>
                </a:lnSpc>
              </a:pPr>
              <a:r>
                <a:rPr lang="en-US" sz="3150" b="true">
                  <a:solidFill>
                    <a:srgbClr val="117B82"/>
                  </a:solidFill>
                  <a:latin typeface="Helvetica Bold"/>
                  <a:ea typeface="Helvetica Bold"/>
                  <a:cs typeface="Helvetica Bold"/>
                  <a:sym typeface="Helvetica Bold"/>
                </a:rPr>
                <a:t>Panel personal</a:t>
              </a:r>
            </a:p>
          </p:txBody>
        </p:sp>
      </p:grpSp>
      <p:grpSp>
        <p:nvGrpSpPr>
          <p:cNvPr name="Group 15" id="15"/>
          <p:cNvGrpSpPr/>
          <p:nvPr/>
        </p:nvGrpSpPr>
        <p:grpSpPr>
          <a:xfrm rot="0">
            <a:off x="9572625" y="2257425"/>
            <a:ext cx="7800975" cy="571500"/>
            <a:chOff x="0" y="0"/>
            <a:chExt cx="10401300" cy="762000"/>
          </a:xfrm>
        </p:grpSpPr>
        <p:sp>
          <p:nvSpPr>
            <p:cNvPr name="Freeform 16" id="16"/>
            <p:cNvSpPr/>
            <p:nvPr/>
          </p:nvSpPr>
          <p:spPr>
            <a:xfrm flipH="false" flipV="false" rot="0">
              <a:off x="0" y="0"/>
              <a:ext cx="10401300" cy="762000"/>
            </a:xfrm>
            <a:custGeom>
              <a:avLst/>
              <a:gdLst/>
              <a:ahLst/>
              <a:cxnLst/>
              <a:rect r="r" b="b" t="t" l="l"/>
              <a:pathLst>
                <a:path h="762000" w="10401300">
                  <a:moveTo>
                    <a:pt x="0" y="0"/>
                  </a:moveTo>
                  <a:lnTo>
                    <a:pt x="10401300" y="0"/>
                  </a:lnTo>
                  <a:lnTo>
                    <a:pt x="10401300" y="762000"/>
                  </a:lnTo>
                  <a:lnTo>
                    <a:pt x="0" y="762000"/>
                  </a:lnTo>
                  <a:close/>
                </a:path>
              </a:pathLst>
            </a:custGeom>
            <a:blipFill>
              <a:blip r:embed="rId3">
                <a:alphaModFix amt="0"/>
              </a:blip>
              <a:stretch>
                <a:fillRect l="0" t="-215970" r="0" b="-215970"/>
              </a:stretch>
            </a:blipFill>
          </p:spPr>
        </p:sp>
        <p:sp>
          <p:nvSpPr>
            <p:cNvPr name="TextBox 17" id="17"/>
            <p:cNvSpPr txBox="true"/>
            <p:nvPr/>
          </p:nvSpPr>
          <p:spPr>
            <a:xfrm>
              <a:off x="0" y="-28575"/>
              <a:ext cx="10401300" cy="790575"/>
            </a:xfrm>
            <a:prstGeom prst="rect">
              <a:avLst/>
            </a:prstGeom>
          </p:spPr>
          <p:txBody>
            <a:bodyPr anchor="ctr" rtlCol="false" tIns="0" lIns="0" bIns="0" rIns="0"/>
            <a:lstStyle/>
            <a:p>
              <a:pPr algn="l">
                <a:lnSpc>
                  <a:spcPts val="3779"/>
                </a:lnSpc>
              </a:pPr>
              <a:r>
                <a:rPr lang="en-US" sz="3150" b="true">
                  <a:solidFill>
                    <a:srgbClr val="117B82"/>
                  </a:solidFill>
                  <a:latin typeface="Helvetica Bold"/>
                  <a:ea typeface="Helvetica Bold"/>
                  <a:cs typeface="Helvetica Bold"/>
                  <a:sym typeface="Helvetica Bold"/>
                </a:rPr>
                <a:t>Carga de documentos</a:t>
              </a:r>
            </a:p>
          </p:txBody>
        </p:sp>
      </p:grpSp>
      <p:grpSp>
        <p:nvGrpSpPr>
          <p:cNvPr name="Group 18" id="18"/>
          <p:cNvGrpSpPr/>
          <p:nvPr/>
        </p:nvGrpSpPr>
        <p:grpSpPr>
          <a:xfrm rot="0">
            <a:off x="792956" y="3203210"/>
            <a:ext cx="8243888" cy="5309330"/>
            <a:chOff x="0" y="0"/>
            <a:chExt cx="10991850" cy="7079107"/>
          </a:xfrm>
        </p:grpSpPr>
        <p:sp>
          <p:nvSpPr>
            <p:cNvPr name="Freeform 19" id="19"/>
            <p:cNvSpPr/>
            <p:nvPr/>
          </p:nvSpPr>
          <p:spPr>
            <a:xfrm flipH="false" flipV="false" rot="0">
              <a:off x="0" y="0"/>
              <a:ext cx="10991850" cy="7079107"/>
            </a:xfrm>
            <a:custGeom>
              <a:avLst/>
              <a:gdLst/>
              <a:ahLst/>
              <a:cxnLst/>
              <a:rect r="r" b="b" t="t" l="l"/>
              <a:pathLst>
                <a:path h="7079107" w="10991850">
                  <a:moveTo>
                    <a:pt x="0" y="152781"/>
                  </a:moveTo>
                  <a:cubicBezTo>
                    <a:pt x="0" y="68453"/>
                    <a:pt x="68453" y="0"/>
                    <a:pt x="152781" y="0"/>
                  </a:cubicBezTo>
                  <a:lnTo>
                    <a:pt x="10839069" y="0"/>
                  </a:lnTo>
                  <a:cubicBezTo>
                    <a:pt x="10923524" y="0"/>
                    <a:pt x="10991850" y="68453"/>
                    <a:pt x="10991850" y="152781"/>
                  </a:cubicBezTo>
                  <a:lnTo>
                    <a:pt x="10991850" y="6926326"/>
                  </a:lnTo>
                  <a:cubicBezTo>
                    <a:pt x="10991850" y="7010781"/>
                    <a:pt x="10923397" y="7079107"/>
                    <a:pt x="10839069" y="7079107"/>
                  </a:cubicBezTo>
                  <a:lnTo>
                    <a:pt x="152781" y="7079107"/>
                  </a:lnTo>
                  <a:cubicBezTo>
                    <a:pt x="68453" y="7079107"/>
                    <a:pt x="0" y="7010654"/>
                    <a:pt x="0" y="6926326"/>
                  </a:cubicBezTo>
                  <a:close/>
                </a:path>
              </a:pathLst>
            </a:custGeom>
            <a:solidFill>
              <a:srgbClr val="FFFFFF"/>
            </a:solidFill>
            <a:ln w="14288" cap="sq">
              <a:solidFill>
                <a:srgbClr val="D2E4E2"/>
              </a:solidFill>
              <a:prstDash val="solid"/>
              <a:miter/>
            </a:ln>
          </p:spPr>
        </p:sp>
      </p:grpSp>
      <p:grpSp>
        <p:nvGrpSpPr>
          <p:cNvPr name="Group 20" id="20"/>
          <p:cNvGrpSpPr/>
          <p:nvPr/>
        </p:nvGrpSpPr>
        <p:grpSpPr>
          <a:xfrm rot="0">
            <a:off x="914400" y="3324654"/>
            <a:ext cx="8001000" cy="5066443"/>
            <a:chOff x="0" y="0"/>
            <a:chExt cx="10668000" cy="6755257"/>
          </a:xfrm>
        </p:grpSpPr>
        <p:sp>
          <p:nvSpPr>
            <p:cNvPr name="Freeform 21" id="21"/>
            <p:cNvSpPr/>
            <p:nvPr/>
          </p:nvSpPr>
          <p:spPr>
            <a:xfrm flipH="false" flipV="false" rot="0">
              <a:off x="0" y="0"/>
              <a:ext cx="10668000" cy="6755257"/>
            </a:xfrm>
            <a:custGeom>
              <a:avLst/>
              <a:gdLst/>
              <a:ahLst/>
              <a:cxnLst/>
              <a:rect r="r" b="b" t="t" l="l"/>
              <a:pathLst>
                <a:path h="6755257" w="10668000">
                  <a:moveTo>
                    <a:pt x="0" y="0"/>
                  </a:moveTo>
                  <a:lnTo>
                    <a:pt x="10668000" y="0"/>
                  </a:lnTo>
                  <a:lnTo>
                    <a:pt x="10668000" y="6755257"/>
                  </a:lnTo>
                  <a:lnTo>
                    <a:pt x="0" y="6755257"/>
                  </a:lnTo>
                  <a:lnTo>
                    <a:pt x="0" y="0"/>
                  </a:lnTo>
                  <a:close/>
                </a:path>
              </a:pathLst>
            </a:custGeom>
            <a:blipFill>
              <a:blip r:embed="rId4"/>
              <a:stretch>
                <a:fillRect l="0" t="0" r="0" b="0"/>
              </a:stretch>
            </a:blipFill>
          </p:spPr>
        </p:sp>
      </p:grpSp>
      <p:grpSp>
        <p:nvGrpSpPr>
          <p:cNvPr name="Group 22" id="22"/>
          <p:cNvGrpSpPr/>
          <p:nvPr/>
        </p:nvGrpSpPr>
        <p:grpSpPr>
          <a:xfrm rot="0">
            <a:off x="9451181" y="3597697"/>
            <a:ext cx="8043862" cy="4520355"/>
            <a:chOff x="0" y="0"/>
            <a:chExt cx="10725150" cy="6027141"/>
          </a:xfrm>
        </p:grpSpPr>
        <p:sp>
          <p:nvSpPr>
            <p:cNvPr name="Freeform 23" id="23"/>
            <p:cNvSpPr/>
            <p:nvPr/>
          </p:nvSpPr>
          <p:spPr>
            <a:xfrm flipH="false" flipV="false" rot="0">
              <a:off x="0" y="0"/>
              <a:ext cx="10725150" cy="6027166"/>
            </a:xfrm>
            <a:custGeom>
              <a:avLst/>
              <a:gdLst/>
              <a:ahLst/>
              <a:cxnLst/>
              <a:rect r="r" b="b" t="t" l="l"/>
              <a:pathLst>
                <a:path h="6027166" w="10725150">
                  <a:moveTo>
                    <a:pt x="0" y="152908"/>
                  </a:moveTo>
                  <a:cubicBezTo>
                    <a:pt x="0" y="68453"/>
                    <a:pt x="68453" y="0"/>
                    <a:pt x="152908" y="0"/>
                  </a:cubicBezTo>
                  <a:lnTo>
                    <a:pt x="10572242" y="0"/>
                  </a:lnTo>
                  <a:cubicBezTo>
                    <a:pt x="10656698" y="0"/>
                    <a:pt x="10725150" y="68453"/>
                    <a:pt x="10725150" y="152908"/>
                  </a:cubicBezTo>
                  <a:lnTo>
                    <a:pt x="10725150" y="5874258"/>
                  </a:lnTo>
                  <a:cubicBezTo>
                    <a:pt x="10725150" y="5958713"/>
                    <a:pt x="10656698" y="6027166"/>
                    <a:pt x="10572242" y="6027166"/>
                  </a:cubicBezTo>
                  <a:lnTo>
                    <a:pt x="152908" y="6027166"/>
                  </a:lnTo>
                  <a:cubicBezTo>
                    <a:pt x="68453" y="6027166"/>
                    <a:pt x="0" y="5958713"/>
                    <a:pt x="0" y="5874258"/>
                  </a:cubicBezTo>
                  <a:close/>
                </a:path>
              </a:pathLst>
            </a:custGeom>
            <a:solidFill>
              <a:srgbClr val="FFFFFF"/>
            </a:solidFill>
            <a:ln w="14288" cap="sq">
              <a:solidFill>
                <a:srgbClr val="D2E4E2"/>
              </a:solidFill>
              <a:prstDash val="solid"/>
              <a:miter/>
            </a:ln>
          </p:spPr>
        </p:sp>
      </p:grpSp>
      <p:grpSp>
        <p:nvGrpSpPr>
          <p:cNvPr name="Group 24" id="24"/>
          <p:cNvGrpSpPr/>
          <p:nvPr/>
        </p:nvGrpSpPr>
        <p:grpSpPr>
          <a:xfrm rot="0">
            <a:off x="9572625" y="3719141"/>
            <a:ext cx="7800975" cy="4277468"/>
            <a:chOff x="0" y="0"/>
            <a:chExt cx="10401300" cy="5703291"/>
          </a:xfrm>
        </p:grpSpPr>
        <p:sp>
          <p:nvSpPr>
            <p:cNvPr name="Freeform 25" id="25"/>
            <p:cNvSpPr/>
            <p:nvPr/>
          </p:nvSpPr>
          <p:spPr>
            <a:xfrm flipH="false" flipV="false" rot="0">
              <a:off x="0" y="0"/>
              <a:ext cx="10401300" cy="5703316"/>
            </a:xfrm>
            <a:custGeom>
              <a:avLst/>
              <a:gdLst/>
              <a:ahLst/>
              <a:cxnLst/>
              <a:rect r="r" b="b" t="t" l="l"/>
              <a:pathLst>
                <a:path h="5703316" w="10401300">
                  <a:moveTo>
                    <a:pt x="0" y="0"/>
                  </a:moveTo>
                  <a:lnTo>
                    <a:pt x="10401300" y="0"/>
                  </a:lnTo>
                  <a:lnTo>
                    <a:pt x="10401300" y="5703316"/>
                  </a:lnTo>
                  <a:lnTo>
                    <a:pt x="0" y="5703316"/>
                  </a:lnTo>
                  <a:lnTo>
                    <a:pt x="0" y="0"/>
                  </a:lnTo>
                  <a:close/>
                </a:path>
              </a:pathLst>
            </a:custGeom>
            <a:blipFill>
              <a:blip r:embed="rId5"/>
              <a:stretch>
                <a:fillRect l="0" t="0" r="0" b="0"/>
              </a:stretch>
            </a:blipFill>
          </p:spPr>
        </p:sp>
      </p:grpSp>
      <p:grpSp>
        <p:nvGrpSpPr>
          <p:cNvPr name="Group 26" id="26"/>
          <p:cNvGrpSpPr/>
          <p:nvPr/>
        </p:nvGrpSpPr>
        <p:grpSpPr>
          <a:xfrm rot="0">
            <a:off x="914400" y="8658225"/>
            <a:ext cx="8001000" cy="571500"/>
            <a:chOff x="0" y="0"/>
            <a:chExt cx="10668000" cy="762000"/>
          </a:xfrm>
        </p:grpSpPr>
        <p:sp>
          <p:nvSpPr>
            <p:cNvPr name="Freeform 27" id="27"/>
            <p:cNvSpPr/>
            <p:nvPr/>
          </p:nvSpPr>
          <p:spPr>
            <a:xfrm flipH="false" flipV="false" rot="0">
              <a:off x="0" y="0"/>
              <a:ext cx="10668000" cy="762000"/>
            </a:xfrm>
            <a:custGeom>
              <a:avLst/>
              <a:gdLst/>
              <a:ahLst/>
              <a:cxnLst/>
              <a:rect r="r" b="b" t="t" l="l"/>
              <a:pathLst>
                <a:path h="762000" w="10668000">
                  <a:moveTo>
                    <a:pt x="0" y="0"/>
                  </a:moveTo>
                  <a:lnTo>
                    <a:pt x="10668000" y="0"/>
                  </a:lnTo>
                  <a:lnTo>
                    <a:pt x="10668000" y="762000"/>
                  </a:lnTo>
                  <a:lnTo>
                    <a:pt x="0" y="762000"/>
                  </a:lnTo>
                  <a:close/>
                </a:path>
              </a:pathLst>
            </a:custGeom>
            <a:blipFill>
              <a:blip r:embed="rId3">
                <a:alphaModFix amt="0"/>
              </a:blip>
              <a:stretch>
                <a:fillRect l="0" t="-222790" r="0" b="-222790"/>
              </a:stretch>
            </a:blipFill>
          </p:spPr>
        </p:sp>
        <p:sp>
          <p:nvSpPr>
            <p:cNvPr name="TextBox 28" id="28"/>
            <p:cNvSpPr txBox="true"/>
            <p:nvPr/>
          </p:nvSpPr>
          <p:spPr>
            <a:xfrm>
              <a:off x="0" y="-28575"/>
              <a:ext cx="10668000" cy="790575"/>
            </a:xfrm>
            <a:prstGeom prst="rect">
              <a:avLst/>
            </a:prstGeom>
          </p:spPr>
          <p:txBody>
            <a:bodyPr anchor="ctr" rtlCol="false" tIns="0" lIns="0" bIns="0" rIns="0"/>
            <a:lstStyle/>
            <a:p>
              <a:pPr algn="l">
                <a:lnSpc>
                  <a:spcPts val="3104"/>
                </a:lnSpc>
              </a:pPr>
              <a:r>
                <a:rPr lang="en-US" sz="2587">
                  <a:solidFill>
                    <a:srgbClr val="173B47"/>
                  </a:solidFill>
                  <a:latin typeface="Helvetica"/>
                  <a:ea typeface="Helvetica"/>
                  <a:cs typeface="Helvetica"/>
                  <a:sym typeface="Helvetica"/>
                </a:rPr>
                <a:t>Documentos y pendientes de revisión</a:t>
              </a:r>
            </a:p>
          </p:txBody>
        </p:sp>
      </p:grpSp>
      <p:grpSp>
        <p:nvGrpSpPr>
          <p:cNvPr name="Group 29" id="29"/>
          <p:cNvGrpSpPr/>
          <p:nvPr/>
        </p:nvGrpSpPr>
        <p:grpSpPr>
          <a:xfrm rot="0">
            <a:off x="9572625" y="8658225"/>
            <a:ext cx="7800975" cy="571500"/>
            <a:chOff x="0" y="0"/>
            <a:chExt cx="10401300" cy="762000"/>
          </a:xfrm>
        </p:grpSpPr>
        <p:sp>
          <p:nvSpPr>
            <p:cNvPr name="Freeform 30" id="30"/>
            <p:cNvSpPr/>
            <p:nvPr/>
          </p:nvSpPr>
          <p:spPr>
            <a:xfrm flipH="false" flipV="false" rot="0">
              <a:off x="0" y="0"/>
              <a:ext cx="10401300" cy="762000"/>
            </a:xfrm>
            <a:custGeom>
              <a:avLst/>
              <a:gdLst/>
              <a:ahLst/>
              <a:cxnLst/>
              <a:rect r="r" b="b" t="t" l="l"/>
              <a:pathLst>
                <a:path h="762000" w="10401300">
                  <a:moveTo>
                    <a:pt x="0" y="0"/>
                  </a:moveTo>
                  <a:lnTo>
                    <a:pt x="10401300" y="0"/>
                  </a:lnTo>
                  <a:lnTo>
                    <a:pt x="10401300" y="762000"/>
                  </a:lnTo>
                  <a:lnTo>
                    <a:pt x="0" y="762000"/>
                  </a:lnTo>
                  <a:close/>
                </a:path>
              </a:pathLst>
            </a:custGeom>
            <a:blipFill>
              <a:blip r:embed="rId3">
                <a:alphaModFix amt="0"/>
              </a:blip>
              <a:stretch>
                <a:fillRect l="0" t="-215970" r="0" b="-215970"/>
              </a:stretch>
            </a:blipFill>
          </p:spPr>
        </p:sp>
        <p:sp>
          <p:nvSpPr>
            <p:cNvPr name="TextBox 31" id="31"/>
            <p:cNvSpPr txBox="true"/>
            <p:nvPr/>
          </p:nvSpPr>
          <p:spPr>
            <a:xfrm>
              <a:off x="0" y="-28575"/>
              <a:ext cx="10401300" cy="790575"/>
            </a:xfrm>
            <a:prstGeom prst="rect">
              <a:avLst/>
            </a:prstGeom>
          </p:spPr>
          <p:txBody>
            <a:bodyPr anchor="ctr" rtlCol="false" tIns="0" lIns="0" bIns="0" rIns="0"/>
            <a:lstStyle/>
            <a:p>
              <a:pPr algn="l">
                <a:lnSpc>
                  <a:spcPts val="3104"/>
                </a:lnSpc>
              </a:pPr>
              <a:r>
                <a:rPr lang="en-US" sz="2587">
                  <a:solidFill>
                    <a:srgbClr val="173B47"/>
                  </a:solidFill>
                  <a:latin typeface="Helvetica"/>
                  <a:ea typeface="Helvetica"/>
                  <a:cs typeface="Helvetica"/>
                  <a:sym typeface="Helvetica"/>
                </a:rPr>
                <a:t>PDF, JPG y PNG, hasta 10 MB en el mockup</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CFEFD"/>
        </a:solidFill>
      </p:bgPr>
    </p:bg>
    <p:spTree>
      <p:nvGrpSpPr>
        <p:cNvPr id="1" name=""/>
        <p:cNvGrpSpPr/>
        <p:nvPr/>
      </p:nvGrpSpPr>
      <p:grpSpPr>
        <a:xfrm>
          <a:off x="0" y="0"/>
          <a:ext cx="0" cy="0"/>
          <a:chOff x="0" y="0"/>
          <a:chExt cx="0" cy="0"/>
        </a:xfrm>
      </p:grpSpPr>
      <p:grpSp>
        <p:nvGrpSpPr>
          <p:cNvPr name="Group 2" id="2"/>
          <p:cNvGrpSpPr/>
          <p:nvPr/>
        </p:nvGrpSpPr>
        <p:grpSpPr>
          <a:xfrm rot="0">
            <a:off x="914400" y="285750"/>
            <a:ext cx="3000375" cy="342900"/>
            <a:chOff x="0" y="0"/>
            <a:chExt cx="4000500" cy="457200"/>
          </a:xfrm>
        </p:grpSpPr>
        <p:sp>
          <p:nvSpPr>
            <p:cNvPr name="Freeform 3" id="3"/>
            <p:cNvSpPr/>
            <p:nvPr/>
          </p:nvSpPr>
          <p:spPr>
            <a:xfrm flipH="false" flipV="false" rot="0">
              <a:off x="0" y="0"/>
              <a:ext cx="4000500" cy="457200"/>
            </a:xfrm>
            <a:custGeom>
              <a:avLst/>
              <a:gdLst/>
              <a:ahLst/>
              <a:cxnLst/>
              <a:rect r="r" b="b" t="t" l="l"/>
              <a:pathLst>
                <a:path h="457200" w="4000500">
                  <a:moveTo>
                    <a:pt x="0" y="0"/>
                  </a:moveTo>
                  <a:lnTo>
                    <a:pt x="4000500" y="0"/>
                  </a:lnTo>
                  <a:lnTo>
                    <a:pt x="4000500" y="457200"/>
                  </a:lnTo>
                  <a:lnTo>
                    <a:pt x="0" y="457200"/>
                  </a:lnTo>
                  <a:close/>
                </a:path>
              </a:pathLst>
            </a:custGeom>
            <a:blipFill>
              <a:blip r:embed="rId3">
                <a:alphaModFix amt="0"/>
              </a:blip>
              <a:stretch>
                <a:fillRect l="0" t="-120494" r="0" b="-120494"/>
              </a:stretch>
            </a:blipFill>
          </p:spPr>
        </p:sp>
        <p:sp>
          <p:nvSpPr>
            <p:cNvPr name="TextBox 4" id="4"/>
            <p:cNvSpPr txBox="true"/>
            <p:nvPr/>
          </p:nvSpPr>
          <p:spPr>
            <a:xfrm>
              <a:off x="0" y="-19050"/>
              <a:ext cx="4000500" cy="476250"/>
            </a:xfrm>
            <a:prstGeom prst="rect">
              <a:avLst/>
            </a:prstGeom>
          </p:spPr>
          <p:txBody>
            <a:bodyPr anchor="ctr" rtlCol="false" tIns="0" lIns="0" bIns="0" rIns="0"/>
            <a:lstStyle/>
            <a:p>
              <a:pPr algn="l">
                <a:lnSpc>
                  <a:spcPts val="2295"/>
                </a:lnSpc>
              </a:pPr>
              <a:r>
                <a:rPr lang="en-US" sz="1912" b="true">
                  <a:solidFill>
                    <a:srgbClr val="117B82"/>
                  </a:solidFill>
                  <a:latin typeface="Helvetica Bold"/>
                  <a:ea typeface="Helvetica Bold"/>
                  <a:cs typeface="Helvetica Bold"/>
                  <a:sym typeface="Helvetica Bold"/>
                </a:rPr>
                <a:t>MEDLINK</a:t>
              </a:r>
            </a:p>
          </p:txBody>
        </p:sp>
      </p:grpSp>
      <p:grpSp>
        <p:nvGrpSpPr>
          <p:cNvPr name="Group 5" id="5"/>
          <p:cNvGrpSpPr/>
          <p:nvPr/>
        </p:nvGrpSpPr>
        <p:grpSpPr>
          <a:xfrm rot="0">
            <a:off x="914400" y="728662"/>
            <a:ext cx="16287750" cy="928688"/>
            <a:chOff x="0" y="0"/>
            <a:chExt cx="21717000" cy="1238250"/>
          </a:xfrm>
        </p:grpSpPr>
        <p:sp>
          <p:nvSpPr>
            <p:cNvPr name="Freeform 6" id="6"/>
            <p:cNvSpPr/>
            <p:nvPr/>
          </p:nvSpPr>
          <p:spPr>
            <a:xfrm flipH="false" flipV="false" rot="0">
              <a:off x="0" y="0"/>
              <a:ext cx="21717000" cy="1238250"/>
            </a:xfrm>
            <a:custGeom>
              <a:avLst/>
              <a:gdLst/>
              <a:ahLst/>
              <a:cxnLst/>
              <a:rect r="r" b="b" t="t" l="l"/>
              <a:pathLst>
                <a:path h="1238250" w="21717000">
                  <a:moveTo>
                    <a:pt x="0" y="0"/>
                  </a:moveTo>
                  <a:lnTo>
                    <a:pt x="21717000" y="0"/>
                  </a:lnTo>
                  <a:lnTo>
                    <a:pt x="21717000" y="1238250"/>
                  </a:lnTo>
                  <a:lnTo>
                    <a:pt x="0" y="1238250"/>
                  </a:lnTo>
                  <a:close/>
                </a:path>
              </a:pathLst>
            </a:custGeom>
            <a:blipFill>
              <a:blip r:embed="rId3">
                <a:alphaModFix amt="0"/>
              </a:blip>
              <a:stretch>
                <a:fillRect l="0" t="-291737" r="0" b="-291737"/>
              </a:stretch>
            </a:blipFill>
          </p:spPr>
        </p:sp>
        <p:sp>
          <p:nvSpPr>
            <p:cNvPr name="TextBox 7" id="7"/>
            <p:cNvSpPr txBox="true"/>
            <p:nvPr/>
          </p:nvSpPr>
          <p:spPr>
            <a:xfrm>
              <a:off x="0" y="-38100"/>
              <a:ext cx="21717000" cy="1276350"/>
            </a:xfrm>
            <a:prstGeom prst="rect">
              <a:avLst/>
            </a:prstGeom>
          </p:spPr>
          <p:txBody>
            <a:bodyPr anchor="ctr" rtlCol="false" tIns="0" lIns="0" bIns="0" rIns="0"/>
            <a:lstStyle/>
            <a:p>
              <a:pPr algn="l">
                <a:lnSpc>
                  <a:spcPts val="5670"/>
                </a:lnSpc>
              </a:pPr>
              <a:r>
                <a:rPr lang="en-US" sz="4725" b="true">
                  <a:solidFill>
                    <a:srgbClr val="173B47"/>
                  </a:solidFill>
                  <a:latin typeface="Helvetica Bold"/>
                  <a:ea typeface="Helvetica Bold"/>
                  <a:cs typeface="Helvetica Bold"/>
                  <a:sym typeface="Helvetica Bold"/>
                </a:rPr>
                <a:t>Demo guiada de los mockups</a:t>
              </a:r>
            </a:p>
          </p:txBody>
        </p:sp>
      </p:grpSp>
      <p:sp>
        <p:nvSpPr>
          <p:cNvPr name="AutoShape 8" id="8"/>
          <p:cNvSpPr/>
          <p:nvPr/>
        </p:nvSpPr>
        <p:spPr>
          <a:xfrm rot="4500">
            <a:off x="903675" y="1838325"/>
            <a:ext cx="16480650" cy="0"/>
          </a:xfrm>
          <a:prstGeom prst="line">
            <a:avLst/>
          </a:prstGeom>
          <a:ln cap="rnd" w="9525">
            <a:solidFill>
              <a:srgbClr val="D2E4E2"/>
            </a:solidFill>
            <a:prstDash val="solid"/>
            <a:headEnd type="none" len="sm" w="sm"/>
            <a:tailEnd type="none" len="sm" w="sm"/>
          </a:ln>
        </p:spPr>
      </p:sp>
      <p:grpSp>
        <p:nvGrpSpPr>
          <p:cNvPr name="Group 9" id="9"/>
          <p:cNvGrpSpPr/>
          <p:nvPr/>
        </p:nvGrpSpPr>
        <p:grpSpPr>
          <a:xfrm rot="0">
            <a:off x="16144875" y="9572625"/>
            <a:ext cx="1228725" cy="357188"/>
            <a:chOff x="0" y="0"/>
            <a:chExt cx="1638300" cy="476250"/>
          </a:xfrm>
        </p:grpSpPr>
        <p:sp>
          <p:nvSpPr>
            <p:cNvPr name="Freeform 10" id="10"/>
            <p:cNvSpPr/>
            <p:nvPr/>
          </p:nvSpPr>
          <p:spPr>
            <a:xfrm flipH="false" flipV="false" rot="0">
              <a:off x="0" y="0"/>
              <a:ext cx="1638300" cy="476250"/>
            </a:xfrm>
            <a:custGeom>
              <a:avLst/>
              <a:gdLst/>
              <a:ahLst/>
              <a:cxnLst/>
              <a:rect r="r" b="b" t="t" l="l"/>
              <a:pathLst>
                <a:path h="476250" w="1638300">
                  <a:moveTo>
                    <a:pt x="0" y="0"/>
                  </a:moveTo>
                  <a:lnTo>
                    <a:pt x="1638300" y="0"/>
                  </a:lnTo>
                  <a:lnTo>
                    <a:pt x="1638300" y="476250"/>
                  </a:lnTo>
                  <a:lnTo>
                    <a:pt x="0" y="476250"/>
                  </a:lnTo>
                  <a:close/>
                </a:path>
              </a:pathLst>
            </a:custGeom>
            <a:blipFill>
              <a:blip r:embed="rId3">
                <a:alphaModFix amt="0"/>
              </a:blip>
              <a:stretch>
                <a:fillRect l="0" t="-17028" r="0" b="-17028"/>
              </a:stretch>
            </a:blipFill>
          </p:spPr>
        </p:sp>
        <p:sp>
          <p:nvSpPr>
            <p:cNvPr name="TextBox 11" id="11"/>
            <p:cNvSpPr txBox="true"/>
            <p:nvPr/>
          </p:nvSpPr>
          <p:spPr>
            <a:xfrm>
              <a:off x="0" y="-19050"/>
              <a:ext cx="1638300" cy="495300"/>
            </a:xfrm>
            <a:prstGeom prst="rect">
              <a:avLst/>
            </a:prstGeom>
          </p:spPr>
          <p:txBody>
            <a:bodyPr anchor="ctr" rtlCol="false" tIns="0" lIns="0" bIns="0" rIns="0"/>
            <a:lstStyle/>
            <a:p>
              <a:pPr algn="l">
                <a:lnSpc>
                  <a:spcPts val="2430"/>
                </a:lnSpc>
              </a:pPr>
              <a:r>
                <a:rPr lang="en-US" sz="2025">
                  <a:solidFill>
                    <a:srgbClr val="59757B"/>
                  </a:solidFill>
                  <a:latin typeface="Helvetica"/>
                  <a:ea typeface="Helvetica"/>
                  <a:cs typeface="Helvetica"/>
                  <a:sym typeface="Helvetica"/>
                </a:rPr>
                <a:t>08 / 09</a:t>
              </a:r>
            </a:p>
          </p:txBody>
        </p:sp>
      </p:grpSp>
      <p:grpSp>
        <p:nvGrpSpPr>
          <p:cNvPr name="Group 12" id="12"/>
          <p:cNvGrpSpPr/>
          <p:nvPr/>
        </p:nvGrpSpPr>
        <p:grpSpPr>
          <a:xfrm rot="0">
            <a:off x="1242393" y="2235994"/>
            <a:ext cx="10702576" cy="7229475"/>
            <a:chOff x="0" y="0"/>
            <a:chExt cx="14270101" cy="9639300"/>
          </a:xfrm>
        </p:grpSpPr>
        <p:sp>
          <p:nvSpPr>
            <p:cNvPr name="Freeform 13" id="13"/>
            <p:cNvSpPr/>
            <p:nvPr/>
          </p:nvSpPr>
          <p:spPr>
            <a:xfrm flipH="false" flipV="false" rot="0">
              <a:off x="0" y="0"/>
              <a:ext cx="14270101" cy="9639300"/>
            </a:xfrm>
            <a:custGeom>
              <a:avLst/>
              <a:gdLst/>
              <a:ahLst/>
              <a:cxnLst/>
              <a:rect r="r" b="b" t="t" l="l"/>
              <a:pathLst>
                <a:path h="9639300" w="14270101">
                  <a:moveTo>
                    <a:pt x="0" y="152654"/>
                  </a:moveTo>
                  <a:cubicBezTo>
                    <a:pt x="0" y="68326"/>
                    <a:pt x="68326" y="0"/>
                    <a:pt x="152654" y="0"/>
                  </a:cubicBezTo>
                  <a:lnTo>
                    <a:pt x="14117447" y="0"/>
                  </a:lnTo>
                  <a:cubicBezTo>
                    <a:pt x="14201775" y="0"/>
                    <a:pt x="14270101" y="68326"/>
                    <a:pt x="14270101" y="152654"/>
                  </a:cubicBezTo>
                  <a:lnTo>
                    <a:pt x="14270101" y="9486646"/>
                  </a:lnTo>
                  <a:cubicBezTo>
                    <a:pt x="14270101" y="9570974"/>
                    <a:pt x="14201775" y="9639300"/>
                    <a:pt x="14117447" y="9639300"/>
                  </a:cubicBezTo>
                  <a:lnTo>
                    <a:pt x="152654" y="9639300"/>
                  </a:lnTo>
                  <a:cubicBezTo>
                    <a:pt x="68326" y="9639300"/>
                    <a:pt x="0" y="9570974"/>
                    <a:pt x="0" y="9486646"/>
                  </a:cubicBezTo>
                  <a:close/>
                </a:path>
              </a:pathLst>
            </a:custGeom>
            <a:solidFill>
              <a:srgbClr val="FFFFFF"/>
            </a:solidFill>
            <a:ln w="14288" cap="sq">
              <a:solidFill>
                <a:srgbClr val="D2E4E2"/>
              </a:solidFill>
              <a:prstDash val="solid"/>
              <a:miter/>
            </a:ln>
          </p:spPr>
        </p:sp>
      </p:grpSp>
      <p:grpSp>
        <p:nvGrpSpPr>
          <p:cNvPr name="Group 14" id="14"/>
          <p:cNvGrpSpPr/>
          <p:nvPr/>
        </p:nvGrpSpPr>
        <p:grpSpPr>
          <a:xfrm rot="0">
            <a:off x="1363837" y="2357438"/>
            <a:ext cx="10459688" cy="6986588"/>
            <a:chOff x="0" y="0"/>
            <a:chExt cx="13946251" cy="9315450"/>
          </a:xfrm>
        </p:grpSpPr>
        <p:sp>
          <p:nvSpPr>
            <p:cNvPr name="Freeform 15" id="15"/>
            <p:cNvSpPr/>
            <p:nvPr/>
          </p:nvSpPr>
          <p:spPr>
            <a:xfrm flipH="false" flipV="false" rot="0">
              <a:off x="0" y="0"/>
              <a:ext cx="13946251" cy="9315450"/>
            </a:xfrm>
            <a:custGeom>
              <a:avLst/>
              <a:gdLst/>
              <a:ahLst/>
              <a:cxnLst/>
              <a:rect r="r" b="b" t="t" l="l"/>
              <a:pathLst>
                <a:path h="9315450" w="13946251">
                  <a:moveTo>
                    <a:pt x="0" y="0"/>
                  </a:moveTo>
                  <a:lnTo>
                    <a:pt x="13946251" y="0"/>
                  </a:lnTo>
                  <a:lnTo>
                    <a:pt x="13946251" y="9315450"/>
                  </a:lnTo>
                  <a:lnTo>
                    <a:pt x="0" y="9315450"/>
                  </a:lnTo>
                  <a:lnTo>
                    <a:pt x="0" y="0"/>
                  </a:lnTo>
                  <a:close/>
                </a:path>
              </a:pathLst>
            </a:custGeom>
            <a:blipFill>
              <a:blip r:embed="rId4"/>
              <a:stretch>
                <a:fillRect l="0" t="0" r="0" b="0"/>
              </a:stretch>
            </a:blipFill>
          </p:spPr>
        </p:sp>
      </p:grpSp>
      <p:grpSp>
        <p:nvGrpSpPr>
          <p:cNvPr name="Group 16" id="16"/>
          <p:cNvGrpSpPr/>
          <p:nvPr/>
        </p:nvGrpSpPr>
        <p:grpSpPr>
          <a:xfrm rot="0">
            <a:off x="12915900" y="2400300"/>
            <a:ext cx="4429125" cy="642938"/>
            <a:chOff x="0" y="0"/>
            <a:chExt cx="5905500" cy="857250"/>
          </a:xfrm>
        </p:grpSpPr>
        <p:sp>
          <p:nvSpPr>
            <p:cNvPr name="Freeform 17" id="17"/>
            <p:cNvSpPr/>
            <p:nvPr/>
          </p:nvSpPr>
          <p:spPr>
            <a:xfrm flipH="false" flipV="false" rot="0">
              <a:off x="0" y="0"/>
              <a:ext cx="5905500" cy="857250"/>
            </a:xfrm>
            <a:custGeom>
              <a:avLst/>
              <a:gdLst/>
              <a:ahLst/>
              <a:cxnLst/>
              <a:rect r="r" b="b" t="t" l="l"/>
              <a:pathLst>
                <a:path h="857250" w="5905500">
                  <a:moveTo>
                    <a:pt x="0" y="0"/>
                  </a:moveTo>
                  <a:lnTo>
                    <a:pt x="5905500" y="0"/>
                  </a:lnTo>
                  <a:lnTo>
                    <a:pt x="5905500" y="857250"/>
                  </a:lnTo>
                  <a:lnTo>
                    <a:pt x="0" y="857250"/>
                  </a:lnTo>
                  <a:close/>
                </a:path>
              </a:pathLst>
            </a:custGeom>
            <a:blipFill>
              <a:blip r:embed="rId3">
                <a:alphaModFix amt="0"/>
              </a:blip>
              <a:stretch>
                <a:fillRect l="0" t="-84230" r="0" b="-84230"/>
              </a:stretch>
            </a:blipFill>
          </p:spPr>
        </p:sp>
        <p:sp>
          <p:nvSpPr>
            <p:cNvPr name="TextBox 18" id="18"/>
            <p:cNvSpPr txBox="true"/>
            <p:nvPr/>
          </p:nvSpPr>
          <p:spPr>
            <a:xfrm>
              <a:off x="0" y="-28575"/>
              <a:ext cx="5905500" cy="885825"/>
            </a:xfrm>
            <a:prstGeom prst="rect">
              <a:avLst/>
            </a:prstGeom>
          </p:spPr>
          <p:txBody>
            <a:bodyPr anchor="ctr" rtlCol="false" tIns="0" lIns="0" bIns="0" rIns="0"/>
            <a:lstStyle/>
            <a:p>
              <a:pPr algn="l">
                <a:lnSpc>
                  <a:spcPts val="3779"/>
                </a:lnSpc>
              </a:pPr>
              <a:r>
                <a:rPr lang="en-US" sz="3150" b="true">
                  <a:solidFill>
                    <a:srgbClr val="117B82"/>
                  </a:solidFill>
                  <a:latin typeface="Helvetica Bold"/>
                  <a:ea typeface="Helvetica Bold"/>
                  <a:cs typeface="Helvetica Bold"/>
                  <a:sym typeface="Helvetica Bold"/>
                </a:rPr>
                <a:t>Recorrido propuesto</a:t>
              </a:r>
            </a:p>
          </p:txBody>
        </p:sp>
      </p:grpSp>
      <p:grpSp>
        <p:nvGrpSpPr>
          <p:cNvPr name="Group 19" id="19"/>
          <p:cNvGrpSpPr/>
          <p:nvPr/>
        </p:nvGrpSpPr>
        <p:grpSpPr>
          <a:xfrm rot="0">
            <a:off x="12915900" y="3500438"/>
            <a:ext cx="4429125" cy="1143000"/>
            <a:chOff x="0" y="0"/>
            <a:chExt cx="5905500" cy="1524000"/>
          </a:xfrm>
        </p:grpSpPr>
        <p:sp>
          <p:nvSpPr>
            <p:cNvPr name="Freeform 20" id="20"/>
            <p:cNvSpPr/>
            <p:nvPr/>
          </p:nvSpPr>
          <p:spPr>
            <a:xfrm flipH="false" flipV="false" rot="0">
              <a:off x="0" y="0"/>
              <a:ext cx="5905500" cy="1524000"/>
            </a:xfrm>
            <a:custGeom>
              <a:avLst/>
              <a:gdLst/>
              <a:ahLst/>
              <a:cxnLst/>
              <a:rect r="r" b="b" t="t" l="l"/>
              <a:pathLst>
                <a:path h="1524000" w="5905500">
                  <a:moveTo>
                    <a:pt x="0" y="0"/>
                  </a:moveTo>
                  <a:lnTo>
                    <a:pt x="5905500" y="0"/>
                  </a:lnTo>
                  <a:lnTo>
                    <a:pt x="5905500" y="1524000"/>
                  </a:lnTo>
                  <a:lnTo>
                    <a:pt x="0" y="1524000"/>
                  </a:lnTo>
                  <a:close/>
                </a:path>
              </a:pathLst>
            </a:custGeom>
            <a:blipFill>
              <a:blip r:embed="rId3">
                <a:alphaModFix amt="0"/>
              </a:blip>
              <a:stretch>
                <a:fillRect l="0" t="-25504" r="0" b="-25504"/>
              </a:stretch>
            </a:blipFill>
          </p:spPr>
        </p:sp>
        <p:sp>
          <p:nvSpPr>
            <p:cNvPr name="TextBox 21" id="21"/>
            <p:cNvSpPr txBox="true"/>
            <p:nvPr/>
          </p:nvSpPr>
          <p:spPr>
            <a:xfrm>
              <a:off x="0" y="-19050"/>
              <a:ext cx="5905500" cy="1543050"/>
            </a:xfrm>
            <a:prstGeom prst="rect">
              <a:avLst/>
            </a:prstGeom>
          </p:spPr>
          <p:txBody>
            <a:bodyPr anchor="ctr" rtlCol="false" tIns="0" lIns="0" bIns="0" rIns="0"/>
            <a:lstStyle/>
            <a:p>
              <a:pPr algn="l">
                <a:lnSpc>
                  <a:spcPts val="3375"/>
                </a:lnSpc>
              </a:pPr>
              <a:r>
                <a:rPr lang="en-US" sz="2812">
                  <a:solidFill>
                    <a:srgbClr val="173B47"/>
                  </a:solidFill>
                  <a:latin typeface="Helvetica"/>
                  <a:ea typeface="Helvetica"/>
                  <a:cs typeface="Helvetica"/>
                  <a:sym typeface="Helvetica"/>
                </a:rPr>
                <a:t>1. Acceso y panel</a:t>
              </a:r>
            </a:p>
            <a:p>
              <a:pPr algn="l">
                <a:lnSpc>
                  <a:spcPts val="3375"/>
                </a:lnSpc>
              </a:pPr>
              <a:r>
                <a:rPr lang="en-US" sz="2812">
                  <a:solidFill>
                    <a:srgbClr val="173B47"/>
                  </a:solidFill>
                  <a:latin typeface="Helvetica"/>
                  <a:ea typeface="Helvetica"/>
                  <a:cs typeface="Helvetica"/>
                  <a:sym typeface="Helvetica"/>
                </a:rPr>
                <a:t>Cuenta ficticia de Valentina</a:t>
              </a:r>
            </a:p>
          </p:txBody>
        </p:sp>
      </p:grpSp>
      <p:grpSp>
        <p:nvGrpSpPr>
          <p:cNvPr name="Group 22" id="22"/>
          <p:cNvGrpSpPr/>
          <p:nvPr/>
        </p:nvGrpSpPr>
        <p:grpSpPr>
          <a:xfrm rot="0">
            <a:off x="12915900" y="4957762"/>
            <a:ext cx="4429125" cy="1071562"/>
            <a:chOff x="0" y="0"/>
            <a:chExt cx="5905500" cy="1428750"/>
          </a:xfrm>
        </p:grpSpPr>
        <p:sp>
          <p:nvSpPr>
            <p:cNvPr name="Freeform 23" id="23"/>
            <p:cNvSpPr/>
            <p:nvPr/>
          </p:nvSpPr>
          <p:spPr>
            <a:xfrm flipH="false" flipV="false" rot="0">
              <a:off x="0" y="0"/>
              <a:ext cx="5905500" cy="1428750"/>
            </a:xfrm>
            <a:custGeom>
              <a:avLst/>
              <a:gdLst/>
              <a:ahLst/>
              <a:cxnLst/>
              <a:rect r="r" b="b" t="t" l="l"/>
              <a:pathLst>
                <a:path h="1428750" w="5905500">
                  <a:moveTo>
                    <a:pt x="0" y="0"/>
                  </a:moveTo>
                  <a:lnTo>
                    <a:pt x="5905500" y="0"/>
                  </a:lnTo>
                  <a:lnTo>
                    <a:pt x="5905500" y="1428750"/>
                  </a:lnTo>
                  <a:lnTo>
                    <a:pt x="0" y="1428750"/>
                  </a:lnTo>
                  <a:close/>
                </a:path>
              </a:pathLst>
            </a:custGeom>
            <a:blipFill>
              <a:blip r:embed="rId3">
                <a:alphaModFix amt="0"/>
              </a:blip>
              <a:stretch>
                <a:fillRect l="0" t="-30538" r="0" b="-30538"/>
              </a:stretch>
            </a:blipFill>
          </p:spPr>
        </p:sp>
        <p:sp>
          <p:nvSpPr>
            <p:cNvPr name="TextBox 24" id="24"/>
            <p:cNvSpPr txBox="true"/>
            <p:nvPr/>
          </p:nvSpPr>
          <p:spPr>
            <a:xfrm>
              <a:off x="0" y="-19050"/>
              <a:ext cx="5905500" cy="1447800"/>
            </a:xfrm>
            <a:prstGeom prst="rect">
              <a:avLst/>
            </a:prstGeom>
          </p:spPr>
          <p:txBody>
            <a:bodyPr anchor="ctr" rtlCol="false" tIns="0" lIns="0" bIns="0" rIns="0"/>
            <a:lstStyle/>
            <a:p>
              <a:pPr algn="l">
                <a:lnSpc>
                  <a:spcPts val="3375"/>
                </a:lnSpc>
              </a:pPr>
              <a:r>
                <a:rPr lang="en-US" sz="2812">
                  <a:solidFill>
                    <a:srgbClr val="173B47"/>
                  </a:solidFill>
                  <a:latin typeface="Helvetica"/>
                  <a:ea typeface="Helvetica"/>
                  <a:cs typeface="Helvetica"/>
                  <a:sym typeface="Helvetica"/>
                </a:rPr>
                <a:t>2. Carga</a:t>
              </a:r>
            </a:p>
            <a:p>
              <a:pPr algn="l">
                <a:lnSpc>
                  <a:spcPts val="3375"/>
                </a:lnSpc>
              </a:pPr>
              <a:r>
                <a:rPr lang="en-US" sz="2812">
                  <a:solidFill>
                    <a:srgbClr val="173B47"/>
                  </a:solidFill>
                  <a:latin typeface="Helvetica"/>
                  <a:ea typeface="Helvetica"/>
                  <a:cs typeface="Helvetica"/>
                  <a:sym typeface="Helvetica"/>
                </a:rPr>
                <a:t>Hemograma de ejemplo</a:t>
              </a:r>
            </a:p>
          </p:txBody>
        </p:sp>
      </p:grpSp>
      <p:grpSp>
        <p:nvGrpSpPr>
          <p:cNvPr name="Group 25" id="25"/>
          <p:cNvGrpSpPr/>
          <p:nvPr/>
        </p:nvGrpSpPr>
        <p:grpSpPr>
          <a:xfrm rot="0">
            <a:off x="12915900" y="6315075"/>
            <a:ext cx="4429125" cy="1571625"/>
            <a:chOff x="0" y="0"/>
            <a:chExt cx="5905500" cy="2095500"/>
          </a:xfrm>
        </p:grpSpPr>
        <p:sp>
          <p:nvSpPr>
            <p:cNvPr name="Freeform 26" id="26"/>
            <p:cNvSpPr/>
            <p:nvPr/>
          </p:nvSpPr>
          <p:spPr>
            <a:xfrm flipH="false" flipV="false" rot="0">
              <a:off x="0" y="0"/>
              <a:ext cx="5905500" cy="2095500"/>
            </a:xfrm>
            <a:custGeom>
              <a:avLst/>
              <a:gdLst/>
              <a:ahLst/>
              <a:cxnLst/>
              <a:rect r="r" b="b" t="t" l="l"/>
              <a:pathLst>
                <a:path h="2095500" w="5905500">
                  <a:moveTo>
                    <a:pt x="0" y="0"/>
                  </a:moveTo>
                  <a:lnTo>
                    <a:pt x="5905500" y="0"/>
                  </a:lnTo>
                  <a:lnTo>
                    <a:pt x="5905500" y="2095500"/>
                  </a:lnTo>
                  <a:lnTo>
                    <a:pt x="0" y="2095500"/>
                  </a:lnTo>
                  <a:close/>
                </a:path>
              </a:pathLst>
            </a:custGeom>
            <a:blipFill>
              <a:blip r:embed="rId3">
                <a:alphaModFix amt="0"/>
              </a:blip>
              <a:stretch>
                <a:fillRect l="0" t="-4912" r="0" b="-4912"/>
              </a:stretch>
            </a:blipFill>
          </p:spPr>
        </p:sp>
        <p:sp>
          <p:nvSpPr>
            <p:cNvPr name="TextBox 27" id="27"/>
            <p:cNvSpPr txBox="true"/>
            <p:nvPr/>
          </p:nvSpPr>
          <p:spPr>
            <a:xfrm>
              <a:off x="0" y="-19050"/>
              <a:ext cx="5905500" cy="2114550"/>
            </a:xfrm>
            <a:prstGeom prst="rect">
              <a:avLst/>
            </a:prstGeom>
          </p:spPr>
          <p:txBody>
            <a:bodyPr anchor="ctr" rtlCol="false" tIns="0" lIns="0" bIns="0" rIns="0"/>
            <a:lstStyle/>
            <a:p>
              <a:pPr algn="l">
                <a:lnSpc>
                  <a:spcPts val="3375"/>
                </a:lnSpc>
              </a:pPr>
              <a:r>
                <a:rPr lang="en-US" sz="2812">
                  <a:solidFill>
                    <a:srgbClr val="173B47"/>
                  </a:solidFill>
                  <a:latin typeface="Helvetica"/>
                  <a:ea typeface="Helvetica"/>
                  <a:cs typeface="Helvetica"/>
                  <a:sym typeface="Helvetica"/>
                </a:rPr>
                <a:t>3. Compartir</a:t>
              </a:r>
            </a:p>
            <a:p>
              <a:pPr algn="l">
                <a:lnSpc>
                  <a:spcPts val="3375"/>
                </a:lnSpc>
              </a:pPr>
              <a:r>
                <a:rPr lang="en-US" sz="2812">
                  <a:solidFill>
                    <a:srgbClr val="173B47"/>
                  </a:solidFill>
                  <a:latin typeface="Helvetica"/>
                  <a:ea typeface="Helvetica"/>
                  <a:cs typeface="Helvetica"/>
                  <a:sym typeface="Helvetica"/>
                </a:rPr>
                <a:t>Un documento, 7 días,</a:t>
              </a:r>
            </a:p>
            <a:p>
              <a:pPr algn="l">
                <a:lnSpc>
                  <a:spcPts val="3375"/>
                </a:lnSpc>
              </a:pPr>
              <a:r>
                <a:rPr lang="en-US" sz="2812">
                  <a:solidFill>
                    <a:srgbClr val="173B47"/>
                  </a:solidFill>
                  <a:latin typeface="Helvetica"/>
                  <a:ea typeface="Helvetica"/>
                  <a:cs typeface="Helvetica"/>
                  <a:sym typeface="Helvetica"/>
                </a:rPr>
                <a:t>solo lectura y revocación</a:t>
              </a:r>
            </a:p>
          </p:txBody>
        </p:sp>
      </p:grpSp>
      <p:grpSp>
        <p:nvGrpSpPr>
          <p:cNvPr name="Group 28" id="28"/>
          <p:cNvGrpSpPr/>
          <p:nvPr/>
        </p:nvGrpSpPr>
        <p:grpSpPr>
          <a:xfrm rot="0">
            <a:off x="12915900" y="8229600"/>
            <a:ext cx="4429125" cy="1028700"/>
            <a:chOff x="0" y="0"/>
            <a:chExt cx="5905500" cy="1371600"/>
          </a:xfrm>
        </p:grpSpPr>
        <p:sp>
          <p:nvSpPr>
            <p:cNvPr name="Freeform 29" id="29"/>
            <p:cNvSpPr/>
            <p:nvPr/>
          </p:nvSpPr>
          <p:spPr>
            <a:xfrm flipH="false" flipV="false" rot="0">
              <a:off x="0" y="0"/>
              <a:ext cx="5905500" cy="1371600"/>
            </a:xfrm>
            <a:custGeom>
              <a:avLst/>
              <a:gdLst/>
              <a:ahLst/>
              <a:cxnLst/>
              <a:rect r="r" b="b" t="t" l="l"/>
              <a:pathLst>
                <a:path h="1371600" w="5905500">
                  <a:moveTo>
                    <a:pt x="0" y="0"/>
                  </a:moveTo>
                  <a:lnTo>
                    <a:pt x="5905500" y="0"/>
                  </a:lnTo>
                  <a:lnTo>
                    <a:pt x="5905500" y="1371600"/>
                  </a:lnTo>
                  <a:lnTo>
                    <a:pt x="0" y="1371600"/>
                  </a:lnTo>
                  <a:close/>
                </a:path>
              </a:pathLst>
            </a:custGeom>
            <a:blipFill>
              <a:blip r:embed="rId3">
                <a:alphaModFix amt="0"/>
              </a:blip>
              <a:stretch>
                <a:fillRect l="0" t="-33893" r="0" b="-33893"/>
              </a:stretch>
            </a:blipFill>
          </p:spPr>
        </p:sp>
        <p:sp>
          <p:nvSpPr>
            <p:cNvPr name="TextBox 30" id="30"/>
            <p:cNvSpPr txBox="true"/>
            <p:nvPr/>
          </p:nvSpPr>
          <p:spPr>
            <a:xfrm>
              <a:off x="0" y="-28575"/>
              <a:ext cx="5905500" cy="1400175"/>
            </a:xfrm>
            <a:prstGeom prst="rect">
              <a:avLst/>
            </a:prstGeom>
          </p:spPr>
          <p:txBody>
            <a:bodyPr anchor="ctr" rtlCol="false" tIns="0" lIns="0" bIns="0" rIns="0"/>
            <a:lstStyle/>
            <a:p>
              <a:pPr algn="l">
                <a:lnSpc>
                  <a:spcPts val="3240"/>
                </a:lnSpc>
              </a:pPr>
              <a:r>
                <a:rPr lang="en-US" sz="2700" b="true">
                  <a:solidFill>
                    <a:srgbClr val="117B82"/>
                  </a:solidFill>
                  <a:latin typeface="Helvetica Bold"/>
                  <a:ea typeface="Helvetica Bold"/>
                  <a:cs typeface="Helvetica Bold"/>
                  <a:sym typeface="Helvetica Bold"/>
                </a:rPr>
                <a:t>Siguiente avance: implementar</a:t>
              </a:r>
            </a:p>
            <a:p>
              <a:pPr algn="l">
                <a:lnSpc>
                  <a:spcPts val="3240"/>
                </a:lnSpc>
              </a:pPr>
              <a:r>
                <a:rPr lang="en-US" sz="2700" b="true">
                  <a:solidFill>
                    <a:srgbClr val="117B82"/>
                  </a:solidFill>
                  <a:latin typeface="Helvetica Bold"/>
                  <a:ea typeface="Helvetica Bold"/>
                  <a:cs typeface="Helvetica Bold"/>
                  <a:sym typeface="Helvetica Bold"/>
                </a:rPr>
                <a:t>y probar el flujo central.</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3841">
                <a:alpha val="100000"/>
              </a:srgbClr>
            </a:gs>
            <a:gs pos="100000">
              <a:srgbClr val="155D65">
                <a:alpha val="100000"/>
              </a:srgbClr>
            </a:gs>
          </a:gsLst>
          <a:lin ang="1500000"/>
        </a:gradFill>
      </p:bgPr>
    </p:bg>
    <p:spTree>
      <p:nvGrpSpPr>
        <p:cNvPr id="1" name=""/>
        <p:cNvGrpSpPr/>
        <p:nvPr/>
      </p:nvGrpSpPr>
      <p:grpSpPr>
        <a:xfrm>
          <a:off x="0" y="0"/>
          <a:ext cx="0" cy="0"/>
          <a:chOff x="0" y="0"/>
          <a:chExt cx="0" cy="0"/>
        </a:xfrm>
      </p:grpSpPr>
      <p:grpSp>
        <p:nvGrpSpPr>
          <p:cNvPr name="Group 2" id="2"/>
          <p:cNvGrpSpPr/>
          <p:nvPr/>
        </p:nvGrpSpPr>
        <p:grpSpPr>
          <a:xfrm rot="0">
            <a:off x="914400" y="657225"/>
            <a:ext cx="16459200" cy="571500"/>
            <a:chOff x="0" y="0"/>
            <a:chExt cx="21945600" cy="762000"/>
          </a:xfrm>
        </p:grpSpPr>
        <p:sp>
          <p:nvSpPr>
            <p:cNvPr name="Freeform 3" id="3"/>
            <p:cNvSpPr/>
            <p:nvPr/>
          </p:nvSpPr>
          <p:spPr>
            <a:xfrm flipH="false" flipV="false" rot="0">
              <a:off x="0" y="0"/>
              <a:ext cx="21945600" cy="762000"/>
            </a:xfrm>
            <a:custGeom>
              <a:avLst/>
              <a:gdLst/>
              <a:ahLst/>
              <a:cxnLst/>
              <a:rect r="r" b="b" t="t" l="l"/>
              <a:pathLst>
                <a:path h="762000" w="21945600">
                  <a:moveTo>
                    <a:pt x="0" y="0"/>
                  </a:moveTo>
                  <a:lnTo>
                    <a:pt x="21945600" y="0"/>
                  </a:lnTo>
                  <a:lnTo>
                    <a:pt x="21945600" y="762000"/>
                  </a:lnTo>
                  <a:lnTo>
                    <a:pt x="0" y="762000"/>
                  </a:lnTo>
                  <a:close/>
                </a:path>
              </a:pathLst>
            </a:custGeom>
            <a:blipFill>
              <a:blip r:embed="rId3">
                <a:alphaModFix amt="0"/>
              </a:blip>
              <a:stretch>
                <a:fillRect l="0" t="-511169" r="0" b="-511169"/>
              </a:stretch>
            </a:blipFill>
          </p:spPr>
        </p:sp>
        <p:sp>
          <p:nvSpPr>
            <p:cNvPr name="TextBox 4" id="4"/>
            <p:cNvSpPr txBox="true"/>
            <p:nvPr/>
          </p:nvSpPr>
          <p:spPr>
            <a:xfrm>
              <a:off x="0" y="-19050"/>
              <a:ext cx="21945600" cy="781050"/>
            </a:xfrm>
            <a:prstGeom prst="rect">
              <a:avLst/>
            </a:prstGeom>
          </p:spPr>
          <p:txBody>
            <a:bodyPr anchor="ctr" rtlCol="false" tIns="0" lIns="0" bIns="0" rIns="0"/>
            <a:lstStyle/>
            <a:p>
              <a:pPr algn="l">
                <a:lnSpc>
                  <a:spcPts val="3375"/>
                </a:lnSpc>
              </a:pPr>
              <a:r>
                <a:rPr lang="en-US" sz="2812" b="true">
                  <a:solidFill>
                    <a:srgbClr val="7ED8CF"/>
                  </a:solidFill>
                  <a:latin typeface="Helvetica Bold"/>
                  <a:ea typeface="Helvetica Bold"/>
                  <a:cs typeface="Helvetica Bold"/>
                  <a:sym typeface="Helvetica Bold"/>
                </a:rPr>
                <a:t>MEDLINK</a:t>
              </a:r>
            </a:p>
          </p:txBody>
        </p:sp>
      </p:grpSp>
      <p:grpSp>
        <p:nvGrpSpPr>
          <p:cNvPr name="Group 5" id="5"/>
          <p:cNvGrpSpPr/>
          <p:nvPr/>
        </p:nvGrpSpPr>
        <p:grpSpPr>
          <a:xfrm rot="0">
            <a:off x="914400" y="3571875"/>
            <a:ext cx="16459200" cy="1571625"/>
            <a:chOff x="0" y="0"/>
            <a:chExt cx="21945600" cy="2095500"/>
          </a:xfrm>
        </p:grpSpPr>
        <p:sp>
          <p:nvSpPr>
            <p:cNvPr name="Freeform 6" id="6"/>
            <p:cNvSpPr/>
            <p:nvPr/>
          </p:nvSpPr>
          <p:spPr>
            <a:xfrm flipH="false" flipV="false" rot="0">
              <a:off x="0" y="0"/>
              <a:ext cx="21945600" cy="2095500"/>
            </a:xfrm>
            <a:custGeom>
              <a:avLst/>
              <a:gdLst/>
              <a:ahLst/>
              <a:cxnLst/>
              <a:rect r="r" b="b" t="t" l="l"/>
              <a:pathLst>
                <a:path h="2095500" w="21945600">
                  <a:moveTo>
                    <a:pt x="0" y="0"/>
                  </a:moveTo>
                  <a:lnTo>
                    <a:pt x="21945600" y="0"/>
                  </a:lnTo>
                  <a:lnTo>
                    <a:pt x="21945600" y="2095500"/>
                  </a:lnTo>
                  <a:lnTo>
                    <a:pt x="0" y="2095500"/>
                  </a:lnTo>
                  <a:close/>
                </a:path>
              </a:pathLst>
            </a:custGeom>
            <a:blipFill>
              <a:blip r:embed="rId3">
                <a:alphaModFix amt="0"/>
              </a:blip>
              <a:stretch>
                <a:fillRect l="0" t="-154061" r="0" b="-154061"/>
              </a:stretch>
            </a:blipFill>
          </p:spPr>
        </p:sp>
        <p:sp>
          <p:nvSpPr>
            <p:cNvPr name="TextBox 7" id="7"/>
            <p:cNvSpPr txBox="true"/>
            <p:nvPr/>
          </p:nvSpPr>
          <p:spPr>
            <a:xfrm>
              <a:off x="0" y="-47625"/>
              <a:ext cx="21945600" cy="2143125"/>
            </a:xfrm>
            <a:prstGeom prst="rect">
              <a:avLst/>
            </a:prstGeom>
          </p:spPr>
          <p:txBody>
            <a:bodyPr anchor="ctr" rtlCol="false" tIns="0" lIns="0" bIns="0" rIns="0"/>
            <a:lstStyle/>
            <a:p>
              <a:pPr algn="l">
                <a:lnSpc>
                  <a:spcPts val="11070"/>
                </a:lnSpc>
              </a:pPr>
              <a:r>
                <a:rPr lang="en-US" sz="9225" b="true">
                  <a:solidFill>
                    <a:srgbClr val="FFFFFF"/>
                  </a:solidFill>
                  <a:latin typeface="Helvetica Bold"/>
                  <a:ea typeface="Helvetica Bold"/>
                  <a:cs typeface="Helvetica Bold"/>
                  <a:sym typeface="Helvetica Bold"/>
                </a:rPr>
                <a:t>MUCHAS GRACIAS</a:t>
              </a:r>
            </a:p>
          </p:txBody>
        </p:sp>
      </p:grpSp>
      <p:sp>
        <p:nvSpPr>
          <p:cNvPr name="AutoShape 8" id="8"/>
          <p:cNvSpPr/>
          <p:nvPr/>
        </p:nvSpPr>
        <p:spPr>
          <a:xfrm rot="4500">
            <a:off x="903675" y="5610225"/>
            <a:ext cx="16480650" cy="0"/>
          </a:xfrm>
          <a:prstGeom prst="line">
            <a:avLst/>
          </a:prstGeom>
          <a:ln cap="rnd" w="9525">
            <a:solidFill>
              <a:srgbClr val="38737A"/>
            </a:solidFill>
            <a:prstDash val="solid"/>
            <a:headEnd type="none" len="sm" w="sm"/>
            <a:tailEnd type="none" len="sm" w="sm"/>
          </a:ln>
        </p:spPr>
      </p:sp>
      <p:grpSp>
        <p:nvGrpSpPr>
          <p:cNvPr name="Group 9" id="9"/>
          <p:cNvGrpSpPr/>
          <p:nvPr/>
        </p:nvGrpSpPr>
        <p:grpSpPr>
          <a:xfrm rot="0">
            <a:off x="914400" y="6172200"/>
            <a:ext cx="16459200" cy="785812"/>
            <a:chOff x="0" y="0"/>
            <a:chExt cx="21945600" cy="1047750"/>
          </a:xfrm>
        </p:grpSpPr>
        <p:sp>
          <p:nvSpPr>
            <p:cNvPr name="Freeform 10" id="10"/>
            <p:cNvSpPr/>
            <p:nvPr/>
          </p:nvSpPr>
          <p:spPr>
            <a:xfrm flipH="false" flipV="false" rot="0">
              <a:off x="0" y="0"/>
              <a:ext cx="21945600" cy="1047750"/>
            </a:xfrm>
            <a:custGeom>
              <a:avLst/>
              <a:gdLst/>
              <a:ahLst/>
              <a:cxnLst/>
              <a:rect r="r" b="b" t="t" l="l"/>
              <a:pathLst>
                <a:path h="1047750" w="21945600">
                  <a:moveTo>
                    <a:pt x="0" y="0"/>
                  </a:moveTo>
                  <a:lnTo>
                    <a:pt x="21945600" y="0"/>
                  </a:lnTo>
                  <a:lnTo>
                    <a:pt x="21945600" y="1047750"/>
                  </a:lnTo>
                  <a:lnTo>
                    <a:pt x="0" y="1047750"/>
                  </a:lnTo>
                  <a:close/>
                </a:path>
              </a:pathLst>
            </a:custGeom>
            <a:blipFill>
              <a:blip r:embed="rId3">
                <a:alphaModFix amt="0"/>
              </a:blip>
              <a:stretch>
                <a:fillRect l="0" t="-358122" r="0" b="-358122"/>
              </a:stretch>
            </a:blipFill>
          </p:spPr>
        </p:sp>
        <p:sp>
          <p:nvSpPr>
            <p:cNvPr name="TextBox 11" id="11"/>
            <p:cNvSpPr txBox="true"/>
            <p:nvPr/>
          </p:nvSpPr>
          <p:spPr>
            <a:xfrm>
              <a:off x="0" y="-28575"/>
              <a:ext cx="21945600" cy="1076325"/>
            </a:xfrm>
            <a:prstGeom prst="rect">
              <a:avLst/>
            </a:prstGeom>
          </p:spPr>
          <p:txBody>
            <a:bodyPr anchor="ctr" rtlCol="false" tIns="0" lIns="0" bIns="0" rIns="0"/>
            <a:lstStyle/>
            <a:p>
              <a:pPr algn="l">
                <a:lnSpc>
                  <a:spcPts val="4590"/>
                </a:lnSpc>
              </a:pPr>
              <a:r>
                <a:rPr lang="en-US" sz="3825">
                  <a:solidFill>
                    <a:srgbClr val="7ED8CF"/>
                  </a:solidFill>
                  <a:latin typeface="Helvetica"/>
                  <a:ea typeface="Helvetica"/>
                  <a:cs typeface="Helvetica"/>
                  <a:sym typeface="Helvetica"/>
                </a:rPr>
                <a:t>Preguntas y comentarios</a:t>
              </a:r>
            </a:p>
          </p:txBody>
        </p:sp>
      </p:grpSp>
      <p:grpSp>
        <p:nvGrpSpPr>
          <p:cNvPr name="Group 12" id="12"/>
          <p:cNvGrpSpPr/>
          <p:nvPr/>
        </p:nvGrpSpPr>
        <p:grpSpPr>
          <a:xfrm rot="0">
            <a:off x="914400" y="8472488"/>
            <a:ext cx="16459200" cy="571500"/>
            <a:chOff x="0" y="0"/>
            <a:chExt cx="21945600" cy="762000"/>
          </a:xfrm>
        </p:grpSpPr>
        <p:sp>
          <p:nvSpPr>
            <p:cNvPr name="Freeform 13" id="13"/>
            <p:cNvSpPr/>
            <p:nvPr/>
          </p:nvSpPr>
          <p:spPr>
            <a:xfrm flipH="false" flipV="false" rot="0">
              <a:off x="0" y="0"/>
              <a:ext cx="21945600" cy="762000"/>
            </a:xfrm>
            <a:custGeom>
              <a:avLst/>
              <a:gdLst/>
              <a:ahLst/>
              <a:cxnLst/>
              <a:rect r="r" b="b" t="t" l="l"/>
              <a:pathLst>
                <a:path h="762000" w="21945600">
                  <a:moveTo>
                    <a:pt x="0" y="0"/>
                  </a:moveTo>
                  <a:lnTo>
                    <a:pt x="21945600" y="0"/>
                  </a:lnTo>
                  <a:lnTo>
                    <a:pt x="21945600" y="762000"/>
                  </a:lnTo>
                  <a:lnTo>
                    <a:pt x="0" y="762000"/>
                  </a:lnTo>
                  <a:close/>
                </a:path>
              </a:pathLst>
            </a:custGeom>
            <a:blipFill>
              <a:blip r:embed="rId3">
                <a:alphaModFix amt="0"/>
              </a:blip>
              <a:stretch>
                <a:fillRect l="0" t="-511169" r="0" b="-511169"/>
              </a:stretch>
            </a:blipFill>
          </p:spPr>
        </p:sp>
        <p:sp>
          <p:nvSpPr>
            <p:cNvPr name="TextBox 14" id="14"/>
            <p:cNvSpPr txBox="true"/>
            <p:nvPr/>
          </p:nvSpPr>
          <p:spPr>
            <a:xfrm>
              <a:off x="0" y="-19050"/>
              <a:ext cx="21945600" cy="781050"/>
            </a:xfrm>
            <a:prstGeom prst="rect">
              <a:avLst/>
            </a:prstGeom>
          </p:spPr>
          <p:txBody>
            <a:bodyPr anchor="ctr" rtlCol="false" tIns="0" lIns="0" bIns="0" rIns="0"/>
            <a:lstStyle/>
            <a:p>
              <a:pPr algn="l">
                <a:lnSpc>
                  <a:spcPts val="3375"/>
                </a:lnSpc>
              </a:pPr>
              <a:r>
                <a:rPr lang="en-US" sz="2812">
                  <a:solidFill>
                    <a:srgbClr val="B8D8DA"/>
                  </a:solidFill>
                  <a:latin typeface="Helvetica"/>
                  <a:ea typeface="Helvetica"/>
                  <a:cs typeface="Helvetica"/>
                  <a:sym typeface="Helvetica"/>
                </a:rPr>
                <a:t>Camilo Pérez · Nicolás Yáñez · Felipe Chavarría</a:t>
              </a:r>
            </a:p>
          </p:txBody>
        </p:sp>
      </p:grpSp>
      <p:grpSp>
        <p:nvGrpSpPr>
          <p:cNvPr name="Group 15" id="15"/>
          <p:cNvGrpSpPr/>
          <p:nvPr/>
        </p:nvGrpSpPr>
        <p:grpSpPr>
          <a:xfrm rot="0">
            <a:off x="16144875" y="9572625"/>
            <a:ext cx="1228725" cy="357188"/>
            <a:chOff x="0" y="0"/>
            <a:chExt cx="1638300" cy="476250"/>
          </a:xfrm>
        </p:grpSpPr>
        <p:sp>
          <p:nvSpPr>
            <p:cNvPr name="Freeform 16" id="16"/>
            <p:cNvSpPr/>
            <p:nvPr/>
          </p:nvSpPr>
          <p:spPr>
            <a:xfrm flipH="false" flipV="false" rot="0">
              <a:off x="0" y="0"/>
              <a:ext cx="1638300" cy="476250"/>
            </a:xfrm>
            <a:custGeom>
              <a:avLst/>
              <a:gdLst/>
              <a:ahLst/>
              <a:cxnLst/>
              <a:rect r="r" b="b" t="t" l="l"/>
              <a:pathLst>
                <a:path h="476250" w="1638300">
                  <a:moveTo>
                    <a:pt x="0" y="0"/>
                  </a:moveTo>
                  <a:lnTo>
                    <a:pt x="1638300" y="0"/>
                  </a:lnTo>
                  <a:lnTo>
                    <a:pt x="1638300" y="476250"/>
                  </a:lnTo>
                  <a:lnTo>
                    <a:pt x="0" y="476250"/>
                  </a:lnTo>
                  <a:close/>
                </a:path>
              </a:pathLst>
            </a:custGeom>
            <a:blipFill>
              <a:blip r:embed="rId3">
                <a:alphaModFix amt="0"/>
              </a:blip>
              <a:stretch>
                <a:fillRect l="0" t="-17028" r="0" b="-17028"/>
              </a:stretch>
            </a:blipFill>
          </p:spPr>
        </p:sp>
        <p:sp>
          <p:nvSpPr>
            <p:cNvPr name="TextBox 17" id="17"/>
            <p:cNvSpPr txBox="true"/>
            <p:nvPr/>
          </p:nvSpPr>
          <p:spPr>
            <a:xfrm>
              <a:off x="0" y="-19050"/>
              <a:ext cx="1638300" cy="495300"/>
            </a:xfrm>
            <a:prstGeom prst="rect">
              <a:avLst/>
            </a:prstGeom>
          </p:spPr>
          <p:txBody>
            <a:bodyPr anchor="ctr" rtlCol="false" tIns="0" lIns="0" bIns="0" rIns="0"/>
            <a:lstStyle/>
            <a:p>
              <a:pPr algn="l">
                <a:lnSpc>
                  <a:spcPts val="2430"/>
                </a:lnSpc>
              </a:pPr>
              <a:r>
                <a:rPr lang="en-US" sz="2025">
                  <a:solidFill>
                    <a:srgbClr val="B8D8DA"/>
                  </a:solidFill>
                  <a:latin typeface="Helvetica"/>
                  <a:ea typeface="Helvetica"/>
                  <a:cs typeface="Helvetica"/>
                  <a:sym typeface="Helvetica"/>
                </a:rPr>
                <a:t>09 / 09</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DAHXeSeA6Yw</dc:identifier>
  <dcterms:modified xsi:type="dcterms:W3CDTF">2011-08-01T06:04:30Z</dcterms:modified>
  <cp:revision>1</cp:revision>
  <dc:title>MEDLINK · Fase 2 · Avances y planificación</dc:title>
</cp:coreProperties>
</file>