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libri (MS) Bold" charset="1" panose="020F0702030404030204"/>
      <p:regular r:id="rId18"/>
    </p:embeddedFont>
    <p:embeddedFont>
      <p:font typeface="Cambria Bold" charset="1" panose="02040803050406030204"/>
      <p:regular r:id="rId19"/>
    </p:embeddedFont>
    <p:embeddedFont>
      <p:font typeface="Calibri (MS) Italics" charset="1" panose="020F05020202040A0204"/>
      <p:regular r:id="rId20"/>
    </p:embeddedFont>
    <p:embeddedFont>
      <p:font typeface="Calibri (MS)" charset="1" panose="020F05020202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04520" y="-2194560"/>
            <a:ext cx="7132320" cy="7132320"/>
            <a:chOff x="0" y="0"/>
            <a:chExt cx="9509760" cy="9509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09760" cy="9509760"/>
            </a:xfrm>
            <a:custGeom>
              <a:avLst/>
              <a:gdLst/>
              <a:ahLst/>
              <a:cxnLst/>
              <a:rect r="r" b="b" t="t" l="l"/>
              <a:pathLst>
                <a:path h="9509760" w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028090">
                <a:alpha val="470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950440" y="6309360"/>
            <a:ext cx="4663440" cy="4663440"/>
            <a:chOff x="0" y="0"/>
            <a:chExt cx="6217920" cy="6217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17920" cy="6217920"/>
            </a:xfrm>
            <a:custGeom>
              <a:avLst/>
              <a:gdLst/>
              <a:ahLst/>
              <a:cxnLst/>
              <a:rect r="r" b="b" t="t" l="l"/>
              <a:pathLst>
                <a:path h="6217920" w="6217920">
                  <a:moveTo>
                    <a:pt x="0" y="3108960"/>
                  </a:moveTo>
                  <a:cubicBezTo>
                    <a:pt x="0" y="1391920"/>
                    <a:pt x="1391920" y="0"/>
                    <a:pt x="3108960" y="0"/>
                  </a:cubicBezTo>
                  <a:cubicBezTo>
                    <a:pt x="4826000" y="0"/>
                    <a:pt x="6217920" y="1391920"/>
                    <a:pt x="6217920" y="3108960"/>
                  </a:cubicBezTo>
                  <a:cubicBezTo>
                    <a:pt x="6217920" y="4826000"/>
                    <a:pt x="4826000" y="6217920"/>
                    <a:pt x="3108960" y="6217920"/>
                  </a:cubicBezTo>
                  <a:cubicBezTo>
                    <a:pt x="1391920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02C39A">
                <a:alpha val="313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797367" y="7255193"/>
            <a:ext cx="4143375" cy="4143375"/>
            <a:chOff x="0" y="0"/>
            <a:chExt cx="5524500" cy="5524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24500" cy="5524500"/>
            </a:xfrm>
            <a:custGeom>
              <a:avLst/>
              <a:gdLst/>
              <a:ahLst/>
              <a:cxnLst/>
              <a:rect r="r" b="b" t="t" l="l"/>
              <a:pathLst>
                <a:path h="5524500" w="5524500">
                  <a:moveTo>
                    <a:pt x="0" y="2762250"/>
                  </a:moveTo>
                  <a:cubicBezTo>
                    <a:pt x="0" y="1236726"/>
                    <a:pt x="1236726" y="0"/>
                    <a:pt x="2762250" y="0"/>
                  </a:cubicBezTo>
                  <a:cubicBezTo>
                    <a:pt x="4287774" y="0"/>
                    <a:pt x="5524500" y="1236726"/>
                    <a:pt x="5524500" y="2762250"/>
                  </a:cubicBezTo>
                  <a:cubicBezTo>
                    <a:pt x="5524500" y="4287774"/>
                    <a:pt x="4287774" y="5524500"/>
                    <a:pt x="2762250" y="5524500"/>
                  </a:cubicBezTo>
                  <a:cubicBezTo>
                    <a:pt x="1236726" y="5524500"/>
                    <a:pt x="0" y="4287774"/>
                    <a:pt x="0" y="276225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00A89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1234440"/>
            <a:ext cx="13030200" cy="548640"/>
            <a:chOff x="0" y="0"/>
            <a:chExt cx="173736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7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769" r="0" b="-4127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37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PORTAFOLIO DE TÍTULO · FASE 1 — DEFINICIÓN DE PROYECTO APT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65860" y="3497580"/>
            <a:ext cx="13716000" cy="2057400"/>
            <a:chOff x="0" y="0"/>
            <a:chExt cx="18288000" cy="2743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8288000" cy="2752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MEDLINK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4440" y="5417820"/>
            <a:ext cx="11384280" cy="1097280"/>
            <a:chOff x="0" y="0"/>
            <a:chExt cx="15179040" cy="1463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1790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15179039">
                  <a:moveTo>
                    <a:pt x="0" y="0"/>
                  </a:moveTo>
                  <a:lnTo>
                    <a:pt x="15179039" y="0"/>
                  </a:lnTo>
                  <a:lnTo>
                    <a:pt x="151790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157" r="0" b="-15215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51790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i="true">
                  <a:solidFill>
                    <a:srgbClr val="CFEDE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Plataforma web para centralizar, organizar y estructurar la información médica personal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22260">
            <a:off x="1220105" y="7602855"/>
            <a:ext cx="4417790" cy="0"/>
          </a:xfrm>
          <a:prstGeom prst="line">
            <a:avLst/>
          </a:prstGeom>
          <a:ln cap="rnd" w="19050">
            <a:solidFill>
              <a:srgbClr val="00A89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234440" y="7886700"/>
            <a:ext cx="12344400" cy="548640"/>
            <a:chOff x="0" y="0"/>
            <a:chExt cx="164592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6459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Nicolás Yañez  ·  Felipe Chavarría  ·  Camilo Pérez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4440" y="8435340"/>
            <a:ext cx="12344400" cy="480060"/>
            <a:chOff x="0" y="0"/>
            <a:chExt cx="16459200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459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6459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FB8B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Ingeniería en Informática — Sede San Joaquín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00A8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DEFINICIÓN E IMPACTO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28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¿En qué consiste MEDLINK?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8915400" cy="2606040"/>
            <a:chOff x="0" y="0"/>
            <a:chExt cx="11887200" cy="3474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8872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9" r="0" b="-1665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11887200" cy="3579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62"/>
                </a:lnSpc>
              </a:pPr>
              <a:r>
                <a:rPr lang="en-US" sz="2175">
                  <a:solidFill>
                    <a:srgbClr val="1728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 antecedentes de salud de una persona suelen estar dispersos entre distintos centros médicos, correos, PDFs, fotografías y recetas. MEDLINK centraliza esos documentos, extrae su información relevante y la estructura en una historia de salud personal, ordenada y trazable.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5280660"/>
            <a:ext cx="8915400" cy="3771900"/>
            <a:chOff x="0" y="0"/>
            <a:chExt cx="11887200" cy="502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87200" cy="5029200"/>
            </a:xfrm>
            <a:custGeom>
              <a:avLst/>
              <a:gdLst/>
              <a:ahLst/>
              <a:cxnLst/>
              <a:rect r="r" b="b" t="t" l="l"/>
              <a:pathLst>
                <a:path h="5029200" w="11887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740896" y="0"/>
                  </a:lnTo>
                  <a:cubicBezTo>
                    <a:pt x="11821668" y="0"/>
                    <a:pt x="11887200" y="65532"/>
                    <a:pt x="11887200" y="146304"/>
                  </a:cubicBezTo>
                  <a:lnTo>
                    <a:pt x="11887200" y="4882896"/>
                  </a:lnTo>
                  <a:cubicBezTo>
                    <a:pt x="11887200" y="4963668"/>
                    <a:pt x="11821668" y="5029200"/>
                    <a:pt x="11740896" y="5029200"/>
                  </a:cubicBezTo>
                  <a:lnTo>
                    <a:pt x="146304" y="5029200"/>
                  </a:lnTo>
                  <a:cubicBezTo>
                    <a:pt x="65532" y="5029200"/>
                    <a:pt x="0" y="4963668"/>
                    <a:pt x="0" y="4882896"/>
                  </a:cubicBezTo>
                  <a:close/>
                </a:path>
              </a:pathLst>
            </a:custGeom>
            <a:solidFill>
              <a:srgbClr val="F3F8F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5554980"/>
            <a:ext cx="8229600" cy="548640"/>
            <a:chOff x="0" y="0"/>
            <a:chExt cx="109728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09728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2809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Impacto en el campo laboral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4440" y="6240780"/>
            <a:ext cx="8092440" cy="2606040"/>
            <a:chOff x="0" y="0"/>
            <a:chExt cx="10789920" cy="34747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899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06" r="0" b="-1050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10789920" cy="3569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1728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 Ingeniería en Informática, el proyecto integra análisis de requerimientos, arquitectura, modelado de datos, seguridad y gestión de proyectos sobre una necesidad real, entregando al usuario mayor control sobre la información que almacena y comparte.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355580" y="2331720"/>
            <a:ext cx="754380" cy="754380"/>
            <a:chOff x="0" y="0"/>
            <a:chExt cx="100584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355580" y="2331720"/>
            <a:ext cx="754380" cy="754380"/>
            <a:chOff x="0" y="0"/>
            <a:chExt cx="100584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0058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384280" y="2290572"/>
            <a:ext cx="6103620" cy="480060"/>
            <a:chOff x="0" y="0"/>
            <a:chExt cx="813816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38160" cy="640080"/>
            </a:xfrm>
            <a:custGeom>
              <a:avLst/>
              <a:gdLst/>
              <a:ahLst/>
              <a:cxnLst/>
              <a:rect r="r" b="b" t="t" l="l"/>
              <a:pathLst>
                <a:path h="64008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738" r="0" b="-19773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813816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728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Fragmentación de datos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384280" y="2811780"/>
            <a:ext cx="6103620" cy="1028700"/>
            <a:chOff x="0" y="0"/>
            <a:chExt cx="8138160" cy="137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381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611" r="0" b="-6561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813816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Historial disperso entre centros médicos, correos y documentos sueltos.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355580" y="4183380"/>
            <a:ext cx="754380" cy="754380"/>
            <a:chOff x="0" y="0"/>
            <a:chExt cx="1005840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355580" y="4183380"/>
            <a:ext cx="754380" cy="754380"/>
            <a:chOff x="0" y="0"/>
            <a:chExt cx="100584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0058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384280" y="4142232"/>
            <a:ext cx="6103620" cy="480060"/>
            <a:chOff x="0" y="0"/>
            <a:chExt cx="8138160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38160" cy="640080"/>
            </a:xfrm>
            <a:custGeom>
              <a:avLst/>
              <a:gdLst/>
              <a:ahLst/>
              <a:cxnLst/>
              <a:rect r="r" b="b" t="t" l="l"/>
              <a:pathLst>
                <a:path h="64008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738" r="0" b="-19773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813816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728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Pérdida y duplicidad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384280" y="4663440"/>
            <a:ext cx="6103620" cy="1028700"/>
            <a:chOff x="0" y="0"/>
            <a:chExt cx="8138160" cy="137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381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611" r="0" b="-6561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813816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Registros repetidos o extraviados que dificultan una consulta rápida.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355580" y="6035040"/>
            <a:ext cx="754380" cy="754380"/>
            <a:chOff x="0" y="0"/>
            <a:chExt cx="1005840" cy="1005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355580" y="6035040"/>
            <a:ext cx="754380" cy="754380"/>
            <a:chOff x="0" y="0"/>
            <a:chExt cx="1005840" cy="1005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10058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384280" y="5993892"/>
            <a:ext cx="6103620" cy="480060"/>
            <a:chOff x="0" y="0"/>
            <a:chExt cx="8138160" cy="6400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38160" cy="640080"/>
            </a:xfrm>
            <a:custGeom>
              <a:avLst/>
              <a:gdLst/>
              <a:ahLst/>
              <a:cxnLst/>
              <a:rect r="r" b="b" t="t" l="l"/>
              <a:pathLst>
                <a:path h="64008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738" r="0" b="-19773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813816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728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Pacientes afectados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384280" y="6515100"/>
            <a:ext cx="6103620" cy="1028700"/>
            <a:chOff x="0" y="0"/>
            <a:chExt cx="8138160" cy="1371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381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611" r="0" b="-6561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813816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Quienes necesitan compartir antecedentes con distintos profesionales.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9669780"/>
            <a:ext cx="9601200" cy="411480"/>
            <a:chOff x="0" y="0"/>
            <a:chExt cx="128016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MEDLINK · Fase 1 — Definición de Proyecto APT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774668" y="9669780"/>
            <a:ext cx="685800" cy="411480"/>
            <a:chOff x="0" y="0"/>
            <a:chExt cx="91440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00A8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PERFIL DE EGRESO E INTERESES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28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Competencias que aplicaremos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68880"/>
            <a:ext cx="685800" cy="685800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468880"/>
            <a:ext cx="685800" cy="685800"/>
            <a:chOff x="0" y="0"/>
            <a:chExt cx="914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83080" y="2400300"/>
            <a:ext cx="7269480" cy="480060"/>
            <a:chOff x="0" y="0"/>
            <a:chExt cx="969264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96926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728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de software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83080" y="2894076"/>
            <a:ext cx="7269480" cy="822960"/>
            <a:chOff x="0" y="0"/>
            <a:chExt cx="969264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92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969264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Modelo arquitectónico que soporta los procesos del sistema.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806940" y="2468880"/>
            <a:ext cx="685800" cy="685800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806940" y="2468880"/>
            <a:ext cx="685800" cy="685800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767060" y="2400300"/>
            <a:ext cx="7269480" cy="480060"/>
            <a:chOff x="0" y="0"/>
            <a:chExt cx="969264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6926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728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Modelado de datos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767060" y="2894076"/>
            <a:ext cx="7269480" cy="822960"/>
            <a:chOff x="0" y="0"/>
            <a:chExt cx="9692640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692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969264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Bases de datos escalables para usuarios y antecedentes de salud.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4183380"/>
            <a:ext cx="685800" cy="685800"/>
            <a:chOff x="0" y="0"/>
            <a:chExt cx="9144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4183380"/>
            <a:ext cx="685800" cy="685800"/>
            <a:chOff x="0" y="0"/>
            <a:chExt cx="9144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83080" y="4114800"/>
            <a:ext cx="7269480" cy="480060"/>
            <a:chOff x="0" y="0"/>
            <a:chExt cx="9692640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6926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728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Desarrollo backend y frontend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83080" y="4608576"/>
            <a:ext cx="7269480" cy="822960"/>
            <a:chOff x="0" y="0"/>
            <a:chExt cx="969264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692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969264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APIs, lógica de negocio e interfaces de usuario.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806940" y="4183380"/>
            <a:ext cx="685800" cy="685800"/>
            <a:chOff x="0" y="0"/>
            <a:chExt cx="9144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806940" y="4183380"/>
            <a:ext cx="685800" cy="685800"/>
            <a:chOff x="0" y="0"/>
            <a:chExt cx="91440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767060" y="4114800"/>
            <a:ext cx="7269480" cy="480060"/>
            <a:chOff x="0" y="0"/>
            <a:chExt cx="9692640" cy="6400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6926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728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Seguridad de aplicaciones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767060" y="4608576"/>
            <a:ext cx="7269480" cy="822960"/>
            <a:chOff x="0" y="0"/>
            <a:chExt cx="9692640" cy="10972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692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969264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Protección de información médica sensible.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5897880"/>
            <a:ext cx="685800" cy="685800"/>
            <a:chOff x="0" y="0"/>
            <a:chExt cx="91440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5897880"/>
            <a:ext cx="685800" cy="685800"/>
            <a:chOff x="0" y="0"/>
            <a:chExt cx="91440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783080" y="5829300"/>
            <a:ext cx="7269480" cy="480060"/>
            <a:chOff x="0" y="0"/>
            <a:chExt cx="9692640" cy="6400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96926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728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Pruebas de calidad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83080" y="6323076"/>
            <a:ext cx="7269480" cy="822960"/>
            <a:chOff x="0" y="0"/>
            <a:chExt cx="9692640" cy="10972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692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66675"/>
              <a:ext cx="969264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Validación funcional y de seguridad con buenas prácticas.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806940" y="5897880"/>
            <a:ext cx="685800" cy="685800"/>
            <a:chOff x="0" y="0"/>
            <a:chExt cx="914400" cy="914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806940" y="5897880"/>
            <a:ext cx="685800" cy="685800"/>
            <a:chOff x="0" y="0"/>
            <a:chExt cx="914400" cy="914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767060" y="5829300"/>
            <a:ext cx="7269480" cy="480060"/>
            <a:chOff x="0" y="0"/>
            <a:chExt cx="9692640" cy="6400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96926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728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Gestión de proyectos TI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767060" y="6323076"/>
            <a:ext cx="7269480" cy="822960"/>
            <a:chOff x="0" y="0"/>
            <a:chExt cx="9692640" cy="10972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692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969264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Planificación, riesgos y toma de decisiones del equipo.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822960" y="7749540"/>
            <a:ext cx="16637508" cy="1577340"/>
            <a:chOff x="0" y="0"/>
            <a:chExt cx="22183344" cy="21031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183344" cy="2103120"/>
            </a:xfrm>
            <a:custGeom>
              <a:avLst/>
              <a:gdLst/>
              <a:ahLst/>
              <a:cxnLst/>
              <a:rect r="r" b="b" t="t" l="l"/>
              <a:pathLst>
                <a:path h="2103120" w="2218334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037039" y="0"/>
                  </a:lnTo>
                  <a:cubicBezTo>
                    <a:pt x="22117811" y="0"/>
                    <a:pt x="22183344" y="65532"/>
                    <a:pt x="22183344" y="146304"/>
                  </a:cubicBezTo>
                  <a:lnTo>
                    <a:pt x="22183344" y="1956816"/>
                  </a:lnTo>
                  <a:cubicBezTo>
                    <a:pt x="22183344" y="2037588"/>
                    <a:pt x="22117811" y="2103120"/>
                    <a:pt x="22037039" y="2103120"/>
                  </a:cubicBezTo>
                  <a:lnTo>
                    <a:pt x="146304" y="2103120"/>
                  </a:lnTo>
                  <a:cubicBezTo>
                    <a:pt x="65532" y="2103120"/>
                    <a:pt x="0" y="2037588"/>
                    <a:pt x="0" y="1956816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34440" y="7886700"/>
            <a:ext cx="5486400" cy="1234440"/>
            <a:chOff x="0" y="0"/>
            <a:chExt cx="7315200" cy="16459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315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731520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Conexión con nuestros intereses profesionales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583680" y="7886700"/>
            <a:ext cx="11109960" cy="1234440"/>
            <a:chOff x="0" y="0"/>
            <a:chExt cx="14813280" cy="16459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48132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85725"/>
              <a:ext cx="1481328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E4F5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Desarrollo de software, arquitectura de sistemas, bases de datos y seguridad de la información aplicados a un problema real: administrar y proteger datos médicos personales.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822960" y="9669780"/>
            <a:ext cx="9601200" cy="411480"/>
            <a:chOff x="0" y="0"/>
            <a:chExt cx="12801600" cy="5486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MEDLINK · Fase 1 — Definición de Proyecto APT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6774668" y="9669780"/>
            <a:ext cx="685800" cy="411480"/>
            <a:chOff x="0" y="0"/>
            <a:chExt cx="91440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00A8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FACTIBILIDAD Y RIESGOS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28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Es viable en el tiempo del semestre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7886700" cy="6652260"/>
            <a:chOff x="0" y="0"/>
            <a:chExt cx="10515600" cy="8869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15600" cy="8869680"/>
            </a:xfrm>
            <a:custGeom>
              <a:avLst/>
              <a:gdLst/>
              <a:ahLst/>
              <a:cxnLst/>
              <a:rect r="r" b="b" t="t" l="l"/>
              <a:pathLst>
                <a:path h="8869680" w="10515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369296" y="0"/>
                  </a:lnTo>
                  <a:cubicBezTo>
                    <a:pt x="10450068" y="0"/>
                    <a:pt x="10515600" y="65532"/>
                    <a:pt x="10515600" y="146304"/>
                  </a:cubicBezTo>
                  <a:lnTo>
                    <a:pt x="10515600" y="8723376"/>
                  </a:lnTo>
                  <a:cubicBezTo>
                    <a:pt x="10515600" y="8804148"/>
                    <a:pt x="10450068" y="8869680"/>
                    <a:pt x="10369296" y="8869680"/>
                  </a:cubicBezTo>
                  <a:lnTo>
                    <a:pt x="146304" y="8869680"/>
                  </a:lnTo>
                  <a:cubicBezTo>
                    <a:pt x="65532" y="8869680"/>
                    <a:pt x="0" y="8804148"/>
                    <a:pt x="0" y="8723376"/>
                  </a:cubicBezTo>
                  <a:close/>
                </a:path>
              </a:pathLst>
            </a:custGeom>
            <a:solidFill>
              <a:srgbClr val="F3F8F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743200"/>
            <a:ext cx="7063740" cy="548640"/>
            <a:chOff x="0" y="0"/>
            <a:chExt cx="94183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1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869" r="0" b="-20086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94183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2809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Por qué es factible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3675888"/>
            <a:ext cx="164592" cy="164592"/>
            <a:chOff x="0" y="0"/>
            <a:chExt cx="219456" cy="2194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45920" y="3456432"/>
            <a:ext cx="6652260" cy="891540"/>
            <a:chOff x="0" y="0"/>
            <a:chExt cx="8869680" cy="1188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8696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388" r="0" b="-9538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8869680" cy="1264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1728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Alcance controlado priorizando un MVP con funcionalidades esenciales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4745736"/>
            <a:ext cx="164592" cy="164592"/>
            <a:chOff x="0" y="0"/>
            <a:chExt cx="219456" cy="2194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45920" y="4526280"/>
            <a:ext cx="6652260" cy="891540"/>
            <a:chOff x="0" y="0"/>
            <a:chExt cx="8869680" cy="1188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8696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388" r="0" b="-9538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8869680" cy="1264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1728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Tecnologías y herramientas de desarrollo de uso común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4440" y="5815584"/>
            <a:ext cx="164592" cy="164592"/>
            <a:chOff x="0" y="0"/>
            <a:chExt cx="219456" cy="2194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45920" y="5596128"/>
            <a:ext cx="6652260" cy="891540"/>
            <a:chOff x="0" y="0"/>
            <a:chExt cx="8869680" cy="1188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8696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388" r="0" b="-9538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8869680" cy="1264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1728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Datos de prueba anonimizados o simulados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4440" y="6885432"/>
            <a:ext cx="164592" cy="164592"/>
            <a:chOff x="0" y="0"/>
            <a:chExt cx="219456" cy="2194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45920" y="6665976"/>
            <a:ext cx="6652260" cy="891540"/>
            <a:chOff x="0" y="0"/>
            <a:chExt cx="8869680" cy="1188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8696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388" r="0" b="-9538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8869680" cy="1264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1728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Implementación incremental del sistema, por etapas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34440" y="7955280"/>
            <a:ext cx="164592" cy="164592"/>
            <a:chOff x="0" y="0"/>
            <a:chExt cx="219456" cy="2194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645920" y="7735824"/>
            <a:ext cx="6652260" cy="891540"/>
            <a:chOff x="0" y="0"/>
            <a:chExt cx="8869680" cy="1188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8696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388" r="0" b="-9538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8869680" cy="1264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1728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Trabajo distribuido entre el equipo según horas asignadas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26880" y="2400300"/>
            <a:ext cx="7886700" cy="6652260"/>
            <a:chOff x="0" y="0"/>
            <a:chExt cx="10515600" cy="8869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515600" cy="8869680"/>
            </a:xfrm>
            <a:custGeom>
              <a:avLst/>
              <a:gdLst/>
              <a:ahLst/>
              <a:cxnLst/>
              <a:rect r="r" b="b" t="t" l="l"/>
              <a:pathLst>
                <a:path h="8869680" w="10515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369296" y="0"/>
                  </a:lnTo>
                  <a:cubicBezTo>
                    <a:pt x="10450068" y="0"/>
                    <a:pt x="10515600" y="65532"/>
                    <a:pt x="10515600" y="146304"/>
                  </a:cubicBezTo>
                  <a:lnTo>
                    <a:pt x="10515600" y="8723376"/>
                  </a:lnTo>
                  <a:cubicBezTo>
                    <a:pt x="10515600" y="8804148"/>
                    <a:pt x="10450068" y="8869680"/>
                    <a:pt x="10369296" y="8869680"/>
                  </a:cubicBezTo>
                  <a:lnTo>
                    <a:pt x="146304" y="8869680"/>
                  </a:lnTo>
                  <a:cubicBezTo>
                    <a:pt x="65532" y="8869680"/>
                    <a:pt x="0" y="8804148"/>
                    <a:pt x="0" y="8723376"/>
                  </a:cubicBezTo>
                  <a:close/>
                </a:path>
              </a:pathLst>
            </a:custGeom>
            <a:solidFill>
              <a:srgbClr val="042A2E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738360" y="2743200"/>
            <a:ext cx="7063740" cy="548640"/>
            <a:chOff x="0" y="0"/>
            <a:chExt cx="941832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41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869" r="0" b="-20086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94183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2C3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Riesgos y cómo los mitigamos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738360" y="3634740"/>
            <a:ext cx="7063740" cy="480060"/>
            <a:chOff x="0" y="0"/>
            <a:chExt cx="9418320" cy="640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41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94183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Tiempo limitado del semestre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738360" y="4087368"/>
            <a:ext cx="7063740" cy="617220"/>
            <a:chOff x="0" y="0"/>
            <a:chExt cx="9418320" cy="8229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418320" cy="822960"/>
            </a:xfrm>
            <a:custGeom>
              <a:avLst/>
              <a:gdLst/>
              <a:ahLst/>
              <a:cxnLst/>
              <a:rect r="r" b="b" t="t" l="l"/>
              <a:pathLst>
                <a:path h="82296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995" r="0" b="-17299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4183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FD6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se limita el alcance inicial al MVP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738360" y="4978908"/>
            <a:ext cx="7063740" cy="480060"/>
            <a:chOff x="0" y="0"/>
            <a:chExt cx="9418320" cy="6400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41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94183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Complejidad de datos sensibles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738360" y="5431536"/>
            <a:ext cx="7063740" cy="617220"/>
            <a:chOff x="0" y="0"/>
            <a:chExt cx="9418320" cy="8229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418320" cy="822960"/>
            </a:xfrm>
            <a:custGeom>
              <a:avLst/>
              <a:gdLst/>
              <a:ahLst/>
              <a:cxnLst/>
              <a:rect r="r" b="b" t="t" l="l"/>
              <a:pathLst>
                <a:path h="82296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995" r="0" b="-17299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4183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FD6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seguridad y controles desde el diseño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738360" y="6323076"/>
            <a:ext cx="7063740" cy="480060"/>
            <a:chOff x="0" y="0"/>
            <a:chExt cx="9418320" cy="6400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41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4183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Múltiples formatos de documentos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738360" y="6775704"/>
            <a:ext cx="7063740" cy="617220"/>
            <a:chOff x="0" y="0"/>
            <a:chExt cx="9418320" cy="8229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418320" cy="822960"/>
            </a:xfrm>
            <a:custGeom>
              <a:avLst/>
              <a:gdLst/>
              <a:ahLst/>
              <a:cxnLst/>
              <a:rect r="r" b="b" t="t" l="l"/>
              <a:pathLst>
                <a:path h="82296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995" r="0" b="-17299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94183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FD6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se trabaja con un conjunto acotado de tipos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738360" y="7667244"/>
            <a:ext cx="7063740" cy="480060"/>
            <a:chOff x="0" y="0"/>
            <a:chExt cx="9418320" cy="6400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41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4183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Integración de módulos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738360" y="8119872"/>
            <a:ext cx="7063740" cy="617220"/>
            <a:chOff x="0" y="0"/>
            <a:chExt cx="9418320" cy="8229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418320" cy="822960"/>
            </a:xfrm>
            <a:custGeom>
              <a:avLst/>
              <a:gdLst/>
              <a:ahLst/>
              <a:cxnLst/>
              <a:rect r="r" b="b" t="t" l="l"/>
              <a:pathLst>
                <a:path h="82296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995" r="0" b="-17299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94183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FD6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pruebas continuas durante el desarrollo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22960" y="9669780"/>
            <a:ext cx="9601200" cy="411480"/>
            <a:chOff x="0" y="0"/>
            <a:chExt cx="1280160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MEDLINK · Fase 1 — Definición de Proyecto APT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6774668" y="9669780"/>
            <a:ext cx="685800" cy="411480"/>
            <a:chOff x="0" y="0"/>
            <a:chExt cx="914400" cy="548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00A8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OBJETIVOS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28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 general y específicos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331720"/>
            <a:ext cx="16637508" cy="1577340"/>
            <a:chOff x="0" y="0"/>
            <a:chExt cx="22183344" cy="2103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3344" cy="2103120"/>
            </a:xfrm>
            <a:custGeom>
              <a:avLst/>
              <a:gdLst/>
              <a:ahLst/>
              <a:cxnLst/>
              <a:rect r="r" b="b" t="t" l="l"/>
              <a:pathLst>
                <a:path h="2103120" w="2218334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037039" y="0"/>
                  </a:lnTo>
                  <a:cubicBezTo>
                    <a:pt x="22117811" y="0"/>
                    <a:pt x="22183344" y="65532"/>
                    <a:pt x="22183344" y="146304"/>
                  </a:cubicBezTo>
                  <a:lnTo>
                    <a:pt x="22183344" y="1956816"/>
                  </a:lnTo>
                  <a:cubicBezTo>
                    <a:pt x="22183344" y="2037588"/>
                    <a:pt x="22117811" y="2103120"/>
                    <a:pt x="22037039" y="2103120"/>
                  </a:cubicBezTo>
                  <a:lnTo>
                    <a:pt x="146304" y="2103120"/>
                  </a:lnTo>
                  <a:cubicBezTo>
                    <a:pt x="65532" y="2103120"/>
                    <a:pt x="0" y="2037588"/>
                    <a:pt x="0" y="1956816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496312"/>
            <a:ext cx="4114800" cy="411480"/>
            <a:chOff x="0" y="0"/>
            <a:chExt cx="5486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25">
                  <a:solidFill>
                    <a:srgbClr val="BFEA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GENERAL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2880360"/>
            <a:ext cx="15814548" cy="960120"/>
            <a:chOff x="0" y="0"/>
            <a:chExt cx="21086064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86065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86065">
                  <a:moveTo>
                    <a:pt x="0" y="0"/>
                  </a:moveTo>
                  <a:lnTo>
                    <a:pt x="21086065" y="0"/>
                  </a:lnTo>
                  <a:lnTo>
                    <a:pt x="21086065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946" r="0" b="-27094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21086064" cy="1356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Desarrollar una plataforma web que centralice, organice y estructure documentos y antecedentes de salud, generando una historia personal trazable y de intercambio seguro.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4457700"/>
            <a:ext cx="8229600" cy="1371600"/>
            <a:chOff x="0" y="0"/>
            <a:chExt cx="10972800" cy="182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9728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844784" y="0"/>
                  </a:lnTo>
                  <a:cubicBezTo>
                    <a:pt x="10915523" y="0"/>
                    <a:pt x="10972800" y="57277"/>
                    <a:pt x="10972800" y="128016"/>
                  </a:cubicBezTo>
                  <a:lnTo>
                    <a:pt x="10972800" y="1700784"/>
                  </a:lnTo>
                  <a:cubicBezTo>
                    <a:pt x="10972800" y="1771523"/>
                    <a:pt x="10915523" y="1828800"/>
                    <a:pt x="10844784" y="1828800"/>
                  </a:cubicBezTo>
                  <a:lnTo>
                    <a:pt x="128016" y="1828800"/>
                  </a:lnTo>
                  <a:cubicBezTo>
                    <a:pt x="57277" y="1828800"/>
                    <a:pt x="0" y="1771523"/>
                    <a:pt x="0" y="1700784"/>
                  </a:cubicBezTo>
                  <a:close/>
                </a:path>
              </a:pathLst>
            </a:custGeom>
            <a:solidFill>
              <a:srgbClr val="F3F8F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4800600"/>
            <a:ext cx="685800" cy="685800"/>
            <a:chOff x="0" y="0"/>
            <a:chExt cx="91440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97280" y="4800600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57400" y="4622292"/>
            <a:ext cx="6720840" cy="1069848"/>
            <a:chOff x="0" y="0"/>
            <a:chExt cx="8961120" cy="14264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9611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06" r="0" b="-7240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8961120" cy="1493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1728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Analizar necesidades de usuarios y definir requerimientos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806940" y="4457700"/>
            <a:ext cx="8229600" cy="1371600"/>
            <a:chOff x="0" y="0"/>
            <a:chExt cx="10972800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9728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844784" y="0"/>
                  </a:lnTo>
                  <a:cubicBezTo>
                    <a:pt x="10915523" y="0"/>
                    <a:pt x="10972800" y="57277"/>
                    <a:pt x="10972800" y="128016"/>
                  </a:cubicBezTo>
                  <a:lnTo>
                    <a:pt x="10972800" y="1700784"/>
                  </a:lnTo>
                  <a:cubicBezTo>
                    <a:pt x="10972800" y="1771523"/>
                    <a:pt x="10915523" y="1828800"/>
                    <a:pt x="10844784" y="1828800"/>
                  </a:cubicBezTo>
                  <a:lnTo>
                    <a:pt x="128016" y="1828800"/>
                  </a:lnTo>
                  <a:cubicBezTo>
                    <a:pt x="57277" y="1828800"/>
                    <a:pt x="0" y="1771523"/>
                    <a:pt x="0" y="1700784"/>
                  </a:cubicBezTo>
                  <a:close/>
                </a:path>
              </a:pathLst>
            </a:custGeom>
            <a:solidFill>
              <a:srgbClr val="F3F8F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081260" y="4800600"/>
            <a:ext cx="685800" cy="685800"/>
            <a:chOff x="0" y="0"/>
            <a:chExt cx="9144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081260" y="4800600"/>
            <a:ext cx="685800" cy="685800"/>
            <a:chOff x="0" y="0"/>
            <a:chExt cx="9144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041380" y="4622292"/>
            <a:ext cx="6720840" cy="1069848"/>
            <a:chOff x="0" y="0"/>
            <a:chExt cx="8961120" cy="14264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9611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06" r="0" b="-7240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8961120" cy="1493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1728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Diseñar arquitectura y modelo de datos de salud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22960" y="6035040"/>
            <a:ext cx="8229600" cy="1371600"/>
            <a:chOff x="0" y="0"/>
            <a:chExt cx="10972800" cy="1828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9728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844784" y="0"/>
                  </a:lnTo>
                  <a:cubicBezTo>
                    <a:pt x="10915523" y="0"/>
                    <a:pt x="10972800" y="57277"/>
                    <a:pt x="10972800" y="128016"/>
                  </a:cubicBezTo>
                  <a:lnTo>
                    <a:pt x="10972800" y="1700784"/>
                  </a:lnTo>
                  <a:cubicBezTo>
                    <a:pt x="10972800" y="1771523"/>
                    <a:pt x="10915523" y="1828800"/>
                    <a:pt x="10844784" y="1828800"/>
                  </a:cubicBezTo>
                  <a:lnTo>
                    <a:pt x="128016" y="1828800"/>
                  </a:lnTo>
                  <a:cubicBezTo>
                    <a:pt x="57277" y="1828800"/>
                    <a:pt x="0" y="1771523"/>
                    <a:pt x="0" y="1700784"/>
                  </a:cubicBezTo>
                  <a:close/>
                </a:path>
              </a:pathLst>
            </a:custGeom>
            <a:solidFill>
              <a:srgbClr val="F3F8F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97280" y="6377940"/>
            <a:ext cx="685800" cy="685800"/>
            <a:chOff x="0" y="0"/>
            <a:chExt cx="9144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97280" y="6377940"/>
            <a:ext cx="685800" cy="685800"/>
            <a:chOff x="0" y="0"/>
            <a:chExt cx="91440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057400" y="6199632"/>
            <a:ext cx="6720840" cy="1069848"/>
            <a:chOff x="0" y="0"/>
            <a:chExt cx="8961120" cy="14264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9611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06" r="0" b="-7240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8961120" cy="1493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1728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Desarrollar carga, registro y clasificación de documentos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806940" y="6035040"/>
            <a:ext cx="8229600" cy="1371600"/>
            <a:chOff x="0" y="0"/>
            <a:chExt cx="10972800" cy="1828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9728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844784" y="0"/>
                  </a:lnTo>
                  <a:cubicBezTo>
                    <a:pt x="10915523" y="0"/>
                    <a:pt x="10972800" y="57277"/>
                    <a:pt x="10972800" y="128016"/>
                  </a:cubicBezTo>
                  <a:lnTo>
                    <a:pt x="10972800" y="1700784"/>
                  </a:lnTo>
                  <a:cubicBezTo>
                    <a:pt x="10972800" y="1771523"/>
                    <a:pt x="10915523" y="1828800"/>
                    <a:pt x="10844784" y="1828800"/>
                  </a:cubicBezTo>
                  <a:lnTo>
                    <a:pt x="128016" y="1828800"/>
                  </a:lnTo>
                  <a:cubicBezTo>
                    <a:pt x="57277" y="1828800"/>
                    <a:pt x="0" y="1771523"/>
                    <a:pt x="0" y="1700784"/>
                  </a:cubicBezTo>
                  <a:close/>
                </a:path>
              </a:pathLst>
            </a:custGeom>
            <a:solidFill>
              <a:srgbClr val="F3F8F8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081260" y="6377940"/>
            <a:ext cx="685800" cy="685800"/>
            <a:chOff x="0" y="0"/>
            <a:chExt cx="914400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081260" y="6377940"/>
            <a:ext cx="685800" cy="685800"/>
            <a:chOff x="0" y="0"/>
            <a:chExt cx="91440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041380" y="6199632"/>
            <a:ext cx="6720840" cy="1069848"/>
            <a:chOff x="0" y="0"/>
            <a:chExt cx="8961120" cy="14264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9611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06" r="0" b="-7240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8961120" cy="1493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1728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Implementar extracción y estructuración de información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7612380"/>
            <a:ext cx="8229600" cy="1371600"/>
            <a:chOff x="0" y="0"/>
            <a:chExt cx="10972800" cy="1828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9728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844784" y="0"/>
                  </a:lnTo>
                  <a:cubicBezTo>
                    <a:pt x="10915523" y="0"/>
                    <a:pt x="10972800" y="57277"/>
                    <a:pt x="10972800" y="128016"/>
                  </a:cubicBezTo>
                  <a:lnTo>
                    <a:pt x="10972800" y="1700784"/>
                  </a:lnTo>
                  <a:cubicBezTo>
                    <a:pt x="10972800" y="1771523"/>
                    <a:pt x="10915523" y="1828800"/>
                    <a:pt x="10844784" y="1828800"/>
                  </a:cubicBezTo>
                  <a:lnTo>
                    <a:pt x="128016" y="1828800"/>
                  </a:lnTo>
                  <a:cubicBezTo>
                    <a:pt x="57277" y="1828800"/>
                    <a:pt x="0" y="1771523"/>
                    <a:pt x="0" y="1700784"/>
                  </a:cubicBezTo>
                  <a:close/>
                </a:path>
              </a:pathLst>
            </a:custGeom>
            <a:solidFill>
              <a:srgbClr val="F3F8F8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97280" y="7955280"/>
            <a:ext cx="685800" cy="685800"/>
            <a:chOff x="0" y="0"/>
            <a:chExt cx="91440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97280" y="7955280"/>
            <a:ext cx="685800" cy="685800"/>
            <a:chOff x="0" y="0"/>
            <a:chExt cx="914400" cy="914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2057400" y="7776972"/>
            <a:ext cx="6720840" cy="1069848"/>
            <a:chOff x="0" y="0"/>
            <a:chExt cx="8961120" cy="14264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9611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06" r="0" b="-7240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66675"/>
              <a:ext cx="8961120" cy="1493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1728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Construir una historia de salud trazable y compartible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806940" y="7612380"/>
            <a:ext cx="8229600" cy="1371600"/>
            <a:chOff x="0" y="0"/>
            <a:chExt cx="10972800" cy="1828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9728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0844784" y="0"/>
                  </a:lnTo>
                  <a:cubicBezTo>
                    <a:pt x="10915523" y="0"/>
                    <a:pt x="10972800" y="57277"/>
                    <a:pt x="10972800" y="128016"/>
                  </a:cubicBezTo>
                  <a:lnTo>
                    <a:pt x="10972800" y="1700784"/>
                  </a:lnTo>
                  <a:cubicBezTo>
                    <a:pt x="10972800" y="1771523"/>
                    <a:pt x="10915523" y="1828800"/>
                    <a:pt x="10844784" y="1828800"/>
                  </a:cubicBezTo>
                  <a:lnTo>
                    <a:pt x="128016" y="1828800"/>
                  </a:lnTo>
                  <a:cubicBezTo>
                    <a:pt x="57277" y="1828800"/>
                    <a:pt x="0" y="1771523"/>
                    <a:pt x="0" y="1700784"/>
                  </a:cubicBezTo>
                  <a:close/>
                </a:path>
              </a:pathLst>
            </a:custGeom>
            <a:solidFill>
              <a:srgbClr val="F3F8F8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081260" y="7955280"/>
            <a:ext cx="685800" cy="685800"/>
            <a:chOff x="0" y="0"/>
            <a:chExt cx="914400" cy="9144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081260" y="7955280"/>
            <a:ext cx="685800" cy="685800"/>
            <a:chOff x="0" y="0"/>
            <a:chExt cx="914400" cy="9144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041380" y="7776972"/>
            <a:ext cx="6720840" cy="1069848"/>
            <a:chOff x="0" y="0"/>
            <a:chExt cx="8961120" cy="142646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9611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06" r="0" b="-72406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66675"/>
              <a:ext cx="8961120" cy="1493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1728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Ejecutar pruebas de calidad y de seguridad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22960" y="9669780"/>
            <a:ext cx="9601200" cy="411480"/>
            <a:chOff x="0" y="0"/>
            <a:chExt cx="12801600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MEDLINK · Fase 1 — Definición de Proyecto APT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6774668" y="9669780"/>
            <a:ext cx="685800" cy="411480"/>
            <a:chOff x="0" y="0"/>
            <a:chExt cx="914400" cy="548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00A8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METODOLOGÍA DE TRABAJO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28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Desarrollo incremental guiado por especificaciones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25980"/>
            <a:ext cx="16637508" cy="754380"/>
            <a:chOff x="0" y="0"/>
            <a:chExt cx="22183344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334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733" r="0" b="-37973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183344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Antes de implementar cada funcionalidad se definen requerimientos, criterios de aceptación y diseño técnico; luego se desarrolla, integra, prueba y documenta.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3291840"/>
            <a:ext cx="891540" cy="891540"/>
            <a:chOff x="0" y="0"/>
            <a:chExt cx="1188720" cy="1188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3291840"/>
            <a:ext cx="891540" cy="891540"/>
            <a:chOff x="0" y="0"/>
            <a:chExt cx="1188720" cy="1188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188720" cy="1255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" y="4320540"/>
            <a:ext cx="2400300" cy="754380"/>
            <a:chOff x="0" y="0"/>
            <a:chExt cx="3200400" cy="1005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00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2004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728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Análisis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42480">
            <a:off x="1695336" y="3728085"/>
            <a:ext cx="3083290" cy="0"/>
          </a:xfrm>
          <a:prstGeom prst="line">
            <a:avLst/>
          </a:prstGeom>
          <a:ln cap="rnd" w="19050">
            <a:solidFill>
              <a:srgbClr val="C6DE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4759452" y="3291840"/>
            <a:ext cx="891540" cy="891540"/>
            <a:chOff x="0" y="0"/>
            <a:chExt cx="1188720" cy="1188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759452" y="3291840"/>
            <a:ext cx="891540" cy="891540"/>
            <a:chOff x="0" y="0"/>
            <a:chExt cx="1188720" cy="1188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188720" cy="1255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005072" y="4320540"/>
            <a:ext cx="2400300" cy="754380"/>
            <a:chOff x="0" y="0"/>
            <a:chExt cx="3200400" cy="1005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00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2004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728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Diseño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rot="42480">
            <a:off x="5631828" y="3728085"/>
            <a:ext cx="3083290" cy="0"/>
          </a:xfrm>
          <a:prstGeom prst="line">
            <a:avLst/>
          </a:prstGeom>
          <a:ln cap="rnd" w="19050">
            <a:solidFill>
              <a:srgbClr val="C6DE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8695944" y="3291840"/>
            <a:ext cx="891540" cy="891540"/>
            <a:chOff x="0" y="0"/>
            <a:chExt cx="1188720" cy="1188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695944" y="3291840"/>
            <a:ext cx="891540" cy="891540"/>
            <a:chOff x="0" y="0"/>
            <a:chExt cx="1188720" cy="1188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1188720" cy="1255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941564" y="4320540"/>
            <a:ext cx="2400300" cy="754380"/>
            <a:chOff x="0" y="0"/>
            <a:chExt cx="3200400" cy="1005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00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2004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728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Desarrollo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rot="42480">
            <a:off x="9568320" y="3728085"/>
            <a:ext cx="3083290" cy="0"/>
          </a:xfrm>
          <a:prstGeom prst="line">
            <a:avLst/>
          </a:prstGeom>
          <a:ln cap="rnd" w="19050">
            <a:solidFill>
              <a:srgbClr val="C6DE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12632436" y="3291840"/>
            <a:ext cx="891540" cy="891540"/>
            <a:chOff x="0" y="0"/>
            <a:chExt cx="1188720" cy="11887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632436" y="3291840"/>
            <a:ext cx="891540" cy="891540"/>
            <a:chOff x="0" y="0"/>
            <a:chExt cx="1188720" cy="1188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1188720" cy="1255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878056" y="4320540"/>
            <a:ext cx="2400300" cy="754380"/>
            <a:chOff x="0" y="0"/>
            <a:chExt cx="3200400" cy="1005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00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2004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728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Integración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42480">
            <a:off x="13504812" y="3728085"/>
            <a:ext cx="3083290" cy="0"/>
          </a:xfrm>
          <a:prstGeom prst="line">
            <a:avLst/>
          </a:prstGeom>
          <a:ln cap="rnd" w="19050">
            <a:solidFill>
              <a:srgbClr val="C6DE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6568928" y="3291840"/>
            <a:ext cx="891540" cy="891540"/>
            <a:chOff x="0" y="0"/>
            <a:chExt cx="1188720" cy="11887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6568928" y="3291840"/>
            <a:ext cx="891540" cy="891540"/>
            <a:chOff x="0" y="0"/>
            <a:chExt cx="1188720" cy="11887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1188720" cy="1255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5814548" y="4320540"/>
            <a:ext cx="2400300" cy="754380"/>
            <a:chOff x="0" y="0"/>
            <a:chExt cx="3200400" cy="10058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00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2004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728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Pruebas y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728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documentación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22960" y="5692140"/>
            <a:ext cx="8229600" cy="480060"/>
            <a:chOff x="0" y="0"/>
            <a:chExt cx="10972800" cy="6400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0A8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ROLES DEL EQUIPO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22960" y="6240780"/>
            <a:ext cx="3850767" cy="2606040"/>
            <a:chOff x="0" y="0"/>
            <a:chExt cx="5134356" cy="34747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134356" cy="3474720"/>
            </a:xfrm>
            <a:custGeom>
              <a:avLst/>
              <a:gdLst/>
              <a:ahLst/>
              <a:cxnLst/>
              <a:rect r="r" b="b" t="t" l="l"/>
              <a:pathLst>
                <a:path h="3474720" w="51343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988052" y="0"/>
                  </a:lnTo>
                  <a:cubicBezTo>
                    <a:pt x="5068824" y="0"/>
                    <a:pt x="5134356" y="65532"/>
                    <a:pt x="5134356" y="146304"/>
                  </a:cubicBezTo>
                  <a:lnTo>
                    <a:pt x="5134356" y="3328416"/>
                  </a:lnTo>
                  <a:cubicBezTo>
                    <a:pt x="5134356" y="3409188"/>
                    <a:pt x="5068824" y="3474720"/>
                    <a:pt x="4988052" y="3474720"/>
                  </a:cubicBezTo>
                  <a:lnTo>
                    <a:pt x="146304" y="3474720"/>
                  </a:lnTo>
                  <a:cubicBezTo>
                    <a:pt x="65532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F3F8F8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97280" y="6473952"/>
            <a:ext cx="3302127" cy="1303020"/>
            <a:chOff x="0" y="0"/>
            <a:chExt cx="4402836" cy="17373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402836" cy="1737360"/>
            </a:xfrm>
            <a:custGeom>
              <a:avLst/>
              <a:gdLst/>
              <a:ahLst/>
              <a:cxnLst/>
              <a:rect r="r" b="b" t="t" l="l"/>
              <a:pathLst>
                <a:path h="1737360" w="4402836">
                  <a:moveTo>
                    <a:pt x="0" y="0"/>
                  </a:moveTo>
                  <a:lnTo>
                    <a:pt x="4402836" y="0"/>
                  </a:lnTo>
                  <a:lnTo>
                    <a:pt x="4402836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8" t="0" r="-628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4402836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y datos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97280" y="7886700"/>
            <a:ext cx="3302127" cy="822960"/>
            <a:chOff x="0" y="0"/>
            <a:chExt cx="4402836" cy="10972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402836" cy="1097280"/>
            </a:xfrm>
            <a:custGeom>
              <a:avLst/>
              <a:gdLst/>
              <a:ahLst/>
              <a:cxnLst/>
              <a:rect r="r" b="b" t="t" l="l"/>
              <a:pathLst>
                <a:path h="1097280" w="4402836">
                  <a:moveTo>
                    <a:pt x="0" y="0"/>
                  </a:moveTo>
                  <a:lnTo>
                    <a:pt x="4402836" y="0"/>
                  </a:lnTo>
                  <a:lnTo>
                    <a:pt x="440283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83" r="0" b="-2818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4402836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Felipe Chavarría · Nicolás Yañez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5085207" y="6240780"/>
            <a:ext cx="3850767" cy="2606040"/>
            <a:chOff x="0" y="0"/>
            <a:chExt cx="5134356" cy="34747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134356" cy="3474720"/>
            </a:xfrm>
            <a:custGeom>
              <a:avLst/>
              <a:gdLst/>
              <a:ahLst/>
              <a:cxnLst/>
              <a:rect r="r" b="b" t="t" l="l"/>
              <a:pathLst>
                <a:path h="3474720" w="51343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988052" y="0"/>
                  </a:lnTo>
                  <a:cubicBezTo>
                    <a:pt x="5068824" y="0"/>
                    <a:pt x="5134356" y="65532"/>
                    <a:pt x="5134356" y="146304"/>
                  </a:cubicBezTo>
                  <a:lnTo>
                    <a:pt x="5134356" y="3328416"/>
                  </a:lnTo>
                  <a:cubicBezTo>
                    <a:pt x="5134356" y="3409188"/>
                    <a:pt x="5068824" y="3474720"/>
                    <a:pt x="4988052" y="3474720"/>
                  </a:cubicBezTo>
                  <a:lnTo>
                    <a:pt x="146304" y="3474720"/>
                  </a:lnTo>
                  <a:cubicBezTo>
                    <a:pt x="65532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F3F8F8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359527" y="6473952"/>
            <a:ext cx="3302127" cy="1303020"/>
            <a:chOff x="0" y="0"/>
            <a:chExt cx="4402836" cy="17373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402836" cy="1737360"/>
            </a:xfrm>
            <a:custGeom>
              <a:avLst/>
              <a:gdLst/>
              <a:ahLst/>
              <a:cxnLst/>
              <a:rect r="r" b="b" t="t" l="l"/>
              <a:pathLst>
                <a:path h="1737360" w="4402836">
                  <a:moveTo>
                    <a:pt x="0" y="0"/>
                  </a:moveTo>
                  <a:lnTo>
                    <a:pt x="4402836" y="0"/>
                  </a:lnTo>
                  <a:lnTo>
                    <a:pt x="4402836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8" t="0" r="-628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4402836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y base de datos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359527" y="7886700"/>
            <a:ext cx="3302127" cy="822960"/>
            <a:chOff x="0" y="0"/>
            <a:chExt cx="4402836" cy="10972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02836" cy="1097280"/>
            </a:xfrm>
            <a:custGeom>
              <a:avLst/>
              <a:gdLst/>
              <a:ahLst/>
              <a:cxnLst/>
              <a:rect r="r" b="b" t="t" l="l"/>
              <a:pathLst>
                <a:path h="1097280" w="4402836">
                  <a:moveTo>
                    <a:pt x="0" y="0"/>
                  </a:moveTo>
                  <a:lnTo>
                    <a:pt x="4402836" y="0"/>
                  </a:lnTo>
                  <a:lnTo>
                    <a:pt x="440283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83" r="0" b="-2818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402836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Nicolás Yañez · Felipe Chavarría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347454" y="6240780"/>
            <a:ext cx="3850767" cy="2606040"/>
            <a:chOff x="0" y="0"/>
            <a:chExt cx="5134356" cy="34747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134356" cy="3474720"/>
            </a:xfrm>
            <a:custGeom>
              <a:avLst/>
              <a:gdLst/>
              <a:ahLst/>
              <a:cxnLst/>
              <a:rect r="r" b="b" t="t" l="l"/>
              <a:pathLst>
                <a:path h="3474720" w="51343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988052" y="0"/>
                  </a:lnTo>
                  <a:cubicBezTo>
                    <a:pt x="5068824" y="0"/>
                    <a:pt x="5134356" y="65532"/>
                    <a:pt x="5134356" y="146304"/>
                  </a:cubicBezTo>
                  <a:lnTo>
                    <a:pt x="5134356" y="3328416"/>
                  </a:lnTo>
                  <a:cubicBezTo>
                    <a:pt x="5134356" y="3409188"/>
                    <a:pt x="5068824" y="3474720"/>
                    <a:pt x="4988052" y="3474720"/>
                  </a:cubicBezTo>
                  <a:lnTo>
                    <a:pt x="146304" y="3474720"/>
                  </a:lnTo>
                  <a:cubicBezTo>
                    <a:pt x="65532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F3F8F8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621774" y="6473952"/>
            <a:ext cx="3302127" cy="1303020"/>
            <a:chOff x="0" y="0"/>
            <a:chExt cx="4402836" cy="17373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402836" cy="1737360"/>
            </a:xfrm>
            <a:custGeom>
              <a:avLst/>
              <a:gdLst/>
              <a:ahLst/>
              <a:cxnLst/>
              <a:rect r="r" b="b" t="t" l="l"/>
              <a:pathLst>
                <a:path h="1737360" w="4402836">
                  <a:moveTo>
                    <a:pt x="0" y="0"/>
                  </a:moveTo>
                  <a:lnTo>
                    <a:pt x="4402836" y="0"/>
                  </a:lnTo>
                  <a:lnTo>
                    <a:pt x="4402836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8" t="0" r="-628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57150"/>
              <a:ext cx="4402836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 e integración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621774" y="7886700"/>
            <a:ext cx="3302127" cy="822960"/>
            <a:chOff x="0" y="0"/>
            <a:chExt cx="4402836" cy="10972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402836" cy="1097280"/>
            </a:xfrm>
            <a:custGeom>
              <a:avLst/>
              <a:gdLst/>
              <a:ahLst/>
              <a:cxnLst/>
              <a:rect r="r" b="b" t="t" l="l"/>
              <a:pathLst>
                <a:path h="1097280" w="4402836">
                  <a:moveTo>
                    <a:pt x="0" y="0"/>
                  </a:moveTo>
                  <a:lnTo>
                    <a:pt x="4402836" y="0"/>
                  </a:lnTo>
                  <a:lnTo>
                    <a:pt x="440283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83" r="0" b="-2818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4402836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Camilo Pérez · Nicolás Yañez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609701" y="6240780"/>
            <a:ext cx="3850767" cy="2606040"/>
            <a:chOff x="0" y="0"/>
            <a:chExt cx="5134356" cy="34747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134356" cy="3474720"/>
            </a:xfrm>
            <a:custGeom>
              <a:avLst/>
              <a:gdLst/>
              <a:ahLst/>
              <a:cxnLst/>
              <a:rect r="r" b="b" t="t" l="l"/>
              <a:pathLst>
                <a:path h="3474720" w="51343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988052" y="0"/>
                  </a:lnTo>
                  <a:cubicBezTo>
                    <a:pt x="5068824" y="0"/>
                    <a:pt x="5134356" y="65532"/>
                    <a:pt x="5134356" y="146304"/>
                  </a:cubicBezTo>
                  <a:lnTo>
                    <a:pt x="5134356" y="3328416"/>
                  </a:lnTo>
                  <a:cubicBezTo>
                    <a:pt x="5134356" y="3409188"/>
                    <a:pt x="5068824" y="3474720"/>
                    <a:pt x="4988052" y="3474720"/>
                  </a:cubicBezTo>
                  <a:lnTo>
                    <a:pt x="146304" y="3474720"/>
                  </a:lnTo>
                  <a:cubicBezTo>
                    <a:pt x="65532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F3F8F8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884021" y="6473952"/>
            <a:ext cx="3302127" cy="1303020"/>
            <a:chOff x="0" y="0"/>
            <a:chExt cx="4402836" cy="17373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402836" cy="1737360"/>
            </a:xfrm>
            <a:custGeom>
              <a:avLst/>
              <a:gdLst/>
              <a:ahLst/>
              <a:cxnLst/>
              <a:rect r="r" b="b" t="t" l="l"/>
              <a:pathLst>
                <a:path h="1737360" w="4402836">
                  <a:moveTo>
                    <a:pt x="0" y="0"/>
                  </a:moveTo>
                  <a:lnTo>
                    <a:pt x="4402836" y="0"/>
                  </a:lnTo>
                  <a:lnTo>
                    <a:pt x="4402836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8" t="0" r="-628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57150"/>
              <a:ext cx="4402836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Requerimientos, pruebas y documentación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884021" y="7886700"/>
            <a:ext cx="3302127" cy="822960"/>
            <a:chOff x="0" y="0"/>
            <a:chExt cx="4402836" cy="10972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402836" cy="1097280"/>
            </a:xfrm>
            <a:custGeom>
              <a:avLst/>
              <a:gdLst/>
              <a:ahLst/>
              <a:cxnLst/>
              <a:rect r="r" b="b" t="t" l="l"/>
              <a:pathLst>
                <a:path h="1097280" w="4402836">
                  <a:moveTo>
                    <a:pt x="0" y="0"/>
                  </a:moveTo>
                  <a:lnTo>
                    <a:pt x="4402836" y="0"/>
                  </a:lnTo>
                  <a:lnTo>
                    <a:pt x="440283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83" r="0" b="-28183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4402836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Equipo completo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822960" y="9669780"/>
            <a:ext cx="9601200" cy="411480"/>
            <a:chOff x="0" y="0"/>
            <a:chExt cx="12801600" cy="5486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MEDLINK · Fase 1 — Definición de Proyecto APT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6774668" y="9669780"/>
            <a:ext cx="685800" cy="411480"/>
            <a:chOff x="0" y="0"/>
            <a:chExt cx="914400" cy="5486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00A8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· PLAN DE TRABAJO E HITOS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28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Carta Gantt — 18 semanas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006340" y="1824228"/>
            <a:ext cx="685800" cy="384048"/>
            <a:chOff x="0" y="0"/>
            <a:chExt cx="914400" cy="5120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S1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5388540">
            <a:off x="2486768" y="5111306"/>
            <a:ext cx="5724935" cy="0"/>
          </a:xfrm>
          <a:prstGeom prst="line">
            <a:avLst/>
          </a:prstGeom>
          <a:ln cap="rnd" w="9525">
            <a:solidFill>
              <a:srgbClr val="E4EE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7024878" y="1824228"/>
            <a:ext cx="685800" cy="384048"/>
            <a:chOff x="0" y="0"/>
            <a:chExt cx="9144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144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S4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5388540">
            <a:off x="4505306" y="5111306"/>
            <a:ext cx="5724935" cy="0"/>
          </a:xfrm>
          <a:prstGeom prst="line">
            <a:avLst/>
          </a:prstGeom>
          <a:ln cap="rnd" w="9525">
            <a:solidFill>
              <a:srgbClr val="E4EE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716262" y="1824228"/>
            <a:ext cx="685800" cy="384048"/>
            <a:chOff x="0" y="0"/>
            <a:chExt cx="914400" cy="5120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S8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5388540">
            <a:off x="7196690" y="5111306"/>
            <a:ext cx="5724935" cy="0"/>
          </a:xfrm>
          <a:prstGeom prst="line">
            <a:avLst/>
          </a:prstGeom>
          <a:ln cap="rnd" w="9525">
            <a:solidFill>
              <a:srgbClr val="E4EE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2407646" y="1824228"/>
            <a:ext cx="685800" cy="384048"/>
            <a:chOff x="0" y="0"/>
            <a:chExt cx="914400" cy="5120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144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S12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rot="5388540">
            <a:off x="9888074" y="5111306"/>
            <a:ext cx="5724935" cy="0"/>
          </a:xfrm>
          <a:prstGeom prst="line">
            <a:avLst/>
          </a:prstGeom>
          <a:ln cap="rnd" w="9525">
            <a:solidFill>
              <a:srgbClr val="E4EE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5099030" y="1824228"/>
            <a:ext cx="685800" cy="384048"/>
            <a:chOff x="0" y="0"/>
            <a:chExt cx="914400" cy="5120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144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S16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rot="5388540">
            <a:off x="12579458" y="5111306"/>
            <a:ext cx="5724935" cy="0"/>
          </a:xfrm>
          <a:prstGeom prst="line">
            <a:avLst/>
          </a:prstGeom>
          <a:ln cap="rnd" w="9525">
            <a:solidFill>
              <a:srgbClr val="E4EE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6444722" y="1824228"/>
            <a:ext cx="685800" cy="384048"/>
            <a:chOff x="0" y="0"/>
            <a:chExt cx="914400" cy="5120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144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S18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rot="5388540">
            <a:off x="13925150" y="5111306"/>
            <a:ext cx="5724935" cy="0"/>
          </a:xfrm>
          <a:prstGeom prst="line">
            <a:avLst/>
          </a:prstGeom>
          <a:ln cap="rnd" w="9525">
            <a:solidFill>
              <a:srgbClr val="E4EE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822960" y="2221992"/>
            <a:ext cx="4320540" cy="713232"/>
            <a:chOff x="0" y="0"/>
            <a:chExt cx="5760720" cy="9509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760720" cy="950976"/>
            </a:xfrm>
            <a:custGeom>
              <a:avLst/>
              <a:gdLst/>
              <a:ahLst/>
              <a:cxnLst/>
              <a:rect r="r" b="b" t="t" l="l"/>
              <a:pathLst>
                <a:path h="950976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34" r="0" b="-6803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5760720" cy="9795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728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Levantamiento y definición del problema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349240" y="2372868"/>
            <a:ext cx="1345692" cy="411480"/>
            <a:chOff x="0" y="0"/>
            <a:chExt cx="1794256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94256" cy="548640"/>
            </a:xfrm>
            <a:custGeom>
              <a:avLst/>
              <a:gdLst/>
              <a:ahLst/>
              <a:cxnLst/>
              <a:rect r="r" b="b" t="t" l="l"/>
              <a:pathLst>
                <a:path h="548640" w="179425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1721104" y="0"/>
                  </a:lnTo>
                  <a:cubicBezTo>
                    <a:pt x="1761490" y="0"/>
                    <a:pt x="1794256" y="32766"/>
                    <a:pt x="1794256" y="73152"/>
                  </a:cubicBezTo>
                  <a:lnTo>
                    <a:pt x="1794256" y="475488"/>
                  </a:lnTo>
                  <a:cubicBezTo>
                    <a:pt x="1794256" y="515874"/>
                    <a:pt x="1761490" y="548640"/>
                    <a:pt x="1721104" y="548640"/>
                  </a:cubicBezTo>
                  <a:lnTo>
                    <a:pt x="73152" y="548640"/>
                  </a:lnTo>
                  <a:cubicBezTo>
                    <a:pt x="32766" y="548640"/>
                    <a:pt x="0" y="515874"/>
                    <a:pt x="0" y="47548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349240" y="2372868"/>
            <a:ext cx="1345692" cy="411480"/>
            <a:chOff x="0" y="0"/>
            <a:chExt cx="1794256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94256" cy="548640"/>
            </a:xfrm>
            <a:custGeom>
              <a:avLst/>
              <a:gdLst/>
              <a:ahLst/>
              <a:cxnLst/>
              <a:rect r="r" b="b" t="t" l="l"/>
              <a:pathLst>
                <a:path h="548640" w="1794256">
                  <a:moveTo>
                    <a:pt x="0" y="0"/>
                  </a:moveTo>
                  <a:lnTo>
                    <a:pt x="1794256" y="0"/>
                  </a:lnTo>
                  <a:lnTo>
                    <a:pt x="179425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23" r="0" b="-1372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79425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S1–2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2935224"/>
            <a:ext cx="4320540" cy="713232"/>
            <a:chOff x="0" y="0"/>
            <a:chExt cx="5760720" cy="9509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760720" cy="950976"/>
            </a:xfrm>
            <a:custGeom>
              <a:avLst/>
              <a:gdLst/>
              <a:ahLst/>
              <a:cxnLst/>
              <a:rect r="r" b="b" t="t" l="l"/>
              <a:pathLst>
                <a:path h="950976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34" r="0" b="-6803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5760720" cy="9795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728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Requerimientos y planificación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022086" y="3086100"/>
            <a:ext cx="2018538" cy="411480"/>
            <a:chOff x="0" y="0"/>
            <a:chExt cx="2691384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691384" cy="548640"/>
            </a:xfrm>
            <a:custGeom>
              <a:avLst/>
              <a:gdLst/>
              <a:ahLst/>
              <a:cxnLst/>
              <a:rect r="r" b="b" t="t" l="l"/>
              <a:pathLst>
                <a:path h="548640" w="269138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2618232" y="0"/>
                  </a:lnTo>
                  <a:cubicBezTo>
                    <a:pt x="2658618" y="0"/>
                    <a:pt x="2691384" y="32766"/>
                    <a:pt x="2691384" y="73152"/>
                  </a:cubicBezTo>
                  <a:lnTo>
                    <a:pt x="2691384" y="475488"/>
                  </a:lnTo>
                  <a:cubicBezTo>
                    <a:pt x="2691384" y="515874"/>
                    <a:pt x="2658618" y="548640"/>
                    <a:pt x="2618232" y="548640"/>
                  </a:cubicBezTo>
                  <a:lnTo>
                    <a:pt x="73152" y="548640"/>
                  </a:lnTo>
                  <a:cubicBezTo>
                    <a:pt x="32766" y="548640"/>
                    <a:pt x="0" y="515874"/>
                    <a:pt x="0" y="475488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022086" y="3086100"/>
            <a:ext cx="2018538" cy="411480"/>
            <a:chOff x="0" y="0"/>
            <a:chExt cx="2691384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691384" cy="548640"/>
            </a:xfrm>
            <a:custGeom>
              <a:avLst/>
              <a:gdLst/>
              <a:ahLst/>
              <a:cxnLst/>
              <a:rect r="r" b="b" t="t" l="l"/>
              <a:pathLst>
                <a:path h="548640" w="2691384">
                  <a:moveTo>
                    <a:pt x="0" y="0"/>
                  </a:moveTo>
                  <a:lnTo>
                    <a:pt x="2691384" y="0"/>
                  </a:lnTo>
                  <a:lnTo>
                    <a:pt x="26913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4" r="0" b="-4558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2691384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S2–4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3648456"/>
            <a:ext cx="4320540" cy="713232"/>
            <a:chOff x="0" y="0"/>
            <a:chExt cx="5760720" cy="95097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760720" cy="950976"/>
            </a:xfrm>
            <a:custGeom>
              <a:avLst/>
              <a:gdLst/>
              <a:ahLst/>
              <a:cxnLst/>
              <a:rect r="r" b="b" t="t" l="l"/>
              <a:pathLst>
                <a:path h="950976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34" r="0" b="-6803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5760720" cy="9795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728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Arquitectura y modelo de datos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367778" y="3799332"/>
            <a:ext cx="2018538" cy="411480"/>
            <a:chOff x="0" y="0"/>
            <a:chExt cx="2691384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691384" cy="548640"/>
            </a:xfrm>
            <a:custGeom>
              <a:avLst/>
              <a:gdLst/>
              <a:ahLst/>
              <a:cxnLst/>
              <a:rect r="r" b="b" t="t" l="l"/>
              <a:pathLst>
                <a:path h="548640" w="269138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2618232" y="0"/>
                  </a:lnTo>
                  <a:cubicBezTo>
                    <a:pt x="2658618" y="0"/>
                    <a:pt x="2691384" y="32766"/>
                    <a:pt x="2691384" y="73152"/>
                  </a:cubicBezTo>
                  <a:lnTo>
                    <a:pt x="2691384" y="475488"/>
                  </a:lnTo>
                  <a:cubicBezTo>
                    <a:pt x="2691384" y="515874"/>
                    <a:pt x="2658618" y="548640"/>
                    <a:pt x="2618232" y="548640"/>
                  </a:cubicBezTo>
                  <a:lnTo>
                    <a:pt x="73152" y="548640"/>
                  </a:lnTo>
                  <a:cubicBezTo>
                    <a:pt x="32766" y="548640"/>
                    <a:pt x="0" y="515874"/>
                    <a:pt x="0" y="47548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367778" y="3799332"/>
            <a:ext cx="2018538" cy="411480"/>
            <a:chOff x="0" y="0"/>
            <a:chExt cx="2691384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91384" cy="548640"/>
            </a:xfrm>
            <a:custGeom>
              <a:avLst/>
              <a:gdLst/>
              <a:ahLst/>
              <a:cxnLst/>
              <a:rect r="r" b="b" t="t" l="l"/>
              <a:pathLst>
                <a:path h="548640" w="2691384">
                  <a:moveTo>
                    <a:pt x="0" y="0"/>
                  </a:moveTo>
                  <a:lnTo>
                    <a:pt x="2691384" y="0"/>
                  </a:lnTo>
                  <a:lnTo>
                    <a:pt x="26913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4" r="0" b="-4558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2691384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S4–6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4361688"/>
            <a:ext cx="4320540" cy="713232"/>
            <a:chOff x="0" y="0"/>
            <a:chExt cx="5760720" cy="95097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760720" cy="950976"/>
            </a:xfrm>
            <a:custGeom>
              <a:avLst/>
              <a:gdLst/>
              <a:ahLst/>
              <a:cxnLst/>
              <a:rect r="r" b="b" t="t" l="l"/>
              <a:pathLst>
                <a:path h="950976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34" r="0" b="-6803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5760720" cy="9795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728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Desarrollo backend y base de datos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713470" y="4512564"/>
            <a:ext cx="3364230" cy="411480"/>
            <a:chOff x="0" y="0"/>
            <a:chExt cx="448564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485640" cy="548640"/>
            </a:xfrm>
            <a:custGeom>
              <a:avLst/>
              <a:gdLst/>
              <a:ahLst/>
              <a:cxnLst/>
              <a:rect r="r" b="b" t="t" l="l"/>
              <a:pathLst>
                <a:path h="548640" w="448564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4412488" y="0"/>
                  </a:lnTo>
                  <a:cubicBezTo>
                    <a:pt x="4452874" y="0"/>
                    <a:pt x="4485640" y="32766"/>
                    <a:pt x="4485640" y="73152"/>
                  </a:cubicBezTo>
                  <a:lnTo>
                    <a:pt x="4485640" y="475488"/>
                  </a:lnTo>
                  <a:cubicBezTo>
                    <a:pt x="4485640" y="515874"/>
                    <a:pt x="4452874" y="548640"/>
                    <a:pt x="4412488" y="548640"/>
                  </a:cubicBezTo>
                  <a:lnTo>
                    <a:pt x="73152" y="548640"/>
                  </a:lnTo>
                  <a:cubicBezTo>
                    <a:pt x="32766" y="548640"/>
                    <a:pt x="0" y="515874"/>
                    <a:pt x="0" y="47548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713470" y="4512564"/>
            <a:ext cx="3364230" cy="411480"/>
            <a:chOff x="0" y="0"/>
            <a:chExt cx="448564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485640" cy="548640"/>
            </a:xfrm>
            <a:custGeom>
              <a:avLst/>
              <a:gdLst/>
              <a:ahLst/>
              <a:cxnLst/>
              <a:rect r="r" b="b" t="t" l="l"/>
              <a:pathLst>
                <a:path h="548640" w="4485640">
                  <a:moveTo>
                    <a:pt x="0" y="0"/>
                  </a:moveTo>
                  <a:lnTo>
                    <a:pt x="4485640" y="0"/>
                  </a:lnTo>
                  <a:lnTo>
                    <a:pt x="4485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08" r="0" b="-10930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44856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S6–10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2960" y="5074920"/>
            <a:ext cx="4320540" cy="713232"/>
            <a:chOff x="0" y="0"/>
            <a:chExt cx="5760720" cy="95097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760720" cy="950976"/>
            </a:xfrm>
            <a:custGeom>
              <a:avLst/>
              <a:gdLst/>
              <a:ahLst/>
              <a:cxnLst/>
              <a:rect r="r" b="b" t="t" l="l"/>
              <a:pathLst>
                <a:path h="950976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34" r="0" b="-6803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5760720" cy="9795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728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Desarrollo frontend e integración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059162" y="5225796"/>
            <a:ext cx="3364230" cy="411480"/>
            <a:chOff x="0" y="0"/>
            <a:chExt cx="448564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485640" cy="548640"/>
            </a:xfrm>
            <a:custGeom>
              <a:avLst/>
              <a:gdLst/>
              <a:ahLst/>
              <a:cxnLst/>
              <a:rect r="r" b="b" t="t" l="l"/>
              <a:pathLst>
                <a:path h="548640" w="448564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4412488" y="0"/>
                  </a:lnTo>
                  <a:cubicBezTo>
                    <a:pt x="4452874" y="0"/>
                    <a:pt x="4485640" y="32766"/>
                    <a:pt x="4485640" y="73152"/>
                  </a:cubicBezTo>
                  <a:lnTo>
                    <a:pt x="4485640" y="475488"/>
                  </a:lnTo>
                  <a:cubicBezTo>
                    <a:pt x="4485640" y="515874"/>
                    <a:pt x="4452874" y="548640"/>
                    <a:pt x="4412488" y="548640"/>
                  </a:cubicBezTo>
                  <a:lnTo>
                    <a:pt x="73152" y="548640"/>
                  </a:lnTo>
                  <a:cubicBezTo>
                    <a:pt x="32766" y="548640"/>
                    <a:pt x="0" y="515874"/>
                    <a:pt x="0" y="475488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0059162" y="5225796"/>
            <a:ext cx="3364230" cy="411480"/>
            <a:chOff x="0" y="0"/>
            <a:chExt cx="4485640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485640" cy="548640"/>
            </a:xfrm>
            <a:custGeom>
              <a:avLst/>
              <a:gdLst/>
              <a:ahLst/>
              <a:cxnLst/>
              <a:rect r="r" b="b" t="t" l="l"/>
              <a:pathLst>
                <a:path h="548640" w="4485640">
                  <a:moveTo>
                    <a:pt x="0" y="0"/>
                  </a:moveTo>
                  <a:lnTo>
                    <a:pt x="4485640" y="0"/>
                  </a:lnTo>
                  <a:lnTo>
                    <a:pt x="4485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08" r="0" b="-10930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44856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S8–12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22960" y="5788152"/>
            <a:ext cx="4320540" cy="713232"/>
            <a:chOff x="0" y="0"/>
            <a:chExt cx="5760720" cy="95097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760720" cy="950976"/>
            </a:xfrm>
            <a:custGeom>
              <a:avLst/>
              <a:gdLst/>
              <a:ahLst/>
              <a:cxnLst/>
              <a:rect r="r" b="b" t="t" l="l"/>
              <a:pathLst>
                <a:path h="950976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34" r="0" b="-6803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5760720" cy="9795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728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Historia personal de salud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404854" y="5939028"/>
            <a:ext cx="2691384" cy="411480"/>
            <a:chOff x="0" y="0"/>
            <a:chExt cx="3588512" cy="548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588512" cy="548640"/>
            </a:xfrm>
            <a:custGeom>
              <a:avLst/>
              <a:gdLst/>
              <a:ahLst/>
              <a:cxnLst/>
              <a:rect r="r" b="b" t="t" l="l"/>
              <a:pathLst>
                <a:path h="548640" w="3588512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3515360" y="0"/>
                  </a:lnTo>
                  <a:cubicBezTo>
                    <a:pt x="3555746" y="0"/>
                    <a:pt x="3588512" y="32766"/>
                    <a:pt x="3588512" y="73152"/>
                  </a:cubicBezTo>
                  <a:lnTo>
                    <a:pt x="3588512" y="475488"/>
                  </a:lnTo>
                  <a:cubicBezTo>
                    <a:pt x="3588512" y="515874"/>
                    <a:pt x="3555746" y="548640"/>
                    <a:pt x="3515360" y="548640"/>
                  </a:cubicBezTo>
                  <a:lnTo>
                    <a:pt x="73152" y="548640"/>
                  </a:lnTo>
                  <a:cubicBezTo>
                    <a:pt x="32766" y="548640"/>
                    <a:pt x="0" y="515874"/>
                    <a:pt x="0" y="47548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1404854" y="5939028"/>
            <a:ext cx="2691384" cy="411480"/>
            <a:chOff x="0" y="0"/>
            <a:chExt cx="3588512" cy="5486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588512" cy="548640"/>
            </a:xfrm>
            <a:custGeom>
              <a:avLst/>
              <a:gdLst/>
              <a:ahLst/>
              <a:cxnLst/>
              <a:rect r="r" b="b" t="t" l="l"/>
              <a:pathLst>
                <a:path h="548640" w="3588512">
                  <a:moveTo>
                    <a:pt x="0" y="0"/>
                  </a:moveTo>
                  <a:lnTo>
                    <a:pt x="3588512" y="0"/>
                  </a:lnTo>
                  <a:lnTo>
                    <a:pt x="358851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446" r="0" b="-7744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3588512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S10–13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22960" y="6501384"/>
            <a:ext cx="4320540" cy="713232"/>
            <a:chOff x="0" y="0"/>
            <a:chExt cx="5760720" cy="95097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60720" cy="950976"/>
            </a:xfrm>
            <a:custGeom>
              <a:avLst/>
              <a:gdLst/>
              <a:ahLst/>
              <a:cxnLst/>
              <a:rect r="r" b="b" t="t" l="l"/>
              <a:pathLst>
                <a:path h="950976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34" r="0" b="-6803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5760720" cy="9795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728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Pruebas, validación y seguridad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423392" y="6652260"/>
            <a:ext cx="2691384" cy="411480"/>
            <a:chOff x="0" y="0"/>
            <a:chExt cx="3588512" cy="5486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588512" cy="548640"/>
            </a:xfrm>
            <a:custGeom>
              <a:avLst/>
              <a:gdLst/>
              <a:ahLst/>
              <a:cxnLst/>
              <a:rect r="r" b="b" t="t" l="l"/>
              <a:pathLst>
                <a:path h="548640" w="3588512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3515360" y="0"/>
                  </a:lnTo>
                  <a:cubicBezTo>
                    <a:pt x="3555746" y="0"/>
                    <a:pt x="3588512" y="32766"/>
                    <a:pt x="3588512" y="73152"/>
                  </a:cubicBezTo>
                  <a:lnTo>
                    <a:pt x="3588512" y="475488"/>
                  </a:lnTo>
                  <a:cubicBezTo>
                    <a:pt x="3588512" y="515874"/>
                    <a:pt x="3555746" y="548640"/>
                    <a:pt x="3515360" y="548640"/>
                  </a:cubicBezTo>
                  <a:lnTo>
                    <a:pt x="73152" y="548640"/>
                  </a:lnTo>
                  <a:cubicBezTo>
                    <a:pt x="32766" y="548640"/>
                    <a:pt x="0" y="515874"/>
                    <a:pt x="0" y="47548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3423392" y="6652260"/>
            <a:ext cx="2691384" cy="411480"/>
            <a:chOff x="0" y="0"/>
            <a:chExt cx="3588512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588512" cy="548640"/>
            </a:xfrm>
            <a:custGeom>
              <a:avLst/>
              <a:gdLst/>
              <a:ahLst/>
              <a:cxnLst/>
              <a:rect r="r" b="b" t="t" l="l"/>
              <a:pathLst>
                <a:path h="548640" w="3588512">
                  <a:moveTo>
                    <a:pt x="0" y="0"/>
                  </a:moveTo>
                  <a:lnTo>
                    <a:pt x="3588512" y="0"/>
                  </a:lnTo>
                  <a:lnTo>
                    <a:pt x="358851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446" r="0" b="-7744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3588512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S13–16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822960" y="7214616"/>
            <a:ext cx="4320540" cy="713232"/>
            <a:chOff x="0" y="0"/>
            <a:chExt cx="5760720" cy="95097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760720" cy="950976"/>
            </a:xfrm>
            <a:custGeom>
              <a:avLst/>
              <a:gdLst/>
              <a:ahLst/>
              <a:cxnLst/>
              <a:rect r="r" b="b" t="t" l="l"/>
              <a:pathLst>
                <a:path h="950976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34" r="0" b="-68034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5760720" cy="9795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728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Documentación y cierre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5441930" y="7365492"/>
            <a:ext cx="2018538" cy="411480"/>
            <a:chOff x="0" y="0"/>
            <a:chExt cx="2691384" cy="5486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691384" cy="548640"/>
            </a:xfrm>
            <a:custGeom>
              <a:avLst/>
              <a:gdLst/>
              <a:ahLst/>
              <a:cxnLst/>
              <a:rect r="r" b="b" t="t" l="l"/>
              <a:pathLst>
                <a:path h="548640" w="269138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2618232" y="0"/>
                  </a:lnTo>
                  <a:cubicBezTo>
                    <a:pt x="2658618" y="0"/>
                    <a:pt x="2691384" y="32766"/>
                    <a:pt x="2691384" y="73152"/>
                  </a:cubicBezTo>
                  <a:lnTo>
                    <a:pt x="2691384" y="475488"/>
                  </a:lnTo>
                  <a:cubicBezTo>
                    <a:pt x="2691384" y="515874"/>
                    <a:pt x="2658618" y="548640"/>
                    <a:pt x="2618232" y="548640"/>
                  </a:cubicBezTo>
                  <a:lnTo>
                    <a:pt x="73152" y="548640"/>
                  </a:lnTo>
                  <a:cubicBezTo>
                    <a:pt x="32766" y="548640"/>
                    <a:pt x="0" y="515874"/>
                    <a:pt x="0" y="475488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5441930" y="7365492"/>
            <a:ext cx="2018538" cy="411480"/>
            <a:chOff x="0" y="0"/>
            <a:chExt cx="2691384" cy="5486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691384" cy="548640"/>
            </a:xfrm>
            <a:custGeom>
              <a:avLst/>
              <a:gdLst/>
              <a:ahLst/>
              <a:cxnLst/>
              <a:rect r="r" b="b" t="t" l="l"/>
              <a:pathLst>
                <a:path h="548640" w="2691384">
                  <a:moveTo>
                    <a:pt x="0" y="0"/>
                  </a:moveTo>
                  <a:lnTo>
                    <a:pt x="2691384" y="0"/>
                  </a:lnTo>
                  <a:lnTo>
                    <a:pt x="26913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4" r="0" b="-45584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2691384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S16–18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822960" y="8311896"/>
            <a:ext cx="16637508" cy="685800"/>
            <a:chOff x="0" y="0"/>
            <a:chExt cx="22183344" cy="9144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183344" cy="914400"/>
            </a:xfrm>
            <a:custGeom>
              <a:avLst/>
              <a:gdLst/>
              <a:ahLst/>
              <a:cxnLst/>
              <a:rect r="r" b="b" t="t" l="l"/>
              <a:pathLst>
                <a:path h="91440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707" r="0" b="-422707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22183344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i="true">
                  <a:solidFill>
                    <a:srgbClr val="5C737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Responsables: equipo completo en levantamiento, procesamiento e historia de salud, pruebas y documentación; Felipe y Nicolás en arquitectura/backend; Camilo y Nicolás en frontend.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822960" y="9669780"/>
            <a:ext cx="9601200" cy="411480"/>
            <a:chOff x="0" y="0"/>
            <a:chExt cx="12801600" cy="5486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MEDLINK · Fase 1 — Definición de Proyecto APT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6774668" y="9669780"/>
            <a:ext cx="685800" cy="411480"/>
            <a:chOff x="0" y="0"/>
            <a:chExt cx="914400" cy="54864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00A8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· EVIDENCIAS DEL PROYECTO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28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Entregables que visibilizan el avance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8044434" cy="2948940"/>
            <a:chOff x="0" y="0"/>
            <a:chExt cx="10725912" cy="3931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25912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72591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79608" y="0"/>
                  </a:lnTo>
                  <a:cubicBezTo>
                    <a:pt x="10660380" y="0"/>
                    <a:pt x="10725912" y="65532"/>
                    <a:pt x="10725912" y="146304"/>
                  </a:cubicBezTo>
                  <a:lnTo>
                    <a:pt x="10725912" y="3785616"/>
                  </a:lnTo>
                  <a:cubicBezTo>
                    <a:pt x="10725912" y="3866388"/>
                    <a:pt x="10660380" y="3931920"/>
                    <a:pt x="10579608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F3F8F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743200"/>
            <a:ext cx="1303020" cy="438912"/>
            <a:chOff x="0" y="0"/>
            <a:chExt cx="1737360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7360" cy="585216"/>
            </a:xfrm>
            <a:custGeom>
              <a:avLst/>
              <a:gdLst/>
              <a:ahLst/>
              <a:cxnLst/>
              <a:rect r="r" b="b" t="t" l="l"/>
              <a:pathLst>
                <a:path h="585216" w="173736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1444752" y="0"/>
                  </a:lnTo>
                  <a:cubicBezTo>
                    <a:pt x="1606296" y="0"/>
                    <a:pt x="1737360" y="131064"/>
                    <a:pt x="1737360" y="292608"/>
                  </a:cubicBezTo>
                  <a:cubicBezTo>
                    <a:pt x="1737360" y="454152"/>
                    <a:pt x="1606296" y="585216"/>
                    <a:pt x="1444752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65860" y="2743200"/>
            <a:ext cx="1303020" cy="438912"/>
            <a:chOff x="0" y="0"/>
            <a:chExt cx="173736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7360" cy="585216"/>
            </a:xfrm>
            <a:custGeom>
              <a:avLst/>
              <a:gdLst/>
              <a:ahLst/>
              <a:cxnLst/>
              <a:rect r="r" b="b" t="t" l="l"/>
              <a:pathLst>
                <a:path h="585216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6" r="0" b="-784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373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AVANCE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5860" y="3332988"/>
            <a:ext cx="7358634" cy="685800"/>
            <a:chOff x="0" y="0"/>
            <a:chExt cx="9811512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11512" cy="914400"/>
            </a:xfrm>
            <a:custGeom>
              <a:avLst/>
              <a:gdLst/>
              <a:ahLst/>
              <a:cxnLst/>
              <a:rect r="r" b="b" t="t" l="l"/>
              <a:pathLst>
                <a:path h="914400" w="9811512">
                  <a:moveTo>
                    <a:pt x="0" y="0"/>
                  </a:moveTo>
                  <a:lnTo>
                    <a:pt x="9811512" y="0"/>
                  </a:lnTo>
                  <a:lnTo>
                    <a:pt x="98115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074" r="0" b="-15907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9811512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728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Mockups y flujo de navegación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65860" y="4018788"/>
            <a:ext cx="7358634" cy="1165860"/>
            <a:chOff x="0" y="0"/>
            <a:chExt cx="9811512" cy="1554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11512" cy="1554480"/>
            </a:xfrm>
            <a:custGeom>
              <a:avLst/>
              <a:gdLst/>
              <a:ahLst/>
              <a:cxnLst/>
              <a:rect r="r" b="b" t="t" l="l"/>
              <a:pathLst>
                <a:path h="1554480" w="9811512">
                  <a:moveTo>
                    <a:pt x="0" y="0"/>
                  </a:moveTo>
                  <a:lnTo>
                    <a:pt x="9811512" y="0"/>
                  </a:lnTo>
                  <a:lnTo>
                    <a:pt x="9811512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84" r="0" b="-7298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9811512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Prototipo visual de pantallas clave: login, carga de documentos, historial y consulta de antecedentes.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16034" y="2400300"/>
            <a:ext cx="8044434" cy="2948940"/>
            <a:chOff x="0" y="0"/>
            <a:chExt cx="10725912" cy="393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25912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72591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79608" y="0"/>
                  </a:lnTo>
                  <a:cubicBezTo>
                    <a:pt x="10660380" y="0"/>
                    <a:pt x="10725912" y="65532"/>
                    <a:pt x="10725912" y="146304"/>
                  </a:cubicBezTo>
                  <a:lnTo>
                    <a:pt x="10725912" y="3785616"/>
                  </a:lnTo>
                  <a:cubicBezTo>
                    <a:pt x="10725912" y="3866388"/>
                    <a:pt x="10660380" y="3931920"/>
                    <a:pt x="10579608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F3F8F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758934" y="2743200"/>
            <a:ext cx="1303020" cy="438912"/>
            <a:chOff x="0" y="0"/>
            <a:chExt cx="1737360" cy="5852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37360" cy="585216"/>
            </a:xfrm>
            <a:custGeom>
              <a:avLst/>
              <a:gdLst/>
              <a:ahLst/>
              <a:cxnLst/>
              <a:rect r="r" b="b" t="t" l="l"/>
              <a:pathLst>
                <a:path h="585216" w="173736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1444752" y="0"/>
                  </a:lnTo>
                  <a:cubicBezTo>
                    <a:pt x="1606296" y="0"/>
                    <a:pt x="1737360" y="131064"/>
                    <a:pt x="1737360" y="292608"/>
                  </a:cubicBezTo>
                  <a:cubicBezTo>
                    <a:pt x="1737360" y="454152"/>
                    <a:pt x="1606296" y="585216"/>
                    <a:pt x="1444752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758934" y="2743200"/>
            <a:ext cx="1303020" cy="438912"/>
            <a:chOff x="0" y="0"/>
            <a:chExt cx="1737360" cy="5852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37360" cy="585216"/>
            </a:xfrm>
            <a:custGeom>
              <a:avLst/>
              <a:gdLst/>
              <a:ahLst/>
              <a:cxnLst/>
              <a:rect r="r" b="b" t="t" l="l"/>
              <a:pathLst>
                <a:path h="585216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6" r="0" b="-784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7373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AVANCE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758934" y="3332988"/>
            <a:ext cx="7358634" cy="685800"/>
            <a:chOff x="0" y="0"/>
            <a:chExt cx="9811512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811512" cy="914400"/>
            </a:xfrm>
            <a:custGeom>
              <a:avLst/>
              <a:gdLst/>
              <a:ahLst/>
              <a:cxnLst/>
              <a:rect r="r" b="b" t="t" l="l"/>
              <a:pathLst>
                <a:path h="914400" w="9811512">
                  <a:moveTo>
                    <a:pt x="0" y="0"/>
                  </a:moveTo>
                  <a:lnTo>
                    <a:pt x="9811512" y="0"/>
                  </a:lnTo>
                  <a:lnTo>
                    <a:pt x="98115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074" r="0" b="-15907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9811512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728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Modelo de datos y arquitectura inicial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758934" y="4018788"/>
            <a:ext cx="7358634" cy="1165860"/>
            <a:chOff x="0" y="0"/>
            <a:chExt cx="9811512" cy="15544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811512" cy="1554480"/>
            </a:xfrm>
            <a:custGeom>
              <a:avLst/>
              <a:gdLst/>
              <a:ahLst/>
              <a:cxnLst/>
              <a:rect r="r" b="b" t="t" l="l"/>
              <a:pathLst>
                <a:path h="1554480" w="9811512">
                  <a:moveTo>
                    <a:pt x="0" y="0"/>
                  </a:moveTo>
                  <a:lnTo>
                    <a:pt x="9811512" y="0"/>
                  </a:lnTo>
                  <a:lnTo>
                    <a:pt x="9811512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84" r="0" b="-7298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9811512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Diagrama de arquitectura, modelo entidad-relación y definición de entidades principales.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5829300"/>
            <a:ext cx="8044434" cy="2948940"/>
            <a:chOff x="0" y="0"/>
            <a:chExt cx="10725912" cy="3931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25912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72591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79608" y="0"/>
                  </a:lnTo>
                  <a:cubicBezTo>
                    <a:pt x="10660380" y="0"/>
                    <a:pt x="10725912" y="65532"/>
                    <a:pt x="10725912" y="146304"/>
                  </a:cubicBezTo>
                  <a:lnTo>
                    <a:pt x="10725912" y="3785616"/>
                  </a:lnTo>
                  <a:cubicBezTo>
                    <a:pt x="10725912" y="3866388"/>
                    <a:pt x="10660380" y="3931920"/>
                    <a:pt x="10579608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F3F8F8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65860" y="6172200"/>
            <a:ext cx="1303020" cy="438912"/>
            <a:chOff x="0" y="0"/>
            <a:chExt cx="1737360" cy="5852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37360" cy="585216"/>
            </a:xfrm>
            <a:custGeom>
              <a:avLst/>
              <a:gdLst/>
              <a:ahLst/>
              <a:cxnLst/>
              <a:rect r="r" b="b" t="t" l="l"/>
              <a:pathLst>
                <a:path h="585216" w="173736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1444752" y="0"/>
                  </a:lnTo>
                  <a:cubicBezTo>
                    <a:pt x="1606296" y="0"/>
                    <a:pt x="1737360" y="131064"/>
                    <a:pt x="1737360" y="292608"/>
                  </a:cubicBezTo>
                  <a:cubicBezTo>
                    <a:pt x="1737360" y="454152"/>
                    <a:pt x="1606296" y="585216"/>
                    <a:pt x="1444752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65860" y="6172200"/>
            <a:ext cx="1303020" cy="438912"/>
            <a:chOff x="0" y="0"/>
            <a:chExt cx="1737360" cy="5852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37360" cy="585216"/>
            </a:xfrm>
            <a:custGeom>
              <a:avLst/>
              <a:gdLst/>
              <a:ahLst/>
              <a:cxnLst/>
              <a:rect r="r" b="b" t="t" l="l"/>
              <a:pathLst>
                <a:path h="585216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6" r="0" b="-784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7373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65860" y="6761988"/>
            <a:ext cx="7358634" cy="685800"/>
            <a:chOff x="0" y="0"/>
            <a:chExt cx="9811512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811512" cy="914400"/>
            </a:xfrm>
            <a:custGeom>
              <a:avLst/>
              <a:gdLst/>
              <a:ahLst/>
              <a:cxnLst/>
              <a:rect r="r" b="b" t="t" l="l"/>
              <a:pathLst>
                <a:path h="914400" w="9811512">
                  <a:moveTo>
                    <a:pt x="0" y="0"/>
                  </a:moveTo>
                  <a:lnTo>
                    <a:pt x="9811512" y="0"/>
                  </a:lnTo>
                  <a:lnTo>
                    <a:pt x="98115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074" r="0" b="-15907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9811512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728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Prototipo funcional de MEDLINK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65860" y="7447788"/>
            <a:ext cx="7358634" cy="1165860"/>
            <a:chOff x="0" y="0"/>
            <a:chExt cx="9811512" cy="155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811512" cy="1554480"/>
            </a:xfrm>
            <a:custGeom>
              <a:avLst/>
              <a:gdLst/>
              <a:ahLst/>
              <a:cxnLst/>
              <a:rect r="r" b="b" t="t" l="l"/>
              <a:pathLst>
                <a:path h="1554480" w="9811512">
                  <a:moveTo>
                    <a:pt x="0" y="0"/>
                  </a:moveTo>
                  <a:lnTo>
                    <a:pt x="9811512" y="0"/>
                  </a:lnTo>
                  <a:lnTo>
                    <a:pt x="9811512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84" r="0" b="-7298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76200"/>
              <a:ext cx="9811512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 integrada: frontend, backend y base de datos, con autenticación y gestión documental.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416034" y="5829300"/>
            <a:ext cx="8044434" cy="2948940"/>
            <a:chOff x="0" y="0"/>
            <a:chExt cx="10725912" cy="39319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725912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72591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79608" y="0"/>
                  </a:lnTo>
                  <a:cubicBezTo>
                    <a:pt x="10660380" y="0"/>
                    <a:pt x="10725912" y="65532"/>
                    <a:pt x="10725912" y="146304"/>
                  </a:cubicBezTo>
                  <a:lnTo>
                    <a:pt x="10725912" y="3785616"/>
                  </a:lnTo>
                  <a:cubicBezTo>
                    <a:pt x="10725912" y="3866388"/>
                    <a:pt x="10660380" y="3931920"/>
                    <a:pt x="10579608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F3F8F8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758934" y="6172200"/>
            <a:ext cx="1303020" cy="438912"/>
            <a:chOff x="0" y="0"/>
            <a:chExt cx="1737360" cy="5852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737360" cy="585216"/>
            </a:xfrm>
            <a:custGeom>
              <a:avLst/>
              <a:gdLst/>
              <a:ahLst/>
              <a:cxnLst/>
              <a:rect r="r" b="b" t="t" l="l"/>
              <a:pathLst>
                <a:path h="585216" w="173736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1444752" y="0"/>
                  </a:lnTo>
                  <a:cubicBezTo>
                    <a:pt x="1606296" y="0"/>
                    <a:pt x="1737360" y="131064"/>
                    <a:pt x="1737360" y="292608"/>
                  </a:cubicBezTo>
                  <a:cubicBezTo>
                    <a:pt x="1737360" y="454152"/>
                    <a:pt x="1606296" y="585216"/>
                    <a:pt x="1444752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758934" y="6172200"/>
            <a:ext cx="1303020" cy="438912"/>
            <a:chOff x="0" y="0"/>
            <a:chExt cx="1737360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37360" cy="585216"/>
            </a:xfrm>
            <a:custGeom>
              <a:avLst/>
              <a:gdLst/>
              <a:ahLst/>
              <a:cxnLst/>
              <a:rect r="r" b="b" t="t" l="l"/>
              <a:pathLst>
                <a:path h="585216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6" r="0" b="-784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7373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758934" y="6761988"/>
            <a:ext cx="7358634" cy="685800"/>
            <a:chOff x="0" y="0"/>
            <a:chExt cx="9811512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811512" cy="914400"/>
            </a:xfrm>
            <a:custGeom>
              <a:avLst/>
              <a:gdLst/>
              <a:ahLst/>
              <a:cxnLst/>
              <a:rect r="r" b="b" t="t" l="l"/>
              <a:pathLst>
                <a:path h="914400" w="9811512">
                  <a:moveTo>
                    <a:pt x="0" y="0"/>
                  </a:moveTo>
                  <a:lnTo>
                    <a:pt x="9811512" y="0"/>
                  </a:lnTo>
                  <a:lnTo>
                    <a:pt x="98115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074" r="0" b="-15907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9811512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728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Demostración del MVP y pruebas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758934" y="7447788"/>
            <a:ext cx="7358634" cy="1165860"/>
            <a:chOff x="0" y="0"/>
            <a:chExt cx="9811512" cy="15544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811512" cy="1554480"/>
            </a:xfrm>
            <a:custGeom>
              <a:avLst/>
              <a:gdLst/>
              <a:ahLst/>
              <a:cxnLst/>
              <a:rect r="r" b="b" t="t" l="l"/>
              <a:pathLst>
                <a:path h="1554480" w="9811512">
                  <a:moveTo>
                    <a:pt x="0" y="0"/>
                  </a:moveTo>
                  <a:lnTo>
                    <a:pt x="9811512" y="0"/>
                  </a:lnTo>
                  <a:lnTo>
                    <a:pt x="9811512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84" r="0" b="-7298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76200"/>
              <a:ext cx="9811512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Sistema en funcionamiento: extracción de información, historia de salud y resultados de pruebas.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" y="9669780"/>
            <a:ext cx="9601200" cy="411480"/>
            <a:chOff x="0" y="0"/>
            <a:chExt cx="1280160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MEDLINK · Fase 1 — Definición de Proyecto APT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6774668" y="9669780"/>
            <a:ext cx="685800" cy="411480"/>
            <a:chOff x="0" y="0"/>
            <a:chExt cx="914400" cy="548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73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94560" y="-2194560"/>
            <a:ext cx="6309360" cy="6309360"/>
            <a:chOff x="0" y="0"/>
            <a:chExt cx="8412480" cy="8412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12480" cy="8412480"/>
            </a:xfrm>
            <a:custGeom>
              <a:avLst/>
              <a:gdLst/>
              <a:ahLst/>
              <a:cxnLst/>
              <a:rect r="r" b="b" t="t" l="l"/>
              <a:pathLst>
                <a:path h="8412480" w="8412480">
                  <a:moveTo>
                    <a:pt x="0" y="4206240"/>
                  </a:moveTo>
                  <a:cubicBezTo>
                    <a:pt x="0" y="1883156"/>
                    <a:pt x="1883156" y="0"/>
                    <a:pt x="4206240" y="0"/>
                  </a:cubicBezTo>
                  <a:cubicBezTo>
                    <a:pt x="6529325" y="0"/>
                    <a:pt x="8412480" y="1883156"/>
                    <a:pt x="8412480" y="4206240"/>
                  </a:cubicBezTo>
                  <a:cubicBezTo>
                    <a:pt x="8412480" y="6529325"/>
                    <a:pt x="6529324" y="8412480"/>
                    <a:pt x="4206240" y="8412480"/>
                  </a:cubicBezTo>
                  <a:cubicBezTo>
                    <a:pt x="1883156" y="8412480"/>
                    <a:pt x="0" y="6529324"/>
                    <a:pt x="0" y="4206240"/>
                  </a:cubicBezTo>
                  <a:close/>
                </a:path>
              </a:pathLst>
            </a:custGeom>
            <a:solidFill>
              <a:srgbClr val="028090">
                <a:alpha val="470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3703320"/>
            <a:ext cx="12344400" cy="1645920"/>
            <a:chOff x="0" y="0"/>
            <a:chExt cx="1645920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645920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Gracias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03020" y="5280660"/>
            <a:ext cx="12344400" cy="754380"/>
            <a:chOff x="0" y="0"/>
            <a:chExt cx="1645920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59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64592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i="true">
                  <a:solidFill>
                    <a:srgbClr val="02C3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MEDLINK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23700">
            <a:off x="1288685" y="6436995"/>
            <a:ext cx="4143470" cy="0"/>
          </a:xfrm>
          <a:prstGeom prst="line">
            <a:avLst/>
          </a:prstGeom>
          <a:ln cap="rnd" w="19050">
            <a:solidFill>
              <a:srgbClr val="00A89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303020" y="6720840"/>
            <a:ext cx="12344400" cy="548640"/>
            <a:chOff x="0" y="0"/>
            <a:chExt cx="164592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6459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Nicolás Yañez  ·  Felipe Chavarría  ·  Camilo Pérez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DAHUAoK5lHM</dc:identifier>
  <dcterms:modified xsi:type="dcterms:W3CDTF">2011-08-01T06:04:30Z</dcterms:modified>
  <cp:revision>1</cp:revision>
  <dc:title>MEDLINK_Fase1.pptx</dc:title>
</cp:coreProperties>
</file>